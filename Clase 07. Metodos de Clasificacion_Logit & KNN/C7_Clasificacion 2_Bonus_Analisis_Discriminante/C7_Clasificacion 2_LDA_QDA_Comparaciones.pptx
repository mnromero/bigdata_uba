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489" r:id="rId2"/>
    <p:sldId id="259" r:id="rId3"/>
    <p:sldId id="318" r:id="rId4"/>
    <p:sldId id="415" r:id="rId5"/>
    <p:sldId id="276" r:id="rId6"/>
    <p:sldId id="323" r:id="rId7"/>
    <p:sldId id="420" r:id="rId8"/>
    <p:sldId id="315" r:id="rId9"/>
    <p:sldId id="286" r:id="rId10"/>
    <p:sldId id="287" r:id="rId11"/>
    <p:sldId id="307" r:id="rId12"/>
    <p:sldId id="288" r:id="rId13"/>
    <p:sldId id="330" r:id="rId14"/>
    <p:sldId id="293" r:id="rId15"/>
    <p:sldId id="294" r:id="rId16"/>
    <p:sldId id="329" r:id="rId17"/>
    <p:sldId id="419" r:id="rId18"/>
    <p:sldId id="292" r:id="rId19"/>
    <p:sldId id="417" r:id="rId20"/>
    <p:sldId id="290" r:id="rId21"/>
    <p:sldId id="291" r:id="rId22"/>
    <p:sldId id="327" r:id="rId23"/>
    <p:sldId id="331" r:id="rId24"/>
    <p:sldId id="295" r:id="rId25"/>
    <p:sldId id="296" r:id="rId26"/>
    <p:sldId id="297" r:id="rId27"/>
    <p:sldId id="332" r:id="rId28"/>
    <p:sldId id="333" r:id="rId29"/>
    <p:sldId id="334" r:id="rId30"/>
    <p:sldId id="421" r:id="rId31"/>
    <p:sldId id="338" r:id="rId32"/>
    <p:sldId id="339" r:id="rId33"/>
    <p:sldId id="409" r:id="rId34"/>
    <p:sldId id="410" r:id="rId35"/>
    <p:sldId id="411" r:id="rId36"/>
    <p:sldId id="413" r:id="rId37"/>
    <p:sldId id="313" r:id="rId38"/>
    <p:sldId id="261" r:id="rId39"/>
    <p:sldId id="336" r:id="rId40"/>
    <p:sldId id="337" r:id="rId41"/>
    <p:sldId id="422" r:id="rId42"/>
    <p:sldId id="314" r:id="rId43"/>
    <p:sldId id="40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59"/>
          </p14:sldIdLst>
        </p14:section>
        <p14:section name="Breve repaso" id="{50EC8BAA-C75B-FB42-B5CB-C9EF52B744A2}">
          <p14:sldIdLst>
            <p14:sldId id="318"/>
            <p14:sldId id="415"/>
            <p14:sldId id="276"/>
            <p14:sldId id="323"/>
            <p14:sldId id="420"/>
          </p14:sldIdLst>
        </p14:section>
        <p14:section name="Analisis discriminante" id="{8601FFC2-7B36-6145-AA4F-C442B9495602}">
          <p14:sldIdLst>
            <p14:sldId id="315"/>
            <p14:sldId id="286"/>
            <p14:sldId id="287"/>
            <p14:sldId id="307"/>
            <p14:sldId id="288"/>
          </p14:sldIdLst>
        </p14:section>
        <p14:section name="LDA" id="{0D4E0AA8-627C-E947-A06B-F74EA29BC911}">
          <p14:sldIdLst>
            <p14:sldId id="330"/>
            <p14:sldId id="293"/>
            <p14:sldId id="294"/>
            <p14:sldId id="329"/>
            <p14:sldId id="419"/>
            <p14:sldId id="292"/>
          </p14:sldIdLst>
        </p14:section>
        <p14:section name="Levantando supuestos" id="{F033C026-82CC-614E-97F9-E503C652B778}">
          <p14:sldIdLst>
            <p14:sldId id="417"/>
            <p14:sldId id="290"/>
            <p14:sldId id="291"/>
            <p14:sldId id="327"/>
            <p14:sldId id="331"/>
            <p14:sldId id="295"/>
            <p14:sldId id="296"/>
            <p14:sldId id="297"/>
            <p14:sldId id="332"/>
          </p14:sldIdLst>
        </p14:section>
        <p14:section name="Analisis Discriminante Cuadratico (QDA)" id="{F171E2FD-16B7-2143-A292-8CFB6C081761}">
          <p14:sldIdLst>
            <p14:sldId id="333"/>
            <p14:sldId id="334"/>
          </p14:sldIdLst>
        </p14:section>
        <p14:section name="Naive Bayes" id="{D5F0124C-739F-234C-A5DA-441E921C2067}">
          <p14:sldIdLst>
            <p14:sldId id="421"/>
            <p14:sldId id="338"/>
            <p14:sldId id="339"/>
            <p14:sldId id="409"/>
            <p14:sldId id="410"/>
            <p14:sldId id="411"/>
            <p14:sldId id="413"/>
          </p14:sldIdLst>
        </p14:section>
        <p14:section name="Comparacion empírica de los clasificadoeres" id="{5623DDE8-0602-0D4F-AFA1-3B05F3F0BCCE}">
          <p14:sldIdLst>
            <p14:sldId id="313"/>
            <p14:sldId id="261"/>
            <p14:sldId id="336"/>
          </p14:sldIdLst>
        </p14:section>
        <p14:section name="Conclusiones finales" id="{30AE4762-25DE-C74D-AF95-4AEC0CC37FB0}">
          <p14:sldIdLst>
            <p14:sldId id="337"/>
            <p14:sldId id="422"/>
            <p14:sldId id="314"/>
            <p14:sldId id="4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6F206-B94C-894C-920A-A18708337166}" v="1" dt="2026-05-19T19:38:32.8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8"/>
    <p:restoredTop sz="86809"/>
  </p:normalViewPr>
  <p:slideViewPr>
    <p:cSldViewPr snapToGrid="0">
      <p:cViewPr varScale="1">
        <p:scale>
          <a:sx n="101" d="100"/>
          <a:sy n="101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addSld delSld modSld modSection">
      <pc:chgData name="María Noelia Romero" userId="2133f5768dfc5791" providerId="LiveId" clId="{0168CA65-A813-5033-94B8-EF4605FC29D1}" dt="2026-05-19T19:39:06.826" v="81" actId="20577"/>
      <pc:docMkLst>
        <pc:docMk/>
      </pc:docMkLst>
      <pc:sldChg chg="del">
        <pc:chgData name="María Noelia Romero" userId="2133f5768dfc5791" providerId="LiveId" clId="{0168CA65-A813-5033-94B8-EF4605FC29D1}" dt="2026-05-19T19:38:58.935" v="67" actId="2696"/>
        <pc:sldMkLst>
          <pc:docMk/>
          <pc:sldMk cId="1640782994" sldId="256"/>
        </pc:sldMkLst>
      </pc:sldChg>
      <pc:sldChg chg="modSp add mod">
        <pc:chgData name="María Noelia Romero" userId="2133f5768dfc5791" providerId="LiveId" clId="{0168CA65-A813-5033-94B8-EF4605FC29D1}" dt="2026-05-19T19:39:06.826" v="81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5-19T19:39:06.826" v="81" actId="20577"/>
          <ac:spMkLst>
            <pc:docMk/>
            <pc:sldMk cId="439331348" sldId="489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5-19T19:38:57.505" v="66" actId="20577"/>
          <ac:spMkLst>
            <pc:docMk/>
            <pc:sldMk cId="439331348" sldId="489"/>
            <ac:spMk id="3" creationId="{C1F55BDD-1493-5FB8-8EDB-106F9B3629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F0E9E-E2C0-D34F-82FA-972FF82665AB}" type="datetimeFigureOut">
              <a:rPr lang="es-ES_tradnl" smtClean="0"/>
              <a:t>19/5/26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D07FA-7792-F649-B523-FCAF9068A01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611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36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1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944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0313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11648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Esta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formas</a:t>
            </a:r>
            <a:r>
              <a:rPr lang="en-US" dirty="0"/>
              <a:t> de </a:t>
            </a:r>
            <a:r>
              <a:rPr lang="en-US" dirty="0" err="1"/>
              <a:t>obtener</a:t>
            </a:r>
            <a:r>
              <a:rPr lang="en-US" dirty="0"/>
              <a:t> la function de </a:t>
            </a:r>
            <a:r>
              <a:rPr lang="en-US" dirty="0" err="1"/>
              <a:t>discriminacion</a:t>
            </a:r>
            <a:r>
              <a:rPr lang="en-US" dirty="0"/>
              <a:t> lineal simple de comparer con logit. El </a:t>
            </a:r>
            <a:r>
              <a:rPr lang="en-US" dirty="0" err="1"/>
              <a:t>libro</a:t>
            </a:r>
            <a:r>
              <a:rPr lang="en-US" dirty="0"/>
              <a:t> la </a:t>
            </a:r>
            <a:r>
              <a:rPr lang="en-US" dirty="0" err="1"/>
              <a:t>obtiene</a:t>
            </a:r>
            <a:r>
              <a:rPr lang="en-US" dirty="0"/>
              <a:t> de </a:t>
            </a:r>
            <a:r>
              <a:rPr lang="en-US" dirty="0" err="1"/>
              <a:t>otra</a:t>
            </a:r>
            <a:r>
              <a:rPr lang="en-US" dirty="0"/>
              <a:t> forma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llega</a:t>
            </a:r>
            <a:r>
              <a:rPr lang="en-US" dirty="0"/>
              <a:t> a </a:t>
            </a:r>
            <a:r>
              <a:rPr lang="en-US" dirty="0" err="1"/>
              <a:t>igual</a:t>
            </a:r>
            <a:r>
              <a:rPr lang="en-US" dirty="0"/>
              <a:t> conclusion y </a:t>
            </a:r>
            <a:r>
              <a:rPr lang="en-US" dirty="0" err="1"/>
              <a:t>comparacion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43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63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83693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9F9B-FDC6-D8C1-B79A-DC4D8EC1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B2E4D-F934-F967-0E12-50495DCE2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C7E60-8F71-B4FB-4EDA-B9F8D9B2C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73F52-877A-BB07-0073-3F99D808F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44291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824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38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Funcion</a:t>
            </a:r>
            <a:r>
              <a:rPr lang="en-US" dirty="0"/>
              <a:t> de </a:t>
            </a:r>
            <a:r>
              <a:rPr lang="en-US" dirty="0" err="1"/>
              <a:t>densidad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vector x dado que Y=1 o Y=0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89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86359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E498-3FB0-C546-A8D8-83B867628B9A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EE57-149E-FF44-87AD-A4C3C613BF77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D92F-06F8-124B-9A60-E47FA6E55CF4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764DD-3E48-344E-9283-AE2DE9B4EE28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47AA-28A6-674B-948B-C23B9576E76D}" type="datetime1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C2B90-D920-E346-B483-15262ACCA1F6}" type="datetime1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9DA-CC6E-3842-BF4C-F941BB707FC4}" type="datetime1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0CA8-0C4E-794A-9637-962E37459276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C7E6-FF97-234A-A48B-F0D2FD417EE3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D92C-7223-F24C-83E8-C1D489493B99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1C07-267E-9B43-A2F0-06B070309387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CE67A987-9AD1-F141-BCB3-0710A3731A4D}" type="datetime1">
              <a:rPr lang="en-US" noProof="0" smtClean="0"/>
              <a:t>5/19/26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mailto:mromero@udesa.edu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Clasificación 2: 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Análisis Discriminante &amp; Naive Bayes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7 - bonus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Breve repaso: </a:t>
            </a:r>
            <a:r>
              <a:rPr lang="es-ES_tradnl" dirty="0"/>
              <a:t>Problema Clasificación, </a:t>
            </a:r>
            <a:r>
              <a:rPr lang="es-ES_tradnl" dirty="0" err="1"/>
              <a:t>logit</a:t>
            </a:r>
            <a:r>
              <a:rPr lang="es-ES_tradnl" dirty="0"/>
              <a:t> &amp; vecinos cercanos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Análisis Discriminante: </a:t>
            </a:r>
            <a:r>
              <a:rPr lang="es-ES_tradnl" dirty="0"/>
              <a:t>LDA &amp; QDA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Naive Bayes: </a:t>
            </a:r>
            <a:r>
              <a:rPr lang="es-ES_tradnl" dirty="0"/>
              <a:t>idea, supuestos, formula y consideraciones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Comparación</a:t>
            </a:r>
            <a:r>
              <a:rPr lang="es-ES_tradnl" dirty="0"/>
              <a:t> empírica: </a:t>
            </a:r>
            <a:r>
              <a:rPr lang="es-ES_tradnl" dirty="0" err="1"/>
              <a:t>logit</a:t>
            </a:r>
            <a:r>
              <a:rPr lang="es-ES_tradnl" dirty="0"/>
              <a:t>, KNN, LDA, QDA, Naive Bayes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1C532-C10F-67BB-5BF3-95B0B7A4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clase anterior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Problema de Clasificar, Clasificador de Bayes, Logit y Vecinos Cercanos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02066-55CA-7F79-B6CB-6ACCA905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0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48E2-C26F-7BCA-5813-80A6FCC1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de clasificación (</a:t>
            </a:r>
            <a:r>
              <a:rPr lang="es-ES_tradnl" dirty="0">
                <a:solidFill>
                  <a:srgbClr val="0070C0"/>
                </a:solidFill>
              </a:rPr>
              <a:t>C6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E58D5-11C6-A71E-0DA7-ED750D5D8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Problema de clasificación (</a:t>
                </a:r>
                <a:r>
                  <a:rPr lang="es-ES_tradnl" i="1" dirty="0"/>
                  <a:t>¿</a:t>
                </a:r>
                <a:r>
                  <a:rPr lang="es-ES_tradnl" dirty="0"/>
                  <a:t>ejemplos?)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¿Cómo definimos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umbral</a:t>
                </a:r>
                <a:r>
                  <a:rPr lang="es-ES_tradnl" dirty="0"/>
                  <a:t> de probabilidad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para clasificar</a:t>
                </a:r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Clasificador de Bayes: </a:t>
                </a:r>
                <a:r>
                  <a:rPr lang="es-ES_tradnl" dirty="0"/>
                  <a:t>¿Intuitivamente?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¿Cómo predecimos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E58D5-11C6-A71E-0DA7-ED750D5D8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FFC81-47F1-1683-4650-71AB2AED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7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19CDA2-FBFD-4435-09C4-88FAECC458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Métodos para predecir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19CDA2-FBFD-4435-09C4-88FAECC45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Logístico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Vecinos Cercanos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Lineal (LDA) &amp; Cuadrático (QDA)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Extensión a múltiples categorías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Breve mención Naive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09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35FD88D-EBA9-8F52-AE39-8342ACF29E3D}"/>
              </a:ext>
            </a:extLst>
          </p:cNvPr>
          <p:cNvSpPr/>
          <p:nvPr/>
        </p:nvSpPr>
        <p:spPr>
          <a:xfrm>
            <a:off x="714375" y="1825625"/>
            <a:ext cx="10639425" cy="14747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7046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Herramientas para predecir la probabilidad condicional: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FDADF-17BD-8373-7746-DEAB13173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Regresión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por máxima verosimilitud</a:t>
                </a:r>
              </a:p>
              <a:p>
                <a:r>
                  <a:rPr lang="es-ES_tradnl" dirty="0"/>
                  <a:t>Predicción para cada observación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971550" lvl="1" indent="-514350">
                  <a:lnSpc>
                    <a:spcPct val="16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966" t="-103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C5851-20E6-C587-A5EF-F7C91BE51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Vecino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K vecinos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Computar: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s-ES_tradnl" dirty="0"/>
                  <a:t>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voto por mayoría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1956" t="-1031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1278E-9575-60C9-483E-D3E506BC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A8A8-4306-4C45-7CD7-B4951A5F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97D3BF7-483D-8FED-DFF6-3143850838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Métodos para predecir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19CDA2-FBFD-4435-09C4-88FAECC45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0B8DD-FE54-A9D9-67F8-690508125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Logístico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Vecinos Cercanos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Lineal (LDA) &amp; Cuadrático (QDA)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Extensión a múltiples categorías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Breve mención Naive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0B8DD-FE54-A9D9-67F8-690508125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09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34E8FEA-4F2B-9289-81C9-3408AF66A09B}"/>
              </a:ext>
            </a:extLst>
          </p:cNvPr>
          <p:cNvSpPr/>
          <p:nvPr/>
        </p:nvSpPr>
        <p:spPr>
          <a:xfrm>
            <a:off x="714375" y="3269673"/>
            <a:ext cx="10639425" cy="6264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486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</a:t>
            </a:r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D7CE3-AD5A-5075-E917-539D112E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35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AA64-15B4-120B-DC90-F133C07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Repaso de la Regla de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1, . . . ,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sucesos excluyentes y exhaustivos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otro evento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45" b="-130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FD45FB5-9579-BD22-5ADC-ACE12806A071}"/>
              </a:ext>
            </a:extLst>
          </p:cNvPr>
          <p:cNvSpPr/>
          <p:nvPr/>
        </p:nvSpPr>
        <p:spPr>
          <a:xfrm>
            <a:off x="6587067" y="2658533"/>
            <a:ext cx="4639733" cy="28956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8D7C0C-A0D6-B238-855B-37376C8CE80E}"/>
              </a:ext>
            </a:extLst>
          </p:cNvPr>
          <p:cNvCxnSpPr/>
          <p:nvPr/>
        </p:nvCxnSpPr>
        <p:spPr>
          <a:xfrm>
            <a:off x="7382933" y="2692400"/>
            <a:ext cx="0" cy="28956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F2D180-72A5-6649-5DEA-6FC2885721A9}"/>
              </a:ext>
            </a:extLst>
          </p:cNvPr>
          <p:cNvCxnSpPr/>
          <p:nvPr/>
        </p:nvCxnSpPr>
        <p:spPr>
          <a:xfrm>
            <a:off x="8178800" y="2658533"/>
            <a:ext cx="0" cy="28956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CACCFD-2562-9E6F-CACE-7C6ED8956982}"/>
              </a:ext>
            </a:extLst>
          </p:cNvPr>
          <p:cNvCxnSpPr/>
          <p:nvPr/>
        </p:nvCxnSpPr>
        <p:spPr>
          <a:xfrm>
            <a:off x="8957733" y="2641601"/>
            <a:ext cx="0" cy="28956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AAB1FA-0FAE-1FD5-B6A1-9BBC26E038AD}"/>
              </a:ext>
            </a:extLst>
          </p:cNvPr>
          <p:cNvCxnSpPr/>
          <p:nvPr/>
        </p:nvCxnSpPr>
        <p:spPr>
          <a:xfrm>
            <a:off x="10363199" y="2658534"/>
            <a:ext cx="0" cy="28956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F0537F1-8B8D-89AD-9152-304A269A9629}"/>
              </a:ext>
            </a:extLst>
          </p:cNvPr>
          <p:cNvSpPr/>
          <p:nvPr/>
        </p:nvSpPr>
        <p:spPr>
          <a:xfrm>
            <a:off x="6942667" y="3776132"/>
            <a:ext cx="3843866" cy="95097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Gill Sans Nova Light" panose="020B0302020104020203" pitchFamily="34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735D30-3DB3-B670-6A05-7CBFD12EDC9D}"/>
                  </a:ext>
                </a:extLst>
              </p:cNvPr>
              <p:cNvSpPr txBox="1"/>
              <p:nvPr/>
            </p:nvSpPr>
            <p:spPr>
              <a:xfrm>
                <a:off x="6637867" y="2692400"/>
                <a:ext cx="6773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3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735D30-3DB3-B670-6A05-7CBFD12ED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867" y="2692400"/>
                <a:ext cx="677333" cy="584775"/>
              </a:xfrm>
              <a:prstGeom prst="rect">
                <a:avLst/>
              </a:prstGeom>
              <a:blipFill>
                <a:blip r:embed="rId4"/>
                <a:stretch>
                  <a:fillRect l="-3704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6FCA65-2B9D-3693-BA7D-34821E97FDBA}"/>
                  </a:ext>
                </a:extLst>
              </p:cNvPr>
              <p:cNvSpPr txBox="1"/>
              <p:nvPr/>
            </p:nvSpPr>
            <p:spPr>
              <a:xfrm>
                <a:off x="7450667" y="2692400"/>
                <a:ext cx="6773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3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6FCA65-2B9D-3693-BA7D-34821E97F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667" y="2692400"/>
                <a:ext cx="677333" cy="584775"/>
              </a:xfrm>
              <a:prstGeom prst="rect">
                <a:avLst/>
              </a:prstGeom>
              <a:blipFill>
                <a:blip r:embed="rId5"/>
                <a:stretch>
                  <a:fillRect l="-3704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B8ED4B-A142-DA86-6593-4A92BF7CA176}"/>
                  </a:ext>
                </a:extLst>
              </p:cNvPr>
              <p:cNvSpPr txBox="1"/>
              <p:nvPr/>
            </p:nvSpPr>
            <p:spPr>
              <a:xfrm>
                <a:off x="10464799" y="2707434"/>
                <a:ext cx="6773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3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B8ED4B-A142-DA86-6593-4A92BF7CA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4799" y="2707434"/>
                <a:ext cx="677333" cy="584775"/>
              </a:xfrm>
              <a:prstGeom prst="rect">
                <a:avLst/>
              </a:prstGeom>
              <a:blipFill>
                <a:blip r:embed="rId6"/>
                <a:stretch>
                  <a:fillRect l="-9259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48D3DC-7ABF-36B3-5B85-7B266C039A67}"/>
                  </a:ext>
                </a:extLst>
              </p:cNvPr>
              <p:cNvSpPr txBox="1"/>
              <p:nvPr/>
            </p:nvSpPr>
            <p:spPr>
              <a:xfrm>
                <a:off x="8246532" y="2692399"/>
                <a:ext cx="6773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3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48D3DC-7ABF-36B3-5B85-7B266C03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532" y="2692399"/>
                <a:ext cx="677333" cy="584775"/>
              </a:xfrm>
              <a:prstGeom prst="rect">
                <a:avLst/>
              </a:prstGeom>
              <a:blipFill>
                <a:blip r:embed="rId7"/>
                <a:stretch>
                  <a:fillRect l="-3704" b="-425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7650F94-0CA6-21AF-CEDB-C48E37AB0139}"/>
              </a:ext>
            </a:extLst>
          </p:cNvPr>
          <p:cNvSpPr txBox="1"/>
          <p:nvPr/>
        </p:nvSpPr>
        <p:spPr>
          <a:xfrm>
            <a:off x="9499598" y="2707434"/>
            <a:ext cx="6773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0C269-B1B8-13AC-9E84-E3045767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5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AA64-15B4-120B-DC90-F133C07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Regla de Bayes en nuestro problema de Clasificación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Conocer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Aplicamos la regla de Bayes anterior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(¡no condicional!)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Análisis discriminante</a:t>
                </a:r>
                <a:r>
                  <a:rPr lang="es-ES_tradnl" dirty="0"/>
                  <a:t>: estimar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, reemplazas y usar el clasificador de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163" b="-26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2A43F-A93B-037E-32CE-2CADABF3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5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0F7A-A84C-1F68-0A93-66A52274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94F88-3FDD-E9E0-E0FE-7F941E3428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(</a:t>
                </a:r>
                <a:r>
                  <a:rPr lang="es-ES_tradnl" dirty="0">
                    <a:solidFill>
                      <a:srgbClr val="0070C0"/>
                    </a:solidFill>
                  </a:rPr>
                  <a:t>probabilidad ex-ante</a:t>
                </a:r>
                <a:r>
                  <a:rPr lang="es-ES_tradnl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Fácil</a:t>
                </a:r>
                <a:r>
                  <a:rPr lang="es-ES_tradnl" dirty="0"/>
                  <a:t>: Proporción de unos en la muestra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94F88-3FDD-E9E0-E0FE-7F941E342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13BB5-881B-B617-3A4A-6EC6AC72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43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AA64-15B4-120B-DC90-F133C07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Probabilidad X|Y bajo normalidad con un predictor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Supongamos que hay un solo predictor y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FF0000"/>
                    </a:solidFill>
                  </a:rPr>
                  <a:t>normal</a:t>
                </a:r>
                <a:r>
                  <a:rPr lang="es-ES_tradnl" i="1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unc>
                        <m:func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_tradnl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=0,1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 problema se redujo a 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Fácil</a:t>
                </a:r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Partir la muestra en dos: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las medias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y varianzas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para cada partición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Reemplazar formula de arriba y computar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C7AC3-C78C-53EC-C317-F0EC63AB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3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Análisis Discriminante Lineal?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En</a:t>
            </a:r>
            <a:r>
              <a:rPr lang="en-US" i="1" dirty="0"/>
              <a:t> ingles “LDA=Linear Discriminant Analysis”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B45F0-5A81-32A0-B420-B14ABAD4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7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1A56-EC31-17CD-C15E-AE5A53AE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Función de Discriminación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002060"/>
                    </a:solidFill>
                  </a:rPr>
                  <a:t>Caso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FF0000"/>
                    </a:solidFill>
                  </a:rPr>
                  <a:t>un predictor </a:t>
                </a:r>
                <a:r>
                  <a:rPr lang="es-ES_tradnl" dirty="0"/>
                  <a:t>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(igual varianza). Recordar: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Entonces, bajo los supuestos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Tomando logs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615C8-D49D-C1ED-0E45-36AB6CFE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6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1A56-EC31-17CD-C15E-AE5A53AE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Función de Discriminación Lineal (continua)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Bajo igual varianza -&gt; la función de discriminación es </a:t>
                </a:r>
                <a:r>
                  <a:rPr lang="es-ES_tradnl" b="1" i="1" dirty="0"/>
                  <a:t>lineal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Igual varianza: -&gt; </a:t>
                </a:r>
                <a:r>
                  <a:rPr lang="es-ES_tradnl" dirty="0">
                    <a:solidFill>
                      <a:srgbClr val="FF0000"/>
                    </a:solidFill>
                  </a:rPr>
                  <a:t>análisis discriminante lineal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Logit estima directamente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la </a:t>
                </a:r>
                <a:r>
                  <a:rPr lang="es-ES_tradnl" i="1" dirty="0"/>
                  <a:t>función de discriminación</a:t>
                </a:r>
                <a:r>
                  <a:rPr lang="es-ES_tradnl" dirty="0"/>
                  <a:t> del </a:t>
                </a:r>
                <a:r>
                  <a:rPr lang="es-ES_tradnl" dirty="0" err="1"/>
                  <a:t>logit</a:t>
                </a:r>
                <a:r>
                  <a:rPr lang="es-ES_tradnl" dirty="0"/>
                  <a:t>: también es lineal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FE1B7-2835-E112-798A-FB09D001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5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DBBB-0556-C8AD-8E03-EA2E0A71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LDA y Clasificador de bayes</a:t>
            </a:r>
          </a:p>
        </p:txBody>
      </p:sp>
      <p:pic>
        <p:nvPicPr>
          <p:cNvPr id="7" name="Content Placeholder 6" descr="A comparison of a graph&#10;&#10;Description automatically generated">
            <a:extLst>
              <a:ext uri="{FF2B5EF4-FFF2-40B4-BE49-F238E27FC236}">
                <a16:creationId xmlns:a16="http://schemas.microsoft.com/office/drawing/2014/main" id="{9988ED99-9BED-A2D6-827C-54B81602E4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3086"/>
          <a:stretch/>
        </p:blipFill>
        <p:spPr>
          <a:xfrm>
            <a:off x="712434" y="1690688"/>
            <a:ext cx="10767131" cy="413437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8A1B06-FBE0-0812-0E3E-44BCEDC6552C}"/>
              </a:ext>
            </a:extLst>
          </p:cNvPr>
          <p:cNvSpPr txBox="1"/>
          <p:nvPr/>
        </p:nvSpPr>
        <p:spPr>
          <a:xfrm>
            <a:off x="838200" y="5825067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p.140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67768E-F489-6477-7646-07ED9A93F645}"/>
                  </a:ext>
                </a:extLst>
              </p:cNvPr>
              <p:cNvSpPr txBox="1"/>
              <p:nvPr/>
            </p:nvSpPr>
            <p:spPr>
              <a:xfrm>
                <a:off x="2117283" y="3751937"/>
                <a:ext cx="8466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_tradnl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67768E-F489-6477-7646-07ED9A93F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283" y="3751937"/>
                <a:ext cx="846667" cy="646331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5A2DE-9EA3-C596-60D8-A3D3CAA13876}"/>
                  </a:ext>
                </a:extLst>
              </p:cNvPr>
              <p:cNvSpPr txBox="1"/>
              <p:nvPr/>
            </p:nvSpPr>
            <p:spPr>
              <a:xfrm>
                <a:off x="3174998" y="3757877"/>
                <a:ext cx="8466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5A2DE-9EA3-C596-60D8-A3D3CAA1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998" y="3757877"/>
                <a:ext cx="846667" cy="646331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844BB9-6686-AAE9-AB1E-DD7CA5820740}"/>
                  </a:ext>
                </a:extLst>
              </p:cNvPr>
              <p:cNvSpPr txBox="1"/>
              <p:nvPr/>
            </p:nvSpPr>
            <p:spPr>
              <a:xfrm>
                <a:off x="2374899" y="1372624"/>
                <a:ext cx="160019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s-ES_tradnl" sz="6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844BB9-6686-AAE9-AB1E-DD7CA5820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899" y="1372624"/>
                <a:ext cx="1600199" cy="584775"/>
              </a:xfrm>
              <a:prstGeom prst="rect">
                <a:avLst/>
              </a:prstGeom>
              <a:blipFill>
                <a:blip r:embed="rId6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C4F165-B3DF-27CE-D6FD-1191BB3E13C3}"/>
                  </a:ext>
                </a:extLst>
              </p:cNvPr>
              <p:cNvSpPr txBox="1"/>
              <p:nvPr/>
            </p:nvSpPr>
            <p:spPr>
              <a:xfrm>
                <a:off x="610216" y="1957399"/>
                <a:ext cx="1761067" cy="468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ES_tradnl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C4F165-B3DF-27CE-D6FD-1191BB3E1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16" y="1957399"/>
                <a:ext cx="1761067" cy="4689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43F7B-9F0C-1879-4AE8-E6F58004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48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8222-A0FD-140A-4595-6D94C917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2FFE-CB1E-4FFB-6B34-8D799021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LDA y Clasificador de bayes</a:t>
            </a:r>
          </a:p>
        </p:txBody>
      </p:sp>
      <p:pic>
        <p:nvPicPr>
          <p:cNvPr id="7" name="Content Placeholder 6" descr="A comparison of a graph&#10;&#10;Description automatically generated">
            <a:extLst>
              <a:ext uri="{FF2B5EF4-FFF2-40B4-BE49-F238E27FC236}">
                <a16:creationId xmlns:a16="http://schemas.microsoft.com/office/drawing/2014/main" id="{72208720-ACAB-F0D3-39B6-C241F71ACE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3086" r="53552"/>
          <a:stretch/>
        </p:blipFill>
        <p:spPr>
          <a:xfrm>
            <a:off x="712434" y="1690688"/>
            <a:ext cx="4817509" cy="413437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85E763-A875-21B1-6F98-DB2A70719F63}"/>
              </a:ext>
            </a:extLst>
          </p:cNvPr>
          <p:cNvSpPr txBox="1"/>
          <p:nvPr/>
        </p:nvSpPr>
        <p:spPr>
          <a:xfrm>
            <a:off x="838200" y="5825067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p.140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E87A38-8650-B213-1E05-A67183ECBADA}"/>
                  </a:ext>
                </a:extLst>
              </p:cNvPr>
              <p:cNvSpPr txBox="1"/>
              <p:nvPr/>
            </p:nvSpPr>
            <p:spPr>
              <a:xfrm>
                <a:off x="2117283" y="3751937"/>
                <a:ext cx="8466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_tradnl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67768E-F489-6477-7646-07ED9A93F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283" y="3751937"/>
                <a:ext cx="846667" cy="646331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95EEA1-F4F5-CB15-F80A-6B9294AFF52E}"/>
                  </a:ext>
                </a:extLst>
              </p:cNvPr>
              <p:cNvSpPr txBox="1"/>
              <p:nvPr/>
            </p:nvSpPr>
            <p:spPr>
              <a:xfrm>
                <a:off x="3174998" y="3757877"/>
                <a:ext cx="8466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5A2DE-9EA3-C596-60D8-A3D3CAA1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998" y="3757877"/>
                <a:ext cx="846667" cy="646331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A41ADF-503C-CFE6-9243-71472252B2BC}"/>
                  </a:ext>
                </a:extLst>
              </p:cNvPr>
              <p:cNvSpPr txBox="1"/>
              <p:nvPr/>
            </p:nvSpPr>
            <p:spPr>
              <a:xfrm>
                <a:off x="2374899" y="1372624"/>
                <a:ext cx="160019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s-ES_tradnl" sz="6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844BB9-6686-AAE9-AB1E-DD7CA5820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899" y="1372624"/>
                <a:ext cx="1600199" cy="584775"/>
              </a:xfrm>
              <a:prstGeom prst="rect">
                <a:avLst/>
              </a:prstGeom>
              <a:blipFill>
                <a:blip r:embed="rId6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8CCBA5-78A3-1FA9-634C-627B5D5EB7A8}"/>
                  </a:ext>
                </a:extLst>
              </p:cNvPr>
              <p:cNvSpPr txBox="1"/>
              <p:nvPr/>
            </p:nvSpPr>
            <p:spPr>
              <a:xfrm>
                <a:off x="610216" y="1957399"/>
                <a:ext cx="1761067" cy="468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ES_tradnl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C4F165-B3DF-27CE-D6FD-1191BB3E1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16" y="1957399"/>
                <a:ext cx="1761067" cy="4689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9805E8-A4B1-E72B-D5E7-2E17D5A6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DB03C71-15A1-5149-D78C-734B9E18C8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0" y="1812283"/>
                <a:ext cx="5181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Preguntas:</a:t>
                </a:r>
              </a:p>
              <a:p>
                <a:pPr>
                  <a:lnSpc>
                    <a:spcPct val="100000"/>
                  </a:lnSpc>
                </a:pPr>
                <a:endParaRPr lang="es-ES_tradnl" sz="12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A </a:t>
                </a:r>
                <a:r>
                  <a:rPr lang="es-ES_tradnl" dirty="0">
                    <a:solidFill>
                      <a:srgbClr val="002060"/>
                    </a:solidFill>
                  </a:rPr>
                  <a:t>mayor diferencia </a:t>
                </a:r>
                <a:r>
                  <a:rPr lang="es-ES_tradnl" dirty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, ¿cómo será nuestra discriminación?</a:t>
                </a:r>
              </a:p>
              <a:p>
                <a:pPr lvl="1">
                  <a:lnSpc>
                    <a:spcPct val="100000"/>
                  </a:lnSpc>
                </a:pPr>
                <a:endParaRPr lang="es-ES_tradnl" sz="12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A </a:t>
                </a:r>
                <a:r>
                  <a:rPr lang="es-ES_tradnl" dirty="0">
                    <a:solidFill>
                      <a:srgbClr val="002060"/>
                    </a:solidFill>
                  </a:rPr>
                  <a:t>mayor varianza </a:t>
                </a:r>
                <a:r>
                  <a:rPr lang="es-ES_tradnl" dirty="0"/>
                  <a:t>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, ¿cómo será nuestra discriminación?</a:t>
                </a:r>
              </a:p>
              <a:p>
                <a:pPr lvl="1"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DB03C71-15A1-5149-D78C-734B9E18C8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0" y="1812283"/>
                <a:ext cx="5181600" cy="4351338"/>
              </a:xfrm>
              <a:blipFill>
                <a:blip r:embed="rId8"/>
                <a:stretch>
                  <a:fillRect l="-2934" t="-1744" r="-342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1A56-EC31-17CD-C15E-AE5A53AE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Aclaraciones de </a:t>
            </a:r>
            <a:r>
              <a:rPr lang="es-ES_tradnl" dirty="0" err="1"/>
              <a:t>logit</a:t>
            </a:r>
            <a:r>
              <a:rPr lang="es-ES_tradnl" dirty="0"/>
              <a:t> vs LDA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Clasificación</a:t>
                </a:r>
                <a:r>
                  <a:rPr lang="es-ES_tradnl" dirty="0"/>
                  <a:t>: en el espacio de </a:t>
                </a:r>
                <a:r>
                  <a:rPr lang="es-ES_tradnl" dirty="0">
                    <a:solidFill>
                      <a:srgbClr val="002060"/>
                    </a:solidFill>
                  </a:rPr>
                  <a:t>probabilidades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/>
                    </a:solidFill>
                  </a:rPr>
                  <a:t> </a:t>
                </a:r>
                <a:endParaRPr lang="es-ES_tradnl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Discriminación</a:t>
                </a:r>
                <a:r>
                  <a:rPr lang="es-ES_tradnl" dirty="0"/>
                  <a:t>: en el espacio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9CF55-BB68-3422-A9D7-7D473667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0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ED1F-B28B-8DEF-D3CE-F53C23D8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56EF-7A26-061C-0B4C-B6B34376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¿Podemos generalizar el Análisis Discriminante Lineal?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0D9E9-9715-078F-4EF7-0A29AF5E7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En</a:t>
            </a:r>
            <a:r>
              <a:rPr lang="en-US" i="1" dirty="0"/>
              <a:t> ingles “LDA=Linear Discriminant Analysis”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3954E-1EA6-50BE-9B57-616432EE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41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AA64-15B4-120B-DC90-F133C07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Probabilidad X|Y bajo normalidad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Caso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</a:t>
                </a:r>
                <a:r>
                  <a:rPr lang="es-ES_tradnl" dirty="0">
                    <a:solidFill>
                      <a:srgbClr val="002060"/>
                    </a:solidFill>
                  </a:rPr>
                  <a:t>normalidad</a:t>
                </a:r>
                <a:r>
                  <a:rPr lang="es-ES_tradnl" dirty="0"/>
                  <a:t>?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</a:t>
                </a:r>
                <a:r>
                  <a:rPr lang="es-ES_tradnl" dirty="0">
                    <a:solidFill>
                      <a:srgbClr val="002060"/>
                    </a:solidFill>
                  </a:rPr>
                  <a:t>Un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predictor</a:t>
                </a:r>
                <a:r>
                  <a:rPr lang="es-ES_tradnl" dirty="0"/>
                  <a:t>? </a:t>
                </a:r>
                <a:r>
                  <a:rPr lang="es-ES_tradnl" dirty="0">
                    <a:solidFill>
                      <a:srgbClr val="00B050"/>
                    </a:solidFill>
                  </a:rPr>
                  <a:t>Si</a:t>
                </a:r>
                <a:r>
                  <a:rPr lang="es-ES_tradnl" dirty="0"/>
                  <a:t>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_tradnl" dirty="0"/>
                  <a:t> un vector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variables aleatorias. </a:t>
                </a:r>
                <a:r>
                  <a:rPr lang="es-ES_tradnl" dirty="0">
                    <a:solidFill>
                      <a:srgbClr val="002060"/>
                    </a:solidFill>
                  </a:rPr>
                  <a:t>Normal multivariada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i="1" dirty="0"/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i="1" dirty="0"/>
                  <a:t> (vector)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i="1" dirty="0"/>
                  <a:t> (matriz)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22161-619E-9D0A-946C-B67409638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b="-26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19EF5-6023-4B7E-A4AE-20D6EC96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09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1A56-EC31-17CD-C15E-AE5A53AE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Probabilidad X|Y bajo normalidad (continua)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Caso general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Para nuestro problema,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predictores y bajo normalidad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=0,1  </m:t>
                      </m:r>
                    </m:oMath>
                  </m:oMathPara>
                </a14:m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Ahora tenemos que 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vector</a:t>
                </a:r>
                <a:r>
                  <a:rPr lang="es-ES_tradnl" dirty="0"/>
                  <a:t> de medias muestrales en cada categoría,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la </a:t>
                </a:r>
                <a:r>
                  <a:rPr lang="es-ES_tradnl" dirty="0">
                    <a:solidFill>
                      <a:srgbClr val="002060"/>
                    </a:solidFill>
                  </a:rPr>
                  <a:t>matriz de varianzas </a:t>
                </a:r>
                <a:r>
                  <a:rPr lang="es-ES_tradnl" i="1" dirty="0"/>
                  <a:t>y </a:t>
                </a:r>
                <a:r>
                  <a:rPr lang="es-ES_tradnl" dirty="0">
                    <a:solidFill>
                      <a:srgbClr val="002060"/>
                    </a:solidFill>
                  </a:rPr>
                  <a:t>covarianzas</a:t>
                </a:r>
                <a:r>
                  <a:rPr lang="es-ES_tradnl" dirty="0"/>
                  <a:t> para cada categoría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9F64CA-B7BB-ED2E-446B-732854999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18EF7-627A-13E3-9527-6453E299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91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9EE3-6F08-7202-24D5-C93038B8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la función de densidad normal multivariada</a:t>
            </a:r>
          </a:p>
        </p:txBody>
      </p:sp>
      <p:pic>
        <p:nvPicPr>
          <p:cNvPr id="5" name="Content Placeholder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5425E460-E7EA-97B7-5B9E-F1A241A9E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075" y="1858779"/>
            <a:ext cx="10232637" cy="42061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C997EE-FEE2-9526-7D37-376DEA819597}"/>
              </a:ext>
            </a:extLst>
          </p:cNvPr>
          <p:cNvSpPr txBox="1"/>
          <p:nvPr/>
        </p:nvSpPr>
        <p:spPr>
          <a:xfrm>
            <a:off x="2678459" y="6154321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p.142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5414AC-9A9C-9B0A-5C7B-D1A7BB2DA2AF}"/>
                  </a:ext>
                </a:extLst>
              </p:cNvPr>
              <p:cNvSpPr txBox="1"/>
              <p:nvPr/>
            </p:nvSpPr>
            <p:spPr>
              <a:xfrm>
                <a:off x="1084937" y="1954065"/>
                <a:ext cx="21481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5414AC-9A9C-9B0A-5C7B-D1A7BB2D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937" y="1954065"/>
                <a:ext cx="214815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2CA55C-FE6C-190E-D382-387BEDB3DF89}"/>
                  </a:ext>
                </a:extLst>
              </p:cNvPr>
              <p:cNvSpPr txBox="1"/>
              <p:nvPr/>
            </p:nvSpPr>
            <p:spPr>
              <a:xfrm>
                <a:off x="9493554" y="1769399"/>
                <a:ext cx="21481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2CA55C-FE6C-190E-D382-387BEDB3D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554" y="1769399"/>
                <a:ext cx="214815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844F8-40DF-544F-C8B6-1A31C3C5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95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con múltiples categorías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19B96-2C2E-416C-C125-6D5BFAF89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4.4.2</a:t>
            </a:r>
            <a:endParaRPr lang="en-US" b="1" i="1" dirty="0"/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36C1D1-2DF7-9F11-69D4-D435831D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12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7516CB-6166-B976-E0B8-303F913F2F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Decisiones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1, . . . , </m:t>
                        </m:r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s-ES_tradnl" dirty="0"/>
                  <a:t> con K categorías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7516CB-6166-B976-E0B8-303F913F2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50FC6-CC1F-548F-D64A-F096053A1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60000"/>
              </a:lnSpc>
            </a:pPr>
            <a:r>
              <a:rPr lang="es-ES_tradnl" dirty="0"/>
              <a:t>Tipos de categorías:</a:t>
            </a:r>
          </a:p>
          <a:p>
            <a:pPr lvl="1">
              <a:lnSpc>
                <a:spcPct val="160000"/>
              </a:lnSpc>
            </a:pPr>
            <a:r>
              <a:rPr lang="es-ES_tradnl" dirty="0">
                <a:solidFill>
                  <a:srgbClr val="002060"/>
                </a:solidFill>
              </a:rPr>
              <a:t>Ordenadas</a:t>
            </a:r>
            <a:r>
              <a:rPr lang="es-ES_tradnl" dirty="0"/>
              <a:t>: {Sin educación, Primario incompleto, Primario completo, …, Posgrado}</a:t>
            </a:r>
          </a:p>
          <a:p>
            <a:pPr lvl="1">
              <a:lnSpc>
                <a:spcPct val="160000"/>
              </a:lnSpc>
            </a:pPr>
            <a:r>
              <a:rPr lang="es-ES_tradnl" dirty="0">
                <a:solidFill>
                  <a:srgbClr val="002060"/>
                </a:solidFill>
              </a:rPr>
              <a:t>No ordenadas: </a:t>
            </a:r>
            <a:r>
              <a:rPr lang="es-ES_tradnl" dirty="0"/>
              <a:t>{arte, ciencia, deporte}</a:t>
            </a:r>
          </a:p>
          <a:p>
            <a:pPr>
              <a:lnSpc>
                <a:spcPct val="160000"/>
              </a:lnSpc>
            </a:pPr>
            <a:r>
              <a:rPr lang="es-ES_tradnl" dirty="0"/>
              <a:t>Logit </a:t>
            </a:r>
            <a:r>
              <a:rPr lang="es-ES_tradnl" dirty="0">
                <a:solidFill>
                  <a:srgbClr val="0070C0"/>
                </a:solidFill>
              </a:rPr>
              <a:t>no se extiende </a:t>
            </a:r>
            <a:r>
              <a:rPr lang="es-ES_tradnl" dirty="0"/>
              <a:t>fácilmente (menos aun al caso no ordenado)</a:t>
            </a:r>
          </a:p>
          <a:p>
            <a:pPr>
              <a:lnSpc>
                <a:spcPct val="160000"/>
              </a:lnSpc>
            </a:pPr>
            <a:r>
              <a:rPr lang="es-ES_tradnl" dirty="0">
                <a:solidFill>
                  <a:srgbClr val="002060"/>
                </a:solidFill>
              </a:rPr>
              <a:t>K-vecinos</a:t>
            </a:r>
            <a:r>
              <a:rPr lang="es-ES_tradnl" dirty="0"/>
              <a:t> más cercanos: </a:t>
            </a:r>
            <a:r>
              <a:rPr lang="es-ES_tradnl" dirty="0">
                <a:solidFill>
                  <a:srgbClr val="002060"/>
                </a:solidFill>
              </a:rPr>
              <a:t>simple</a:t>
            </a:r>
            <a:r>
              <a:rPr lang="es-ES_tradnl" dirty="0"/>
              <a:t>. Computar probabilidades para todas las categorías, predecir la de la mayoría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B7703-21BC-B849-7C80-E6009544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5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16CB-6166-B976-E0B8-303F913F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para K categorías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E50FC6-CC1F-548F-D64A-F096053A1E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/>
                  <a:t>Caso inicial con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 </a:t>
                </a:r>
                <a:endParaRPr lang="es-ES_tradnl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</m:d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/>
                  <a:t>La generalización al caso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1, . . . , 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categorías es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E50FC6-CC1F-548F-D64A-F096053A1E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235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33DAA-F0BB-9DC2-1261-7D856F63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16CB-6166-B976-E0B8-303F913F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para K categorías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E50FC6-CC1F-548F-D64A-F096053A1E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proporción (no condicional en cada categoría)</a:t>
                </a:r>
              </a:p>
              <a:p>
                <a:r>
                  <a:rPr lang="es-ES_tradnl" dirty="0"/>
                  <a:t>Ahora para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1, . . . , 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Repetir lo anterior para cada una de las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categorías </a:t>
                </a:r>
              </a:p>
              <a:p>
                <a:r>
                  <a:rPr lang="es-ES_tradnl" dirty="0"/>
                  <a:t>Reemplazar en la regla de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E50FC6-CC1F-548F-D64A-F096053A1E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B38C6-8BFE-26DD-9749-A5B23773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44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9EE3-6F08-7202-24D5-C93038B8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LDA con múltiples categorías </a:t>
            </a:r>
          </a:p>
        </p:txBody>
      </p:sp>
      <p:pic>
        <p:nvPicPr>
          <p:cNvPr id="8" name="Content Placeholder 7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E30C1574-9BC1-6322-36A6-43C3DA1FF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459" y="1954480"/>
            <a:ext cx="8983240" cy="429768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4A7D5A-8793-C792-D6EB-1EED0109B64E}"/>
              </a:ext>
            </a:extLst>
          </p:cNvPr>
          <p:cNvSpPr txBox="1"/>
          <p:nvPr/>
        </p:nvSpPr>
        <p:spPr>
          <a:xfrm>
            <a:off x="2678459" y="6154321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p.143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B020A-6918-5AA2-6036-0510594762A7}"/>
                  </a:ext>
                </a:extLst>
              </p:cNvPr>
              <p:cNvSpPr txBox="1"/>
              <p:nvPr/>
            </p:nvSpPr>
            <p:spPr>
              <a:xfrm>
                <a:off x="530301" y="2405976"/>
                <a:ext cx="214815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={1,2,3}</m:t>
                      </m:r>
                    </m:oMath>
                  </m:oMathPara>
                </a14:m>
                <a:endParaRPr lang="es-ES_tradnl" sz="2000" dirty="0">
                  <a:latin typeface="Gill Sans Nova Light" panose="020B0302020104020203" pitchFamily="34" charset="0"/>
                </a:endParaRPr>
              </a:p>
              <a:p>
                <a:r>
                  <a:rPr lang="es-ES_tradnl" sz="2000" dirty="0">
                    <a:latin typeface="Gill Sans Nova Light" panose="020B0302020104020203" pitchFamily="34" charset="0"/>
                  </a:rPr>
                  <a:t>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sz="2000" dirty="0"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B020A-6918-5AA2-6036-051059476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01" y="2405976"/>
                <a:ext cx="2148158" cy="707886"/>
              </a:xfrm>
              <a:prstGeom prst="rect">
                <a:avLst/>
              </a:prstGeom>
              <a:blipFill>
                <a:blip r:embed="rId3"/>
                <a:stretch>
                  <a:fillRect l="-2941"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BD24B-DC76-FA96-CD69-0F38BF4D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50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Cuadrático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05D58-61BC-1CE7-1178-D89253F0E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dirty="0"/>
              <a:t>QDA= </a:t>
            </a:r>
            <a:r>
              <a:rPr lang="es-ES_tradnl" dirty="0" err="1"/>
              <a:t>Quadratic</a:t>
            </a:r>
            <a:r>
              <a:rPr lang="es-ES_tradnl" dirty="0"/>
              <a:t> </a:t>
            </a:r>
            <a:r>
              <a:rPr lang="es-ES_tradnl" dirty="0" err="1"/>
              <a:t>Discriminant</a:t>
            </a:r>
            <a:r>
              <a:rPr lang="es-ES_tradnl" dirty="0"/>
              <a:t> </a:t>
            </a:r>
            <a:r>
              <a:rPr lang="es-ES_tradnl" dirty="0" err="1"/>
              <a:t>Analysis</a:t>
            </a:r>
            <a:endParaRPr lang="es-ES_tradnl" dirty="0"/>
          </a:p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4.4.3</a:t>
            </a:r>
            <a:endParaRPr lang="en-US" b="1" i="1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72A8B-A68E-E37F-8F74-734B6681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56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D3E8-C456-9BE5-750E-3CD1000ED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Discriminante Cuadrático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D15A3-4F56-913D-E81B-5003355BE76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04734" y="1825625"/>
                <a:ext cx="4197246" cy="3930598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Relajamos: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1 a muchos predictores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1 a muchas categorías para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b="1" dirty="0"/>
                  <a:t>Ahora relajamos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2060"/>
                    </a:solidFill>
                  </a:rPr>
                  <a:t>Distintas varianzas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para cada categoría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LDA clasificador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menos flexible</a:t>
                </a:r>
                <a:r>
                  <a:rPr lang="es-ES_tradnl" dirty="0"/>
                  <a:t> que QDA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QDA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menor varianza </a:t>
                </a:r>
                <a:r>
                  <a:rPr lang="es-ES_tradnl" dirty="0"/>
                  <a:t>y </a:t>
                </a:r>
                <a:r>
                  <a:rPr lang="es-ES_tradnl" dirty="0">
                    <a:solidFill>
                      <a:srgbClr val="002060"/>
                    </a:solidFill>
                  </a:rPr>
                  <a:t>error de predicción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D15A3-4F56-913D-E81B-5003355BE7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4734" y="1825625"/>
                <a:ext cx="4197246" cy="3930598"/>
              </a:xfrm>
              <a:blipFill>
                <a:blip r:embed="rId2"/>
                <a:stretch>
                  <a:fillRect l="-1506" t="-965" b="-225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D254322B-6C33-B9EC-E6D4-2E06FE1B2F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407419" y="2248457"/>
            <a:ext cx="7591236" cy="350776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C17B95-EB31-4F5A-B7EA-95CDB9764DBC}"/>
              </a:ext>
            </a:extLst>
          </p:cNvPr>
          <p:cNvSpPr txBox="1"/>
          <p:nvPr/>
        </p:nvSpPr>
        <p:spPr>
          <a:xfrm>
            <a:off x="4601980" y="589116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p.150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AC15B-CB5E-04F7-0E91-356BF50F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F7340E7-9021-C757-3A13-5555649AE1E3}"/>
              </a:ext>
            </a:extLst>
          </p:cNvPr>
          <p:cNvSpPr/>
          <p:nvPr/>
        </p:nvSpPr>
        <p:spPr>
          <a:xfrm rot="2333369">
            <a:off x="5751068" y="1976617"/>
            <a:ext cx="1239236" cy="32820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Operación manual 7">
            <a:extLst>
              <a:ext uri="{FF2B5EF4-FFF2-40B4-BE49-F238E27FC236}">
                <a16:creationId xmlns:a16="http://schemas.microsoft.com/office/drawing/2014/main" id="{8C3C09CB-B502-5F41-D95A-DA7CC3836B5D}"/>
              </a:ext>
            </a:extLst>
          </p:cNvPr>
          <p:cNvSpPr/>
          <p:nvPr/>
        </p:nvSpPr>
        <p:spPr>
          <a:xfrm rot="2697657">
            <a:off x="9275683" y="2395979"/>
            <a:ext cx="1792804" cy="2780755"/>
          </a:xfrm>
          <a:prstGeom prst="flowChartManualOpera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907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C882-FE6D-BB48-D604-C952139C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5C225B4-AA83-1532-36B3-12B560A6DDA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Métodos para predecir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19CDA2-FBFD-4435-09C4-88FAECC45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B1655C-EAE4-4F2B-7990-0F12D09E5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Logístico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Vecinos Cercanos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Lineal (LDA) &amp; Cuadrático (QDA)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Extensión a múltiples categorías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Breve mención Naive Bayes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B1655C-EAE4-4F2B-7990-0F12D09E5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09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E4ED4D3-F723-56A0-728F-3635139C7227}"/>
              </a:ext>
            </a:extLst>
          </p:cNvPr>
          <p:cNvSpPr/>
          <p:nvPr/>
        </p:nvSpPr>
        <p:spPr>
          <a:xfrm>
            <a:off x="714375" y="5167746"/>
            <a:ext cx="10639425" cy="6264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2071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Naive Bayes: relajando el supuesto de normalidad de X|Y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4.4.4</a:t>
            </a:r>
            <a:endParaRPr lang="en-US" b="1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B7E0-0C95-55A1-4B97-C5CF64BE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16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8925-1529-C134-B7C3-6DF5859A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</a:t>
            </a:r>
            <a:r>
              <a:rPr lang="es-ES_tradnl" i="1" dirty="0"/>
              <a:t>Naive</a:t>
            </a:r>
            <a:r>
              <a:rPr lang="es-ES_tradnl" dirty="0"/>
              <a:t>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C3855-45A8-9F3C-098D-835FBA2059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Recordamos la regla de Bayes (con un predictor)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_tradnl" sz="12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 de Naive Bayes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FF0000"/>
                    </a:solidFill>
                  </a:rPr>
                  <a:t>no asumimos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)~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/>
                  <a:t>para cada categoría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endParaRPr lang="es-ES_tradnl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C3855-45A8-9F3C-098D-835FBA2059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365AA-93C8-899C-5DA6-38EF9D87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23F7-57A6-0D6F-F787-612A9D12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Supuesto clave de </a:t>
            </a:r>
            <a:r>
              <a:rPr lang="es-ES_tradnl" i="1" dirty="0"/>
              <a:t>Naive</a:t>
            </a:r>
            <a:r>
              <a:rPr lang="es-ES_tradnl" dirty="0"/>
              <a:t>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FF63DD-BD07-EACD-62A1-4D93D63E89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endParaRPr lang="es-ES_tradnl" sz="1200" dirty="0"/>
              </a:p>
              <a:p>
                <a:pPr marL="0" indent="0">
                  <a:buNone/>
                </a:pPr>
                <a:endParaRPr lang="es-ES_tradnl" sz="1200" dirty="0"/>
              </a:p>
              <a:p>
                <a:r>
                  <a:rPr lang="es-ES_tradnl" dirty="0"/>
                  <a:t>Formalmente,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 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endParaRPr lang="es-ES_tradnl" sz="13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1400" dirty="0"/>
              </a:p>
              <a:p>
                <a:pPr marL="457200" lvl="1" indent="0">
                  <a:buNone/>
                </a:pPr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es la función de densidad del predictor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-ésimo entre las observaciones de la clase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FF63DD-BD07-EACD-62A1-4D93D63E8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DD0EE-E96F-6A13-C228-652AC66E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0DFB08-EC84-0B81-497C-1EFC92DE24C9}"/>
              </a:ext>
            </a:extLst>
          </p:cNvPr>
          <p:cNvSpPr/>
          <p:nvPr/>
        </p:nvSpPr>
        <p:spPr>
          <a:xfrm>
            <a:off x="1772867" y="1870075"/>
            <a:ext cx="8646266" cy="15820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s-ES_tradnl" sz="3200" dirty="0">
                <a:solidFill>
                  <a:schemeClr val="tx1"/>
                </a:solidFill>
                <a:latin typeface="Gill Sans Nova Light" panose="020B0302020104020203" pitchFamily="34" charset="0"/>
              </a:rPr>
              <a:t>Dentro de cada categoría de la variable dependiente 𝑌 , los 𝑝 predictores son </a:t>
            </a:r>
            <a:r>
              <a:rPr lang="es-ES_tradnl" sz="3200" dirty="0">
                <a:solidFill>
                  <a:srgbClr val="00B050"/>
                </a:solidFill>
                <a:latin typeface="Gill Sans Nova Light" panose="020B0302020104020203" pitchFamily="34" charset="0"/>
              </a:rPr>
              <a:t>independientes</a:t>
            </a:r>
            <a:r>
              <a:rPr lang="es-ES_tradnl" sz="3200" dirty="0">
                <a:solidFill>
                  <a:schemeClr val="tx1"/>
                </a:solidFill>
                <a:latin typeface="Gill Sans Nova Light" panose="020B03020201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71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5342-004E-A4C0-99D9-EFA63B7D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de </a:t>
            </a:r>
            <a:r>
              <a:rPr lang="es-ES_tradnl" i="1" dirty="0"/>
              <a:t>Naive</a:t>
            </a:r>
            <a:r>
              <a:rPr lang="es-ES_tradnl" dirty="0"/>
              <a:t> Bayes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A5E0C-D14A-15F0-3A91-5AEEA590D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Estimar la función de densidad de dimensión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requiere estimar: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distribuciones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marginales</a:t>
                </a:r>
                <a:r>
                  <a:rPr lang="es-ES_tradnl" dirty="0"/>
                  <a:t> de cada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Con el supuesto de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independencia</a:t>
                </a:r>
                <a:r>
                  <a:rPr lang="es-ES_tradnl" dirty="0"/>
                  <a:t> entre predictores implica que </a:t>
                </a:r>
                <a:r>
                  <a:rPr lang="es-ES_tradnl" dirty="0">
                    <a:solidFill>
                      <a:srgbClr val="002060"/>
                    </a:solidFill>
                  </a:rPr>
                  <a:t>no existen </a:t>
                </a:r>
                <a:r>
                  <a:rPr lang="es-ES_tradnl" dirty="0"/>
                  <a:t>las asociaciones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s-ES_tradnl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¿Es el de </a:t>
                </a:r>
                <a:r>
                  <a:rPr lang="es-ES_tradnl" i="1" dirty="0"/>
                  <a:t>Naive</a:t>
                </a:r>
                <a:r>
                  <a:rPr lang="es-ES_tradnl" dirty="0"/>
                  <a:t> Bayes supuesto razonable?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A5E0C-D14A-15F0-3A91-5AEEA590D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1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8F04D-19A1-A5A1-0BFA-80B91555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9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51E1-F7BB-4AF5-AC76-899316C2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Trade</a:t>
            </a:r>
            <a:r>
              <a:rPr lang="es-ES_tradnl" dirty="0"/>
              <a:t> off sesgo-varianza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C6BB3F-04F8-3741-F198-7FE90CF22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es un supuesto </a:t>
                </a:r>
                <a:r>
                  <a:rPr lang="es-ES_tradnl" dirty="0">
                    <a:solidFill>
                      <a:srgbClr val="002060"/>
                    </a:solidFill>
                  </a:rPr>
                  <a:t>realista</a:t>
                </a:r>
              </a:p>
              <a:p>
                <a:pPr lvl="1"/>
                <a:r>
                  <a:rPr lang="es-ES_tradnl" dirty="0"/>
                  <a:t>Es un supuesto </a:t>
                </a:r>
                <a:r>
                  <a:rPr lang="es-ES_tradnl" dirty="0">
                    <a:solidFill>
                      <a:srgbClr val="002060"/>
                    </a:solidFill>
                  </a:rPr>
                  <a:t>conveniente</a:t>
                </a:r>
                <a:r>
                  <a:rPr lang="es-ES_tradnl" dirty="0"/>
                  <a:t> desde el modelo formal (fórmula más </a:t>
                </a:r>
                <a:r>
                  <a:rPr lang="es-ES_tradnl" dirty="0">
                    <a:solidFill>
                      <a:srgbClr val="002060"/>
                    </a:solidFill>
                  </a:rPr>
                  <a:t>simple</a:t>
                </a:r>
                <a:r>
                  <a:rPr lang="es-ES_tradnl" dirty="0"/>
                  <a:t>)</a:t>
                </a:r>
              </a:p>
              <a:p>
                <a:pPr lvl="1"/>
                <a:endParaRPr lang="es-ES_tradnl" sz="1200" dirty="0"/>
              </a:p>
              <a:p>
                <a:r>
                  <a:rPr lang="es-ES_tradnl" dirty="0"/>
                  <a:t>En la práctica, funciona </a:t>
                </a:r>
                <a:r>
                  <a:rPr lang="es-ES_tradnl" dirty="0">
                    <a:solidFill>
                      <a:srgbClr val="00B050"/>
                    </a:solidFill>
                  </a:rPr>
                  <a:t>bastante bien</a:t>
                </a:r>
              </a:p>
              <a:p>
                <a:pPr lvl="1"/>
                <a:r>
                  <a:rPr lang="es-ES_tradnl" dirty="0"/>
                  <a:t>Contextos particulares: 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no es lo suficientemente grande </a:t>
                </a:r>
                <a:r>
                  <a:rPr lang="es-ES_tradnl" dirty="0"/>
                  <a:t>relativo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Por asumir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independencia</a:t>
                </a:r>
                <a:r>
                  <a:rPr lang="es-ES_tradnl" dirty="0"/>
                  <a:t>: El sesgo &lt; la reducción en la varianza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C6BB3F-04F8-3741-F198-7FE90CF22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3ADB2-4822-19EB-90A8-487345BB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4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1CE6-C0F3-D530-574E-53022479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de estimación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C47C3D-3A0F-F27E-7488-74D4980CE3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Usar </a:t>
                </a:r>
                <a:r>
                  <a:rPr lang="es-ES_tradnl" dirty="0">
                    <a:solidFill>
                      <a:srgbClr val="002060"/>
                    </a:solidFill>
                  </a:rPr>
                  <a:t>histogramas</a:t>
                </a:r>
                <a:r>
                  <a:rPr lang="es-ES_tradnl" dirty="0"/>
                  <a:t> o </a:t>
                </a:r>
                <a:r>
                  <a:rPr lang="es-ES_tradnl" dirty="0">
                    <a:solidFill>
                      <a:srgbClr val="002060"/>
                    </a:solidFill>
                  </a:rPr>
                  <a:t>funciones de densidad Kernels </a:t>
                </a:r>
                <a:r>
                  <a:rPr lang="es-ES_tradnl" dirty="0"/>
                  <a:t>para 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categórica</a:t>
                </a:r>
                <a:r>
                  <a:rPr lang="es-ES_tradnl" dirty="0"/>
                  <a:t>, contar la proporción de observaciones en cada categoría para cada clase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C47C3D-3A0F-F27E-7488-74D4980CE3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0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515B-D3C9-0C05-EDD2-D1EBB251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18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empírica de los clasificadores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¿Cuál método es mejor?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4.5.2</a:t>
            </a:r>
            <a:endParaRPr lang="en-US" b="1" i="1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E429F-0EF3-0F6D-291B-C4403C79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45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1 a 3: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lineal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C4A5B-2BF2-2C26-3AF5-0B023D20993E}"/>
              </a:ext>
            </a:extLst>
          </p:cNvPr>
          <p:cNvSpPr txBox="1"/>
          <p:nvPr/>
        </p:nvSpPr>
        <p:spPr>
          <a:xfrm>
            <a:off x="1421876" y="6154321"/>
            <a:ext cx="78016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p.165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1CA82B-3EA4-40E2-593C-1AA98D1E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9963BAD0-A99B-2F3F-14E1-F02F5A583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519" y="1825625"/>
            <a:ext cx="8428962" cy="4351338"/>
          </a:xfrm>
        </p:spPr>
      </p:pic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4 a 6: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no lineal</a:t>
            </a:r>
            <a:endParaRPr lang="es-ES_trad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DE4A7-6714-132C-9A6B-DE90B5172828}"/>
              </a:ext>
            </a:extLst>
          </p:cNvPr>
          <p:cNvSpPr txBox="1"/>
          <p:nvPr/>
        </p:nvSpPr>
        <p:spPr>
          <a:xfrm>
            <a:off x="1644316" y="6230521"/>
            <a:ext cx="72412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p.166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EFFBA-A811-07A3-1A19-0851782C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DC140E2B-D80A-C468-1A40-4235EAC60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348" y="1825625"/>
            <a:ext cx="8277304" cy="4351338"/>
          </a:xfrm>
        </p:spPr>
      </p:pic>
    </p:spTree>
    <p:extLst>
      <p:ext uri="{BB962C8B-B14F-4D97-AF65-F5344CB8AC3E}">
        <p14:creationId xmlns:p14="http://schemas.microsoft.com/office/powerpoint/2010/main" val="402846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D283-28F2-80E7-D2B9-02994D79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F6B9-2640-C88D-A138-DB4AA0E4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0087-F459-E4F3-8457-E6AED63032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Breve repaso de </a:t>
                </a:r>
                <a:r>
                  <a:rPr lang="es-ES_tradnl" dirty="0" err="1"/>
                  <a:t>logit</a:t>
                </a:r>
                <a:r>
                  <a:rPr lang="es-ES_tradnl" dirty="0"/>
                  <a:t> y KNN para predecir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Análisis Discriminante</a:t>
                </a:r>
                <a:r>
                  <a:rPr lang="es-ES_tradnl" dirty="0"/>
                  <a:t>: supuesto clave de </a:t>
                </a:r>
                <a:r>
                  <a:rPr lang="es-ES_tradnl" dirty="0">
                    <a:solidFill>
                      <a:srgbClr val="002060"/>
                    </a:solidFill>
                  </a:rPr>
                  <a:t>normalidad</a:t>
                </a:r>
                <a:r>
                  <a:rPr lang="es-ES_tradnl" dirty="0"/>
                  <a:t> de los predictores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Muchos predictores </a:t>
                </a:r>
                <a:r>
                  <a:rPr lang="es-ES_tradnl" dirty="0">
                    <a:solidFill>
                      <a:srgbClr val="FF0000"/>
                    </a:solidFill>
                  </a:rPr>
                  <a:t>numéricos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Muchas categorías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Lineal (LDA) -&gt; varianza igual por categorías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Cuadrático (QDA) -&gt; distintas varianzas por categorías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0087-F459-E4F3-8457-E6AED63032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E9681-BC7F-69C0-93C0-7F474B3A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9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Introducimos</a:t>
            </a:r>
            <a:r>
              <a:rPr lang="es-ES_tradnl" dirty="0"/>
              <a:t> </a:t>
            </a:r>
            <a:r>
              <a:rPr lang="es-ES_tradnl" i="1" dirty="0"/>
              <a:t>Naive</a:t>
            </a:r>
            <a:r>
              <a:rPr lang="es-ES_tradnl" dirty="0"/>
              <a:t> Bayes que relaja el supuesto de normalidad del análisis discriminante, pero hace un supuesto fuerte de </a:t>
            </a:r>
            <a:r>
              <a:rPr lang="es-ES_tradnl" dirty="0">
                <a:solidFill>
                  <a:srgbClr val="00B050"/>
                </a:solidFill>
              </a:rPr>
              <a:t>independencia </a:t>
            </a:r>
            <a:r>
              <a:rPr lang="es-ES_tradnl" dirty="0"/>
              <a:t>de los predictores</a:t>
            </a:r>
            <a:endParaRPr lang="es-ES_tradnl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métodos de clasificación para 6 escenarios distintos: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Lección principal: </a:t>
            </a:r>
            <a:r>
              <a:rPr lang="es-ES_tradnl" dirty="0">
                <a:solidFill>
                  <a:srgbClr val="FF0000"/>
                </a:solidFill>
              </a:rPr>
              <a:t>Ningún método domina siempre</a:t>
            </a:r>
            <a:r>
              <a:rPr lang="es-ES_tradnl" dirty="0"/>
              <a:t>. Depende del contexto.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Consultas: </a:t>
            </a:r>
            <a:r>
              <a:rPr lang="es-ES_tradnl" dirty="0">
                <a:hlinkClick r:id="rId2"/>
              </a:rPr>
              <a:t>mromero@udesa.edu.ar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8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9212</TotalTime>
  <Words>1890</Words>
  <Application>Microsoft Macintosh PowerPoint</Application>
  <PresentationFormat>Panorámica</PresentationFormat>
  <Paragraphs>298</Paragraphs>
  <Slides>43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1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Clasificación 2:  Análisis Discriminante &amp; Naive Bayes</vt:lpstr>
      <vt:lpstr>En la clase de hoy</vt:lpstr>
      <vt:lpstr>Repaso clase anterior</vt:lpstr>
      <vt:lpstr>En la clase de clasificación (C6)</vt:lpstr>
      <vt:lpstr>Métodos para predecir p=Pr⁡(Y=1|X)</vt:lpstr>
      <vt:lpstr>Herramientas para predecir la probabilidad condicional: p=Pr⁡(Y=1|X) </vt:lpstr>
      <vt:lpstr>Métodos para predecir p=Pr⁡(Y=1|X)</vt:lpstr>
      <vt:lpstr>Análisis discriminante</vt:lpstr>
      <vt:lpstr>Repaso de la Regla de Bayes</vt:lpstr>
      <vt:lpstr>Regla de Bayes en nuestro problema de Clasificación </vt:lpstr>
      <vt:lpstr>Análisis discriminante I</vt:lpstr>
      <vt:lpstr>Probabilidad X|Y bajo normalidad con un predictor</vt:lpstr>
      <vt:lpstr>¿Por qué Análisis Discriminante Lineal? </vt:lpstr>
      <vt:lpstr>Función de Discriminación Lineal</vt:lpstr>
      <vt:lpstr>Función de Discriminación Lineal (continua)</vt:lpstr>
      <vt:lpstr>Ilustración de LDA y Clasificador de bayes</vt:lpstr>
      <vt:lpstr>Ilustración de LDA y Clasificador de bayes</vt:lpstr>
      <vt:lpstr>Aclaraciones de logit vs LDA</vt:lpstr>
      <vt:lpstr>¿Podemos generalizar el Análisis Discriminante Lineal? </vt:lpstr>
      <vt:lpstr>Probabilidad X|Y bajo normalidad Caso general</vt:lpstr>
      <vt:lpstr>Probabilidad X|Y bajo normalidad (continua) Caso general</vt:lpstr>
      <vt:lpstr>Ilustración de la función de densidad normal multivariada</vt:lpstr>
      <vt:lpstr>Análisis Discriminante con múltiples categorías</vt:lpstr>
      <vt:lpstr>Decisiones Y={1, . . . , K} con K categorías </vt:lpstr>
      <vt:lpstr>Análisis Discriminante para K categorías</vt:lpstr>
      <vt:lpstr>Análisis Discriminante para K categorías</vt:lpstr>
      <vt:lpstr>Ilustración del LDA con múltiples categorías </vt:lpstr>
      <vt:lpstr>Análisis Discriminante Cuadrático </vt:lpstr>
      <vt:lpstr>Análisis Discriminante Cuadrático </vt:lpstr>
      <vt:lpstr>Métodos para predecir p=Pr⁡(Y=1|X)</vt:lpstr>
      <vt:lpstr>Naive Bayes: relajando el supuesto de normalidad de X|Y </vt:lpstr>
      <vt:lpstr>Idea de Naive Bayes</vt:lpstr>
      <vt:lpstr>Supuesto clave de Naive Bayes</vt:lpstr>
      <vt:lpstr>Intuición de Naive Bayes </vt:lpstr>
      <vt:lpstr>Trade off sesgo-varianza</vt:lpstr>
      <vt:lpstr>Consideraciones de estimación </vt:lpstr>
      <vt:lpstr>Comparación empírica de los clasificadores</vt:lpstr>
      <vt:lpstr>Comparación Escenarios 1 a 3: límite de Bayes lineal</vt:lpstr>
      <vt:lpstr>Comparación Escenarios 4 a 6: límite de Bayes no lineal</vt:lpstr>
      <vt:lpstr>Conclusiones finales</vt:lpstr>
      <vt:lpstr>¿Qué aprendimos hoy?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279</cp:revision>
  <dcterms:created xsi:type="dcterms:W3CDTF">2023-06-12T20:51:31Z</dcterms:created>
  <dcterms:modified xsi:type="dcterms:W3CDTF">2026-05-19T19:39:11Z</dcterms:modified>
</cp:coreProperties>
</file>