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489" r:id="rId2"/>
    <p:sldId id="259" r:id="rId3"/>
    <p:sldId id="318" r:id="rId4"/>
    <p:sldId id="415" r:id="rId5"/>
    <p:sldId id="323" r:id="rId6"/>
    <p:sldId id="423" r:id="rId7"/>
    <p:sldId id="313" r:id="rId8"/>
    <p:sldId id="261" r:id="rId9"/>
    <p:sldId id="336" r:id="rId10"/>
    <p:sldId id="306" r:id="rId11"/>
    <p:sldId id="324" r:id="rId12"/>
    <p:sldId id="421" r:id="rId13"/>
    <p:sldId id="422" r:id="rId14"/>
    <p:sldId id="302" r:id="rId15"/>
    <p:sldId id="308" r:id="rId16"/>
    <p:sldId id="300" r:id="rId17"/>
    <p:sldId id="309" r:id="rId18"/>
    <p:sldId id="420" r:id="rId19"/>
    <p:sldId id="424" r:id="rId20"/>
    <p:sldId id="311" r:id="rId21"/>
    <p:sldId id="312" r:id="rId22"/>
    <p:sldId id="337" r:id="rId23"/>
    <p:sldId id="314" r:id="rId24"/>
    <p:sldId id="40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89"/>
            <p14:sldId id="259"/>
          </p14:sldIdLst>
        </p14:section>
        <p14:section name="Breve repaso" id="{50EC8BAA-C75B-FB42-B5CB-C9EF52B744A2}">
          <p14:sldIdLst>
            <p14:sldId id="318"/>
            <p14:sldId id="415"/>
            <p14:sldId id="323"/>
            <p14:sldId id="423"/>
          </p14:sldIdLst>
        </p14:section>
        <p14:section name="Comparacion empírica de los clasificadoeres" id="{5623DDE8-0602-0D4F-AFA1-3B05F3F0BCCE}">
          <p14:sldIdLst>
            <p14:sldId id="313"/>
            <p14:sldId id="261"/>
            <p14:sldId id="336"/>
          </p14:sldIdLst>
        </p14:section>
        <p14:section name="Analisis ROC" id="{F06AC147-1820-E64A-873C-8C467231AE8F}">
          <p14:sldIdLst>
            <p14:sldId id="306"/>
            <p14:sldId id="324"/>
            <p14:sldId id="421"/>
            <p14:sldId id="422"/>
            <p14:sldId id="302"/>
            <p14:sldId id="308"/>
            <p14:sldId id="300"/>
            <p14:sldId id="309"/>
            <p14:sldId id="420"/>
            <p14:sldId id="424"/>
            <p14:sldId id="311"/>
            <p14:sldId id="312"/>
          </p14:sldIdLst>
        </p14:section>
        <p14:section name="Conclusiones finales" id="{30AE4762-25DE-C74D-AF95-4AEC0CC37FB0}">
          <p14:sldIdLst>
            <p14:sldId id="337"/>
            <p14:sldId id="314"/>
            <p14:sldId id="4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FC70CB-8BD2-9549-90F5-A941E2653610}" v="1" dt="2026-05-15T20:03:37.9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5337"/>
    <p:restoredTop sz="86801"/>
  </p:normalViewPr>
  <p:slideViewPr>
    <p:cSldViewPr snapToGrid="0">
      <p:cViewPr varScale="1">
        <p:scale>
          <a:sx n="48" d="100"/>
          <a:sy n="48" d="100"/>
        </p:scale>
        <p:origin x="192" y="1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ía Noelia Romero" userId="2133f5768dfc5791" providerId="LiveId" clId="{0168CA65-A813-5033-94B8-EF4605FC29D1}"/>
    <pc:docChg chg="undo custSel addSld delSld modSld delSection modSection">
      <pc:chgData name="María Noelia Romero" userId="2133f5768dfc5791" providerId="LiveId" clId="{0168CA65-A813-5033-94B8-EF4605FC29D1}" dt="2026-05-15T20:04:05.898" v="151" actId="20577"/>
      <pc:docMkLst>
        <pc:docMk/>
      </pc:docMkLst>
      <pc:sldChg chg="modSp del mod">
        <pc:chgData name="María Noelia Romero" userId="2133f5768dfc5791" providerId="LiveId" clId="{0168CA65-A813-5033-94B8-EF4605FC29D1}" dt="2026-05-15T20:03:42.896" v="80" actId="2696"/>
        <pc:sldMkLst>
          <pc:docMk/>
          <pc:sldMk cId="1640782994" sldId="256"/>
        </pc:sldMkLst>
      </pc:sldChg>
      <pc:sldChg chg="modSp add mod">
        <pc:chgData name="María Noelia Romero" userId="2133f5768dfc5791" providerId="LiveId" clId="{0168CA65-A813-5033-94B8-EF4605FC29D1}" dt="2026-05-15T20:04:05.898" v="151" actId="20577"/>
        <pc:sldMkLst>
          <pc:docMk/>
          <pc:sldMk cId="439331348" sldId="489"/>
        </pc:sldMkLst>
        <pc:spChg chg="mod">
          <ac:chgData name="María Noelia Romero" userId="2133f5768dfc5791" providerId="LiveId" clId="{0168CA65-A813-5033-94B8-EF4605FC29D1}" dt="2026-05-15T20:04:02.043" v="140" actId="20577"/>
          <ac:spMkLst>
            <pc:docMk/>
            <pc:sldMk cId="439331348" sldId="489"/>
            <ac:spMk id="2" creationId="{6A52C8F4-54CC-EED9-C31F-8F80FFB62EED}"/>
          </ac:spMkLst>
        </pc:spChg>
        <pc:spChg chg="mod">
          <ac:chgData name="María Noelia Romero" userId="2133f5768dfc5791" providerId="LiveId" clId="{0168CA65-A813-5033-94B8-EF4605FC29D1}" dt="2026-05-15T20:04:05.898" v="151" actId="20577"/>
          <ac:spMkLst>
            <pc:docMk/>
            <pc:sldMk cId="439331348" sldId="489"/>
            <ac:spMk id="3" creationId="{C1F55BDD-1493-5FB8-8EDB-106F9B36291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1F0E9E-E2C0-D34F-82FA-972FF82665AB}" type="datetimeFigureOut">
              <a:rPr lang="es-ES_tradnl" smtClean="0"/>
              <a:t>15/5/26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ED07FA-7792-F649-B523-FCAF9068A01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36115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39364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51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09449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50313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785A0-777B-68EF-2F9B-04F8D6EC7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F9267A-7BE5-1D22-4181-9F457142A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ED5FFF-35FD-420C-86E6-4246C261D9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DE161-BAF2-F20D-48E5-C7C717DD7B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268471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072370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11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1689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E96BF-C587-B9A8-E410-E9AAA9574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C4C3F-5F4E-23D6-CAA5-B0D7EA1BEC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C0B8B-B175-AD18-20C8-1AD2540DE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D425D-7A35-B6C3-6B99-A21AC6D56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12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448654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AC975-F2EF-03C7-EA3B-277F3D7A3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4BA471-39E5-B5EF-73B8-D7B2FB703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4AB477-B585-909D-1D84-47BF8B5BE1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0CD81-AA6A-6466-4B6D-965B9A06B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13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235000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16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247507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22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E498-3FB0-C546-A8D8-83B867628B9A}" type="datetime1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EE57-149E-FF44-87AD-A4C3C613BF77}" type="datetime1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D92F-06F8-124B-9A60-E47FA6E55CF4}" type="datetime1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764DD-3E48-344E-9283-AE2DE9B4EE28}" type="datetime1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47AA-28A6-674B-948B-C23B9576E76D}" type="datetime1">
              <a:rPr lang="en-US" smtClean="0"/>
              <a:t>5/15/26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C2B90-D920-E346-B483-15262ACCA1F6}" type="datetime1">
              <a:rPr lang="en-US" smtClean="0"/>
              <a:t>5/15/26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139DA-CC6E-3842-BF4C-F941BB707FC4}" type="datetime1">
              <a:rPr lang="en-US" smtClean="0"/>
              <a:t>5/15/26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40CA8-0C4E-794A-9637-962E37459276}" type="datetime1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C7E6-FF97-234A-A48B-F0D2FD417EE3}" type="datetime1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D92C-7223-F24C-83E8-C1D489493B99}" type="datetime1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A1C07-267E-9B43-A2F0-06B070309387}" type="datetime1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CE67A987-9AD1-F141-BCB3-0710A3731A4D}" type="datetime1">
              <a:rPr lang="en-US" noProof="0" smtClean="0"/>
              <a:t>5/15/26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9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41.png"/><Relationship Id="rId10" Type="http://schemas.openxmlformats.org/officeDocument/2006/relationships/image" Target="../media/image47.png"/><Relationship Id="rId4" Type="http://schemas.openxmlformats.org/officeDocument/2006/relationships/image" Target="../media/image10.png"/><Relationship Id="rId9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4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mailto:mromero@udesa.edu.ar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Clasificación:</a:t>
            </a:r>
            <a:b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Comparación de Modelos y Curva ROC</a:t>
            </a:r>
            <a:endParaRPr lang="en-US" sz="1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7 – parte 2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31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 la clase de hoy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s-ES_tradnl" dirty="0">
                <a:solidFill>
                  <a:srgbClr val="002060"/>
                </a:solidFill>
              </a:rPr>
              <a:t>Breve repaso: </a:t>
            </a:r>
            <a:r>
              <a:rPr lang="es-ES_tradnl" dirty="0"/>
              <a:t>Problema Clasificación, </a:t>
            </a:r>
            <a:r>
              <a:rPr lang="es-ES_tradnl" dirty="0" err="1"/>
              <a:t>logit</a:t>
            </a:r>
            <a:r>
              <a:rPr lang="es-ES_tradnl" dirty="0"/>
              <a:t>, vecinos cercanos, LDA, QDA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s-ES_tradnl" dirty="0">
                <a:solidFill>
                  <a:srgbClr val="002060"/>
                </a:solidFill>
              </a:rPr>
              <a:t>Comparación</a:t>
            </a:r>
            <a:r>
              <a:rPr lang="es-ES_tradnl" dirty="0"/>
              <a:t> empírica: </a:t>
            </a:r>
            <a:r>
              <a:rPr lang="es-ES_tradnl" dirty="0" err="1"/>
              <a:t>logit</a:t>
            </a:r>
            <a:r>
              <a:rPr lang="es-ES_tradnl" dirty="0"/>
              <a:t>, KNN, LDA, QDA, Naive Bayes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s-ES_tradnl" dirty="0"/>
              <a:t>Análisis </a:t>
            </a:r>
            <a:r>
              <a:rPr lang="es-ES_tradnl" dirty="0">
                <a:solidFill>
                  <a:srgbClr val="002060"/>
                </a:solidFill>
              </a:rPr>
              <a:t>ROC</a:t>
            </a:r>
            <a:r>
              <a:rPr lang="es-ES_tradnl" dirty="0"/>
              <a:t> y Métricas de performance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1C532-C10F-67BB-5BF3-95B0B7A40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880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Repaso clase anterior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Problema de Clasificar, Clasificador de Bayes, Logit, Vecinos Cercanos, Análisis discriminante y Naive Bayes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02066-55CA-7F79-B6CB-6ACCA905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201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B48E2-C26F-7BCA-5813-80A6FCC1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 la clase anterior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EE58D5-11C6-A71E-0DA7-ED750D5D8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Problema de clasificación (</a:t>
                </a:r>
                <a:r>
                  <a:rPr lang="es-ES_tradnl" i="1" dirty="0"/>
                  <a:t>¿</a:t>
                </a:r>
                <a:r>
                  <a:rPr lang="es-ES_tradnl" dirty="0"/>
                  <a:t>ejemplos?)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¿Cómo definimos un </a:t>
                </a:r>
                <a:r>
                  <a:rPr lang="es-ES_tradnl" dirty="0">
                    <a:solidFill>
                      <a:srgbClr val="002060"/>
                    </a:solidFill>
                  </a:rPr>
                  <a:t>umbral</a:t>
                </a:r>
                <a:r>
                  <a:rPr lang="es-ES_tradnl" dirty="0"/>
                  <a:t> de probabilidad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dirty="0"/>
                  <a:t> para clasificar</a:t>
                </a:r>
                <a:r>
                  <a:rPr lang="es-ES_tradnl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d>
                      <m:dPr>
                        <m:begChr m:val="{"/>
                        <m:endChr m:val="}"/>
                        <m:ctrlP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s-ES_tradnl" dirty="0"/>
                  <a:t>?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Clasificador de Bayes: </a:t>
                </a:r>
                <a:r>
                  <a:rPr lang="es-ES_tradnl" dirty="0"/>
                  <a:t>¿Intuitivamente? ¿Formalmente?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¿Cómo predecimos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dirty="0"/>
                  <a:t>?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Regresión Logística:</a:t>
                </a:r>
                <a:r>
                  <a:rPr lang="es-ES_tradnl" dirty="0"/>
                  <a:t> método (MLE), propiedades y aplicación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Vecinos Cercanos:</a:t>
                </a:r>
                <a:r>
                  <a:rPr lang="es-ES_tradnl" dirty="0"/>
                  <a:t> trade-off sesgo varianza (K o distancia) y aplicación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EE58D5-11C6-A71E-0DA7-ED750D5D8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FFC81-47F1-1683-4650-71AB2AED6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477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0BA3AFF-4C30-75B1-EA54-63BC0F68B39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1. Herramientas para predecir la probabilidad condicional: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endParaRPr lang="es-ES_tradnl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0BA3AFF-4C30-75B1-EA54-63BC0F68B3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 t="-14286" b="-219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EFDADF-17BD-8373-7746-DEAB13173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>
                <a:solidFill>
                  <a:srgbClr val="002060"/>
                </a:solidFill>
              </a:rPr>
              <a:t>Regresión logística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0731D4-40C5-CA09-E658-E3DC93F841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p>
                          </m:sSup>
                        </m:den>
                      </m:f>
                      <m:r>
                        <m:rPr>
                          <m:lit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s-ES_tradnl" dirty="0"/>
                  <a:t> por máxima verosimilitud</a:t>
                </a:r>
              </a:p>
              <a:p>
                <a:r>
                  <a:rPr lang="es-ES_tradnl" dirty="0"/>
                  <a:t>Predicción para cada observación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sup>
                          </m:sSup>
                        </m:den>
                      </m:f>
                      <m:r>
                        <m:rPr>
                          <m:lit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Clasificación (</a:t>
                </a:r>
                <a:r>
                  <a:rPr lang="es-ES_tradnl" dirty="0">
                    <a:solidFill>
                      <a:srgbClr val="002060"/>
                    </a:solidFill>
                  </a:rPr>
                  <a:t>Bayes</a:t>
                </a:r>
                <a:r>
                  <a:rPr lang="es-ES_tradnl" dirty="0"/>
                  <a:t>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&gt;0.5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b="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60000"/>
                  </a:lnSpc>
                </a:pPr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  <a:p>
                <a:pPr marL="0" indent="0">
                  <a:lnSpc>
                    <a:spcPct val="160000"/>
                  </a:lnSpc>
                  <a:buNone/>
                </a:pPr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  <a:p>
                <a:pPr marL="971550" lvl="1" indent="-514350">
                  <a:lnSpc>
                    <a:spcPct val="160000"/>
                  </a:lnSpc>
                  <a:buFont typeface="+mj-lt"/>
                  <a:buAutoNum type="arabicPeriod"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0731D4-40C5-CA09-E658-E3DC93F841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4"/>
                <a:stretch>
                  <a:fillRect l="-1966" t="-103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CC5851-20E6-C587-A5EF-F7C91BE518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_tradnl" dirty="0">
                <a:solidFill>
                  <a:srgbClr val="002060"/>
                </a:solidFill>
              </a:rPr>
              <a:t>Vecino Cercanos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BACDA9E-B485-0092-6E75-36573A90CDA6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Predecir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dado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_tradnl" dirty="0"/>
                  <a:t> distancia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.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K vecinos cercanos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Computar: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Predecir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s-ES_tradnl" dirty="0"/>
                  <a:t> con el </a:t>
                </a:r>
                <a:r>
                  <a:rPr lang="es-ES_tradnl" dirty="0">
                    <a:solidFill>
                      <a:srgbClr val="002060"/>
                    </a:solidFill>
                  </a:rPr>
                  <a:t>voto por mayoría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BACDA9E-B485-0092-6E75-36573A90CD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5"/>
                <a:stretch>
                  <a:fillRect l="-1956" t="-1031" r="-195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1278E-9575-60C9-483E-D3E506BC6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354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557E3-F80C-5CA5-2E18-BF9779995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B58E897-3377-905B-2EA1-3B45590C6C6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2. Herramientas para predecir la probabilidad condicional: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endParaRPr lang="es-ES_tradnl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B58E897-3377-905B-2EA1-3B45590C6C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 t="-14286" b="-219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94D4D6-D613-9B20-47A6-4DAA24910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>
                <a:solidFill>
                  <a:srgbClr val="002060"/>
                </a:solidFill>
              </a:rPr>
              <a:t>LDA y QDA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539D8D-C607-C437-3625-F4B4480624F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s-ES_tradnl" dirty="0"/>
                  <a:t>Usando la regla de Bayes: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ES_tradn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𝜅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Usar la muestra para estimar los parámetros necesarios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s-ES_tradnl" dirty="0"/>
                  <a:t> </a:t>
                </a:r>
              </a:p>
              <a:p>
                <a:r>
                  <a:rPr lang="es-ES_tradnl" dirty="0"/>
                  <a:t>Reemplazar formula y computar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s-ES_tradnl" dirty="0"/>
              </a:p>
              <a:p>
                <a:r>
                  <a:rPr lang="es-ES_tradnl" dirty="0"/>
                  <a:t>Clasificación (</a:t>
                </a:r>
                <a:r>
                  <a:rPr lang="es-ES_tradnl" dirty="0">
                    <a:solidFill>
                      <a:srgbClr val="002060"/>
                    </a:solidFill>
                  </a:rPr>
                  <a:t>Bayes</a:t>
                </a:r>
                <a:r>
                  <a:rPr lang="es-ES_tradnl" dirty="0"/>
                  <a:t>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&gt;0.5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r>
                  <a:rPr lang="es-ES_tradnl" dirty="0">
                    <a:solidFill>
                      <a:schemeClr val="accent1"/>
                    </a:solidFill>
                  </a:rPr>
                  <a:t>Diferencia clave:</a:t>
                </a:r>
                <a:r>
                  <a:rPr lang="es-ES_tradnl" dirty="0">
                    <a:solidFill>
                      <a:schemeClr val="bg1"/>
                    </a:solidFill>
                  </a:rPr>
                  <a:t>: </a:t>
                </a:r>
                <a:r>
                  <a:rPr lang="es-ES_tradnl" dirty="0"/>
                  <a:t>Supuesto de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s-ES_tradnl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s-ES_tradnl" dirty="0">
                    <a:solidFill>
                      <a:schemeClr val="accent1"/>
                    </a:solidFill>
                  </a:rPr>
                  <a:t>Supuesto clave:</a:t>
                </a:r>
                <a:r>
                  <a:rPr lang="es-ES_tradnl" dirty="0"/>
                  <a:t> Normalidad de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s-ES_tradnl" dirty="0">
                  <a:solidFill>
                    <a:schemeClr val="accent1"/>
                  </a:solidFill>
                </a:endParaRPr>
              </a:p>
              <a:p>
                <a:pPr>
                  <a:lnSpc>
                    <a:spcPct val="160000"/>
                  </a:lnSpc>
                </a:pPr>
                <a:endParaRPr lang="es-ES_tradnl" b="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60000"/>
                  </a:lnSpc>
                </a:pPr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  <a:p>
                <a:pPr marL="0" indent="0">
                  <a:lnSpc>
                    <a:spcPct val="160000"/>
                  </a:lnSpc>
                  <a:buNone/>
                </a:pPr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  <a:p>
                <a:pPr marL="971550" lvl="1" indent="-514350">
                  <a:lnSpc>
                    <a:spcPct val="160000"/>
                  </a:lnSpc>
                  <a:buFont typeface="+mj-lt"/>
                  <a:buAutoNum type="arabicPeriod"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539D8D-C607-C437-3625-F4B4480624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4"/>
                <a:stretch>
                  <a:fillRect l="-1474" t="-309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F9091E-E0C0-1140-C550-E8821B901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_tradnl" dirty="0">
                <a:solidFill>
                  <a:srgbClr val="002060"/>
                </a:solidFill>
              </a:rPr>
              <a:t>Naive Bayes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8311AD7-7BE1-C2C5-5692-1C0964DD0BC8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s-ES_tradnl" dirty="0"/>
                  <a:t>Usando la regla de Bayes: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ES_tradn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𝜅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:r>
                  <a:rPr lang="en-US" dirty="0" err="1">
                    <a:ea typeface="Cambria Math" panose="02040503050406030204" pitchFamily="18" charset="0"/>
                  </a:rPr>
                  <a:t>Estimar</a:t>
                </a:r>
                <a:r>
                  <a:rPr lang="en-US" dirty="0">
                    <a:ea typeface="Cambria Math" panose="02040503050406030204" pitchFamily="18" charset="0"/>
                  </a:rPr>
                  <a:t> las </a:t>
                </a:r>
                <a:r>
                  <a:rPr lang="es-ES_tradnl" dirty="0"/>
                  <a:t>distribuciones </a:t>
                </a:r>
                <a:r>
                  <a:rPr lang="es-ES_tradnl" dirty="0">
                    <a:solidFill>
                      <a:srgbClr val="002060"/>
                    </a:solidFill>
                  </a:rPr>
                  <a:t>marginales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de cada predictor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con histogramas o </a:t>
                </a:r>
                <a:r>
                  <a:rPr lang="es-ES_tradnl" dirty="0" err="1"/>
                  <a:t>kernels</a:t>
                </a:r>
                <a:endParaRPr lang="es-ES_tradnl" dirty="0"/>
              </a:p>
              <a:p>
                <a:r>
                  <a:rPr lang="es-ES_tradnl" dirty="0"/>
                  <a:t>Reemplazar formula y computar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s-ES_tradnl" dirty="0"/>
              </a:p>
              <a:p>
                <a:r>
                  <a:rPr lang="es-ES_tradnl" dirty="0"/>
                  <a:t>Clasificación (</a:t>
                </a:r>
                <a:r>
                  <a:rPr lang="es-ES_tradnl" dirty="0">
                    <a:solidFill>
                      <a:srgbClr val="002060"/>
                    </a:solidFill>
                  </a:rPr>
                  <a:t>Bayes</a:t>
                </a:r>
                <a:r>
                  <a:rPr lang="es-ES_tradnl" dirty="0"/>
                  <a:t>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&gt;0.5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r>
                  <a:rPr lang="es-ES_tradnl" dirty="0">
                    <a:solidFill>
                      <a:schemeClr val="accent1"/>
                    </a:solidFill>
                  </a:rPr>
                  <a:t>Supuesto clave:</a:t>
                </a:r>
                <a:r>
                  <a:rPr lang="es-ES_tradnl" dirty="0"/>
                  <a:t> Independencia de los predictores</a:t>
                </a:r>
              </a:p>
              <a:p>
                <a:pPr marL="0" indent="0"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8311AD7-7BE1-C2C5-5692-1C0964DD0B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5"/>
                <a:stretch>
                  <a:fillRect l="-1467" t="-309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EFC405-1DF4-832A-2AD6-A081073A3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190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Comparación empírica de los clasificadores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¿Cuál método es mejor?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</a:t>
            </a:r>
            <a:r>
              <a:rPr lang="en-US" dirty="0"/>
              <a:t> </a:t>
            </a:r>
            <a:r>
              <a:rPr lang="en-US" b="1" dirty="0"/>
              <a:t>4.5.2</a:t>
            </a:r>
            <a:endParaRPr lang="en-US" b="1" i="1" dirty="0"/>
          </a:p>
          <a:p>
            <a:endParaRPr lang="es-ES_tradnl" dirty="0"/>
          </a:p>
          <a:p>
            <a:endParaRPr lang="es-ES_trad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7E429F-0EF3-0F6D-291B-C4403C792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349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Comparación Escenarios 1 a 3: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límite de Bayes lineal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FC4A5B-2BF2-2C26-3AF5-0B023D20993E}"/>
              </a:ext>
            </a:extLst>
          </p:cNvPr>
          <p:cNvSpPr txBox="1"/>
          <p:nvPr/>
        </p:nvSpPr>
        <p:spPr>
          <a:xfrm>
            <a:off x="1421876" y="6154321"/>
            <a:ext cx="78016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G., Witten, D., Hastie, T., Tibshirani, R., &amp; Taylor, J. (2023). p.165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1CA82B-3EA4-40E2-593C-1AA98D1EE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</a:t>
            </a:fld>
            <a:endParaRPr lang="en-US"/>
          </a:p>
        </p:txBody>
      </p:sp>
      <p:pic>
        <p:nvPicPr>
          <p:cNvPr id="9" name="Content Placeholder 8" descr="A group of boxes with different colored squares&#10;&#10;Description automatically generated">
            <a:extLst>
              <a:ext uri="{FF2B5EF4-FFF2-40B4-BE49-F238E27FC236}">
                <a16:creationId xmlns:a16="http://schemas.microsoft.com/office/drawing/2014/main" id="{9963BAD0-A99B-2F3F-14E1-F02F5A5834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1519" y="1825625"/>
            <a:ext cx="8428962" cy="4351338"/>
          </a:xfrm>
        </p:spPr>
      </p:pic>
    </p:spTree>
    <p:extLst>
      <p:ext uri="{BB962C8B-B14F-4D97-AF65-F5344CB8AC3E}">
        <p14:creationId xmlns:p14="http://schemas.microsoft.com/office/powerpoint/2010/main" val="1816621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Comparación Escenarios 4 a 6: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límite de Bayes no lineal</a:t>
            </a:r>
            <a:endParaRPr lang="es-ES_trad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CDE4A7-6714-132C-9A6B-DE90B5172828}"/>
              </a:ext>
            </a:extLst>
          </p:cNvPr>
          <p:cNvSpPr txBox="1"/>
          <p:nvPr/>
        </p:nvSpPr>
        <p:spPr>
          <a:xfrm>
            <a:off x="1644316" y="6230521"/>
            <a:ext cx="72412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G., Witten, D., Hastie, T., Tibshirani, R., &amp; Taylor, J. (2023). p.166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BEFFBA-A811-07A3-1A19-0851782C5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</a:t>
            </a:fld>
            <a:endParaRPr lang="en-US"/>
          </a:p>
        </p:txBody>
      </p:sp>
      <p:pic>
        <p:nvPicPr>
          <p:cNvPr id="9" name="Content Placeholder 8" descr="A group of boxes with different colored squares&#10;&#10;Description automatically generated">
            <a:extLst>
              <a:ext uri="{FF2B5EF4-FFF2-40B4-BE49-F238E27FC236}">
                <a16:creationId xmlns:a16="http://schemas.microsoft.com/office/drawing/2014/main" id="{DC140E2B-D80A-C468-1A40-4235EAC608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7348" y="1825625"/>
            <a:ext cx="8277304" cy="4351338"/>
          </a:xfrm>
        </p:spPr>
      </p:pic>
    </p:spTree>
    <p:extLst>
      <p:ext uri="{BB962C8B-B14F-4D97-AF65-F5344CB8AC3E}">
        <p14:creationId xmlns:p14="http://schemas.microsoft.com/office/powerpoint/2010/main" val="4273729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C4D0-34F1-0A94-834E-05390C48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Análisis ROC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66EBF-6119-C495-2250-DFAA6225C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</a:t>
            </a:r>
            <a:r>
              <a:rPr lang="en-US" dirty="0"/>
              <a:t> </a:t>
            </a:r>
            <a:r>
              <a:rPr lang="en-US" b="1" dirty="0"/>
              <a:t>4.4</a:t>
            </a:r>
            <a:endParaRPr lang="en-US" b="1" i="1" dirty="0"/>
          </a:p>
          <a:p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EB7E0-0C95-55A1-4B97-C5CF64BEC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760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A3AFF-4C30-75B1-EA54-63BC0F68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Intuiciones I: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Motivación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0731D4-40C5-CA09-E658-E3DC93F841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s-ES_tradnl" dirty="0"/>
                  <a:t>Relajar la simetría del Clasificador de Bayes</a:t>
                </a:r>
              </a:p>
              <a:p>
                <a:pPr lvl="1">
                  <a:lnSpc>
                    <a:spcPct val="200000"/>
                  </a:lnSpc>
                </a:pPr>
                <a:r>
                  <a:rPr lang="es-ES_tradnl" dirty="0"/>
                  <a:t>Variar el umbral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s-ES_tradnl" dirty="0"/>
                  <a:t>, para hacer la predicción de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s-ES_tradnl" dirty="0"/>
                  <a:t> si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s-ES_tradnl" dirty="0"/>
                  <a:t> (asimetría)</a:t>
                </a:r>
              </a:p>
              <a:p>
                <a:pPr lvl="1">
                  <a:lnSpc>
                    <a:spcPct val="200000"/>
                  </a:lnSpc>
                </a:pPr>
                <a:r>
                  <a:rPr lang="es-ES_tradnl" dirty="0"/>
                  <a:t>Mas o menos predicciones positivas -&gt; altera errores de </a:t>
                </a:r>
                <a:r>
                  <a:rPr lang="es-ES_tradnl" dirty="0" err="1"/>
                  <a:t>fp</a:t>
                </a:r>
                <a:r>
                  <a:rPr lang="es-ES_tradnl" dirty="0"/>
                  <a:t> y </a:t>
                </a:r>
                <a:r>
                  <a:rPr lang="es-ES_tradnl" dirty="0" err="1"/>
                  <a:t>fn</a:t>
                </a:r>
                <a:endParaRPr lang="es-ES_tradnl" dirty="0"/>
              </a:p>
              <a:p>
                <a:pPr lvl="1">
                  <a:lnSpc>
                    <a:spcPct val="200000"/>
                  </a:lnSpc>
                </a:pPr>
                <a:r>
                  <a:rPr lang="es-ES_tradnl" dirty="0" err="1">
                    <a:solidFill>
                      <a:srgbClr val="FF0000"/>
                    </a:solidFill>
                  </a:rPr>
                  <a:t>Trade</a:t>
                </a:r>
                <a:r>
                  <a:rPr lang="es-ES_tradnl" dirty="0">
                    <a:solidFill>
                      <a:srgbClr val="FF0000"/>
                    </a:solidFill>
                  </a:rPr>
                  <a:t>-off: </a:t>
                </a:r>
                <a:r>
                  <a:rPr lang="es-ES_tradnl" dirty="0"/>
                  <a:t>reducir un error, aumenta el otro </a:t>
                </a:r>
              </a:p>
              <a:p>
                <a:pPr marL="971550" lvl="1" indent="-514350">
                  <a:lnSpc>
                    <a:spcPct val="200000"/>
                  </a:lnSpc>
                  <a:buFont typeface="+mj-lt"/>
                  <a:buAutoNum type="arabicPeriod"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0731D4-40C5-CA09-E658-E3DC93F841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r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AC449-1B37-7AA1-D6A2-5EC25F521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038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14BE6-17DC-3E73-671A-9A939DE3D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78A4A-8EE2-F035-3B2D-77CB97607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Intuiciones II: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Ejemplo de Default con LDA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AB9A6073-ACC5-8D67-50F9-D789BF22EAF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s-ES_tradnl" dirty="0"/>
                  <a:t>Con Clasificador de Bayes: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&gt;0.5</m:t>
                    </m:r>
                  </m:oMath>
                </a14:m>
                <a:r>
                  <a:rPr lang="es-ES_tradnl" dirty="0"/>
                  <a:t> </a:t>
                </a:r>
              </a:p>
            </p:txBody>
          </p:sp>
        </mc:Choice>
        <mc:Fallback xmlns="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AB9A6073-ACC5-8D67-50F9-D789BF22EA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966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Content Placeholder 11" descr="A table with numbers and symbols&#10;&#10;Description automatically generated">
            <a:extLst>
              <a:ext uri="{FF2B5EF4-FFF2-40B4-BE49-F238E27FC236}">
                <a16:creationId xmlns:a16="http://schemas.microsoft.com/office/drawing/2014/main" id="{B35105BB-9939-3417-2A53-284F6A61EA4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961231" y="3528219"/>
            <a:ext cx="4914900" cy="16383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8">
                <a:extLst>
                  <a:ext uri="{FF2B5EF4-FFF2-40B4-BE49-F238E27FC236}">
                    <a16:creationId xmlns:a16="http://schemas.microsoft.com/office/drawing/2014/main" id="{48A0A7A0-1D8C-8C98-FAA5-C540D3B65D6C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r>
                  <a:rPr lang="es-ES_tradnl" dirty="0"/>
                  <a:t>Con otro criterio: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&gt;0.2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9" name="Text Placeholder 8">
                <a:extLst>
                  <a:ext uri="{FF2B5EF4-FFF2-40B4-BE49-F238E27FC236}">
                    <a16:creationId xmlns:a16="http://schemas.microsoft.com/office/drawing/2014/main" id="{48A0A7A0-1D8C-8C98-FAA5-C540D3B65D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"/>
              </p:nvPr>
            </p:nvSpPr>
            <p:spPr>
              <a:blipFill>
                <a:blip r:embed="rId5"/>
                <a:stretch>
                  <a:fillRect l="-1956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Content Placeholder 13" descr="A table with numbers and text&#10;&#10;Description automatically generated">
            <a:extLst>
              <a:ext uri="{FF2B5EF4-FFF2-40B4-BE49-F238E27FC236}">
                <a16:creationId xmlns:a16="http://schemas.microsoft.com/office/drawing/2014/main" id="{E9407452-EA84-8B24-45B9-E66834AF44D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6"/>
          <a:stretch>
            <a:fillRect/>
          </a:stretch>
        </p:blipFill>
        <p:spPr>
          <a:xfrm>
            <a:off x="6261894" y="3445669"/>
            <a:ext cx="5003800" cy="18034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1722E-2ACF-0E14-8AC7-9BA264B2B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DD8051B-89DB-AFBD-8A6B-51418CF334EF}"/>
                  </a:ext>
                </a:extLst>
              </p:cNvPr>
              <p:cNvSpPr txBox="1"/>
              <p:nvPr/>
            </p:nvSpPr>
            <p:spPr>
              <a:xfrm>
                <a:off x="575468" y="4347369"/>
                <a:ext cx="803564" cy="376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_tradnl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DD8051B-89DB-AFBD-8A6B-51418CF33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468" y="4347369"/>
                <a:ext cx="803564" cy="376770"/>
              </a:xfrm>
              <a:prstGeom prst="rect">
                <a:avLst/>
              </a:prstGeom>
              <a:blipFill>
                <a:blip r:embed="rId7"/>
                <a:stretch>
                  <a:fillRect t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C976D90-1215-51C4-DCC1-CB2FDDAD704D}"/>
                  </a:ext>
                </a:extLst>
              </p:cNvPr>
              <p:cNvSpPr txBox="1"/>
              <p:nvPr/>
            </p:nvSpPr>
            <p:spPr>
              <a:xfrm>
                <a:off x="5966076" y="4347369"/>
                <a:ext cx="803564" cy="376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_tradnl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C976D90-1215-51C4-DCC1-CB2FDDAD7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6076" y="4347369"/>
                <a:ext cx="803564" cy="376770"/>
              </a:xfrm>
              <a:prstGeom prst="rect">
                <a:avLst/>
              </a:prstGeom>
              <a:blipFill>
                <a:blip r:embed="rId8"/>
                <a:stretch>
                  <a:fillRect t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2F31DB5-7CBF-67ED-672C-365A8B604EB0}"/>
                  </a:ext>
                </a:extLst>
              </p:cNvPr>
              <p:cNvSpPr txBox="1"/>
              <p:nvPr/>
            </p:nvSpPr>
            <p:spPr>
              <a:xfrm>
                <a:off x="3844089" y="3264205"/>
                <a:ext cx="8722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sz="1800" b="0" i="1" noProof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2F31DB5-7CBF-67ED-672C-365A8B604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089" y="3264205"/>
                <a:ext cx="87229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E7079E6-D204-1C0E-1683-95706900C4FA}"/>
                  </a:ext>
                </a:extLst>
              </p:cNvPr>
              <p:cNvSpPr txBox="1"/>
              <p:nvPr/>
            </p:nvSpPr>
            <p:spPr>
              <a:xfrm>
                <a:off x="9179091" y="3158887"/>
                <a:ext cx="8722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sz="1800" b="0" i="1" noProof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E7079E6-D204-1C0E-1683-95706900C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9091" y="3158887"/>
                <a:ext cx="87229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E971A373-906F-7D44-EBC0-DFE04CF4B8EC}"/>
              </a:ext>
            </a:extLst>
          </p:cNvPr>
          <p:cNvGrpSpPr/>
          <p:nvPr/>
        </p:nvGrpSpPr>
        <p:grpSpPr>
          <a:xfrm>
            <a:off x="4280234" y="4535754"/>
            <a:ext cx="5882711" cy="207557"/>
            <a:chOff x="4280234" y="4535754"/>
            <a:chExt cx="5882711" cy="20755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211536C-789F-B7FE-463E-41FAC92BECAB}"/>
                </a:ext>
              </a:extLst>
            </p:cNvPr>
            <p:cNvSpPr/>
            <p:nvPr/>
          </p:nvSpPr>
          <p:spPr>
            <a:xfrm>
              <a:off x="4280234" y="4535754"/>
              <a:ext cx="554182" cy="20755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5368DCB-CFF2-D3A8-ADF2-609C1C4F76D5}"/>
                </a:ext>
              </a:extLst>
            </p:cNvPr>
            <p:cNvSpPr/>
            <p:nvPr/>
          </p:nvSpPr>
          <p:spPr>
            <a:xfrm>
              <a:off x="9608763" y="4535754"/>
              <a:ext cx="554182" cy="20755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12466FA-ED93-4FBE-8934-08263A0B1049}"/>
              </a:ext>
            </a:extLst>
          </p:cNvPr>
          <p:cNvGrpSpPr/>
          <p:nvPr/>
        </p:nvGrpSpPr>
        <p:grpSpPr>
          <a:xfrm>
            <a:off x="3578143" y="4535237"/>
            <a:ext cx="5882711" cy="207557"/>
            <a:chOff x="4280234" y="4535754"/>
            <a:chExt cx="5882711" cy="20755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D0EE345-22C9-3F96-5761-EE1107992A61}"/>
                </a:ext>
              </a:extLst>
            </p:cNvPr>
            <p:cNvSpPr/>
            <p:nvPr/>
          </p:nvSpPr>
          <p:spPr>
            <a:xfrm>
              <a:off x="4280234" y="4535754"/>
              <a:ext cx="554182" cy="20755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4D0663D-CB0C-4DA3-5B05-9E952A059484}"/>
                </a:ext>
              </a:extLst>
            </p:cNvPr>
            <p:cNvSpPr/>
            <p:nvPr/>
          </p:nvSpPr>
          <p:spPr>
            <a:xfrm>
              <a:off x="9608763" y="4535754"/>
              <a:ext cx="554182" cy="20755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592BBA7-FE64-CF42-DB46-AB037E15096B}"/>
              </a:ext>
            </a:extLst>
          </p:cNvPr>
          <p:cNvGrpSpPr/>
          <p:nvPr/>
        </p:nvGrpSpPr>
        <p:grpSpPr>
          <a:xfrm>
            <a:off x="4280234" y="4243590"/>
            <a:ext cx="5882711" cy="207557"/>
            <a:chOff x="4280234" y="4535754"/>
            <a:chExt cx="5882711" cy="207557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6A06916-CB22-1491-BFBE-54262E6A4D78}"/>
                </a:ext>
              </a:extLst>
            </p:cNvPr>
            <p:cNvSpPr/>
            <p:nvPr/>
          </p:nvSpPr>
          <p:spPr>
            <a:xfrm>
              <a:off x="4280234" y="4535754"/>
              <a:ext cx="554182" cy="20755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ED418CE-1FA9-5A9B-50E0-92F1A4DBD903}"/>
                </a:ext>
              </a:extLst>
            </p:cNvPr>
            <p:cNvSpPr/>
            <p:nvPr/>
          </p:nvSpPr>
          <p:spPr>
            <a:xfrm>
              <a:off x="9608763" y="4535754"/>
              <a:ext cx="554182" cy="20755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3265742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079D6-C978-91AD-A9D5-15BE7F23B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0BF8F-E358-E628-0A35-A82F00C3F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Intuiciones III: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Idea de Curva ROC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6EEEC-67AD-DAAF-3C98-A591A047C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Relajar la simetría del Clasificador de Bayes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FF0000"/>
                </a:solidFill>
              </a:rPr>
              <a:t>Trade-off: </a:t>
            </a:r>
            <a:r>
              <a:rPr lang="es-ES_tradnl" dirty="0"/>
              <a:t>reducir un error, aumenta el otro 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Curva ROC </a:t>
            </a:r>
            <a:r>
              <a:rPr lang="es-ES_tradnl" dirty="0">
                <a:solidFill>
                  <a:srgbClr val="00B050"/>
                </a:solidFill>
              </a:rPr>
              <a:t>ilustra</a:t>
            </a:r>
            <a:r>
              <a:rPr lang="es-ES_tradnl" dirty="0"/>
              <a:t> ese </a:t>
            </a:r>
            <a:r>
              <a:rPr lang="es-ES_tradnl" dirty="0" err="1"/>
              <a:t>trade</a:t>
            </a:r>
            <a:r>
              <a:rPr lang="es-ES_tradnl" dirty="0"/>
              <a:t>-off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Permite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s-ES_tradnl" dirty="0">
                <a:solidFill>
                  <a:srgbClr val="002060"/>
                </a:solidFill>
              </a:rPr>
              <a:t>Medir</a:t>
            </a:r>
            <a:r>
              <a:rPr lang="es-ES_tradnl" dirty="0"/>
              <a:t> la capacidad </a:t>
            </a:r>
            <a:r>
              <a:rPr lang="es-ES_tradnl" dirty="0">
                <a:solidFill>
                  <a:srgbClr val="002060"/>
                </a:solidFill>
              </a:rPr>
              <a:t>predictiva</a:t>
            </a:r>
            <a:r>
              <a:rPr lang="es-ES_tradnl" dirty="0"/>
              <a:t> de modelos de clasificación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s-ES_tradnl" dirty="0">
                <a:solidFill>
                  <a:srgbClr val="002060"/>
                </a:solidFill>
              </a:rPr>
              <a:t>Comparar</a:t>
            </a:r>
            <a:r>
              <a:rPr lang="es-ES_tradnl" dirty="0"/>
              <a:t> métodos de clasificación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8799E-31C4-242F-4BE9-60D966A90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57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53E0F-A88D-0129-851B-D24B787E0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Notación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6854A7-B097-BE14-A12D-B5A6693977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ES_tradnl" sz="3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s-ES_tradnl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sz="32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s-ES_tradnl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_tradnl" sz="3200" b="0" dirty="0"/>
                  <a:t> total de positivos</a:t>
                </a:r>
              </a:p>
              <a:p>
                <a14:m>
                  <m:oMath xmlns:m="http://schemas.openxmlformats.org/officeDocument/2006/math"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_tradnl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s-ES_tradnl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_tradnl" dirty="0"/>
                  <a:t> total de negativos</a:t>
                </a:r>
              </a:p>
              <a:p>
                <a14:m>
                  <m:oMath xmlns:m="http://schemas.openxmlformats.org/officeDocument/2006/math"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𝑡𝑜𝑡𝑎𝑙</m:t>
                    </m:r>
                  </m:oMath>
                </a14:m>
                <a:endParaRPr lang="es-ES_tradnl" sz="3200" b="0" dirty="0"/>
              </a:p>
              <a:p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𝑣𝑝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_tradnl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̂"/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s-ES_tradnl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_tradnl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s-ES_tradnl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s-ES_tradnl" dirty="0"/>
              </a:p>
              <a:p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𝑓𝑝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_tradnl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̂"/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s-ES_tradnl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_tradnl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s-ES_tradnl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s-ES_tradnl" dirty="0"/>
              </a:p>
              <a:p>
                <a:pPr marL="0" indent="0">
                  <a:buNone/>
                </a:pPr>
                <a:endParaRPr lang="es-ES_tradnl" sz="2400" dirty="0"/>
              </a:p>
              <a:p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𝑡𝑓𝑝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𝑓𝑝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s-ES_tradnl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𝑡𝑣𝑝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𝑣𝑝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6854A7-B097-BE14-A12D-B5A6693977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005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B5C96-C3B9-9940-6FAB-59179E350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183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Medidas de error de clasificación -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1325563"/>
              </a:xfrm>
            </p:spPr>
            <p:txBody>
              <a:bodyPr>
                <a:normAutofit/>
              </a:bodyPr>
              <a:lstStyle/>
              <a:p>
                <a:r>
                  <a:rPr lang="es-ES_tradnl" sz="2800" dirty="0"/>
                  <a:t>Tasa de falsos positivos: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𝑡𝑓𝑝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𝑓𝑝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𝐸𝑟𝑟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𝑠𝑝𝑒𝑐𝑖𝑓𝑖𝑐𝑖𝑡𝑦</m:t>
                    </m:r>
                  </m:oMath>
                </a14:m>
                <a:endParaRPr lang="es-ES_tradnl" sz="2800" dirty="0"/>
              </a:p>
              <a:p>
                <a:r>
                  <a:rPr lang="es-ES_tradnl" sz="2800" dirty="0"/>
                  <a:t>Tasa de verdaderos positivos: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𝑡𝑣𝑝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𝑣𝑝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𝐸𝑟𝑟𝐼𝐼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𝑠𝑒𝑛𝑠𝑖𝑡𝑖𝑣𝑖𝑡𝑦</m:t>
                    </m:r>
                  </m:oMath>
                </a14:m>
                <a:endParaRPr lang="es-ES_tradnl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1325563"/>
              </a:xfrm>
              <a:blipFill>
                <a:blip r:embed="rId2"/>
                <a:stretch>
                  <a:fillRect l="-1086" t="-52830" b="-5094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ED466492-FF8A-2A15-5CE0-A53A1A8D55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2608399"/>
                  </p:ext>
                </p:extLst>
              </p:nvPr>
            </p:nvGraphicFramePr>
            <p:xfrm>
              <a:off x="2063930" y="2977241"/>
              <a:ext cx="7488280" cy="345843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1115">
                      <a:extLst>
                        <a:ext uri="{9D8B030D-6E8A-4147-A177-3AD203B41FA5}">
                          <a16:colId xmlns:a16="http://schemas.microsoft.com/office/drawing/2014/main" val="4265273"/>
                        </a:ext>
                      </a:extLst>
                    </a:gridCol>
                    <a:gridCol w="811091">
                      <a:extLst>
                        <a:ext uri="{9D8B030D-6E8A-4147-A177-3AD203B41FA5}">
                          <a16:colId xmlns:a16="http://schemas.microsoft.com/office/drawing/2014/main" val="2383779966"/>
                        </a:ext>
                      </a:extLst>
                    </a:gridCol>
                    <a:gridCol w="2644156">
                      <a:extLst>
                        <a:ext uri="{9D8B030D-6E8A-4147-A177-3AD203B41FA5}">
                          <a16:colId xmlns:a16="http://schemas.microsoft.com/office/drawing/2014/main" val="808224985"/>
                        </a:ext>
                      </a:extLst>
                    </a:gridCol>
                    <a:gridCol w="2303498">
                      <a:extLst>
                        <a:ext uri="{9D8B030D-6E8A-4147-A177-3AD203B41FA5}">
                          <a16:colId xmlns:a16="http://schemas.microsoft.com/office/drawing/2014/main" val="1798307737"/>
                        </a:ext>
                      </a:extLst>
                    </a:gridCol>
                    <a:gridCol w="908420">
                      <a:extLst>
                        <a:ext uri="{9D8B030D-6E8A-4147-A177-3AD203B41FA5}">
                          <a16:colId xmlns:a16="http://schemas.microsoft.com/office/drawing/2014/main" val="3560947047"/>
                        </a:ext>
                      </a:extLst>
                    </a:gridCol>
                  </a:tblGrid>
                  <a:tr h="382626">
                    <a:tc>
                      <a:txBody>
                        <a:bodyPr/>
                        <a:lstStyle/>
                        <a:p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2300" b="0" i="1" noProof="0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sz="2300" b="0" i="1" noProof="0" smtClean="0">
                                    <a:latin typeface="Cambria Math" panose="02040503050406030204" pitchFamily="18" charset="0"/>
                                  </a:rPr>
                                  <m:t>=1 </m:t>
                                </m:r>
                                <m:r>
                                  <a:rPr lang="en-US" sz="2300" b="0" i="1" noProof="0" smtClean="0">
                                    <a:latin typeface="Cambria Math" panose="02040503050406030204" pitchFamily="18" charset="0"/>
                                  </a:rPr>
                                  <m:t>𝑠𝑖</m:t>
                                </m:r>
                                <m:r>
                                  <a:rPr lang="en-US" sz="2300" b="0" i="1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300" b="0" i="1" noProof="0" smtClean="0">
                                    <a:latin typeface="Cambria Math" panose="02040503050406030204" pitchFamily="18" charset="0"/>
                                  </a:rPr>
                                  <m:t>𝑐𝑟𝑖𝑠𝑖𝑠</m:t>
                                </m:r>
                                <m:r>
                                  <a:rPr lang="en-US" sz="2300" b="0" i="1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300" b="0" i="1" noProof="0" smtClean="0">
                                    <a:latin typeface="Cambria Math" panose="02040503050406030204" pitchFamily="18" charset="0"/>
                                  </a:rPr>
                                  <m:t>𝑠𝑜𝑐𝑖𝑎𝑙</m:t>
                                </m:r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49628750"/>
                      </a:ext>
                    </a:extLst>
                  </a:tr>
                  <a:tr h="437932"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s-ES_tradnl" sz="23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_tradnl" sz="23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94435227"/>
                      </a:ext>
                    </a:extLst>
                  </a:tr>
                  <a:tr h="98955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Verdadero Negativo (</a:t>
                          </a:r>
                          <a:r>
                            <a:rPr lang="es-ES_tradnl" sz="2300" noProof="0" dirty="0" err="1">
                              <a:latin typeface="Gill Sans Nova Light" panose="020B0302020104020203" pitchFamily="34" charset="0"/>
                            </a:rPr>
                            <a:t>vn</a:t>
                          </a:r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Falso negativo</a:t>
                          </a:r>
                        </a:p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(</a:t>
                          </a:r>
                          <a:r>
                            <a:rPr lang="es-ES_tradnl" sz="2300" noProof="0" dirty="0" err="1">
                              <a:latin typeface="Gill Sans Nova Light" panose="020B0302020104020203" pitchFamily="34" charset="0"/>
                            </a:rPr>
                            <a:t>fn</a:t>
                          </a:r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283319013"/>
                      </a:ext>
                    </a:extLst>
                  </a:tr>
                  <a:tr h="98955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Falso positivo</a:t>
                          </a:r>
                        </a:p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(</a:t>
                          </a:r>
                          <a:r>
                            <a:rPr lang="es-ES_tradnl" sz="2300" noProof="0" dirty="0" err="1">
                              <a:latin typeface="Gill Sans Nova Light" panose="020B0302020104020203" pitchFamily="34" charset="0"/>
                            </a:rPr>
                            <a:t>fp</a:t>
                          </a:r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Verdadero positivo</a:t>
                          </a:r>
                        </a:p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(</a:t>
                          </a:r>
                          <a:r>
                            <a:rPr lang="es-ES_tradnl" sz="2300" noProof="0" dirty="0" err="1">
                              <a:latin typeface="Gill Sans Nova Light" panose="020B0302020104020203" pitchFamily="34" charset="0"/>
                            </a:rPr>
                            <a:t>vp</a:t>
                          </a:r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ES_tradnl" sz="28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03389189"/>
                      </a:ext>
                    </a:extLst>
                  </a:tr>
                  <a:tr h="437932"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300" b="0" i="1" noProof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300" b="0" i="1" noProof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6325893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ED466492-FF8A-2A15-5CE0-A53A1A8D55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2608399"/>
                  </p:ext>
                </p:extLst>
              </p:nvPr>
            </p:nvGraphicFramePr>
            <p:xfrm>
              <a:off x="2063930" y="2977241"/>
              <a:ext cx="7488280" cy="345843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1115">
                      <a:extLst>
                        <a:ext uri="{9D8B030D-6E8A-4147-A177-3AD203B41FA5}">
                          <a16:colId xmlns:a16="http://schemas.microsoft.com/office/drawing/2014/main" val="4265273"/>
                        </a:ext>
                      </a:extLst>
                    </a:gridCol>
                    <a:gridCol w="811091">
                      <a:extLst>
                        <a:ext uri="{9D8B030D-6E8A-4147-A177-3AD203B41FA5}">
                          <a16:colId xmlns:a16="http://schemas.microsoft.com/office/drawing/2014/main" val="2383779966"/>
                        </a:ext>
                      </a:extLst>
                    </a:gridCol>
                    <a:gridCol w="2644156">
                      <a:extLst>
                        <a:ext uri="{9D8B030D-6E8A-4147-A177-3AD203B41FA5}">
                          <a16:colId xmlns:a16="http://schemas.microsoft.com/office/drawing/2014/main" val="808224985"/>
                        </a:ext>
                      </a:extLst>
                    </a:gridCol>
                    <a:gridCol w="2303498">
                      <a:extLst>
                        <a:ext uri="{9D8B030D-6E8A-4147-A177-3AD203B41FA5}">
                          <a16:colId xmlns:a16="http://schemas.microsoft.com/office/drawing/2014/main" val="1798307737"/>
                        </a:ext>
                      </a:extLst>
                    </a:gridCol>
                    <a:gridCol w="908420">
                      <a:extLst>
                        <a:ext uri="{9D8B030D-6E8A-4147-A177-3AD203B41FA5}">
                          <a16:colId xmlns:a16="http://schemas.microsoft.com/office/drawing/2014/main" val="3560947047"/>
                        </a:ext>
                      </a:extLst>
                    </a:gridCol>
                  </a:tblGrid>
                  <a:tr h="441960">
                    <a:tc>
                      <a:txBody>
                        <a:bodyPr/>
                        <a:lstStyle/>
                        <a:p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4317" r="-15859" b="-68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49628750"/>
                      </a:ext>
                    </a:extLst>
                  </a:tr>
                  <a:tr h="441960">
                    <a:tc rowSpan="3"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7241" r="-809231" b="-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94435227"/>
                      </a:ext>
                    </a:extLst>
                  </a:tr>
                  <a:tr h="98955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Verdadero Negativo (</a:t>
                          </a:r>
                          <a:r>
                            <a:rPr lang="es-ES_tradnl" sz="2300" noProof="0" dirty="0" err="1">
                              <a:latin typeface="Gill Sans Nova Light" panose="020B0302020104020203" pitchFamily="34" charset="0"/>
                            </a:rPr>
                            <a:t>vn</a:t>
                          </a:r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Falso negativo</a:t>
                          </a:r>
                        </a:p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(</a:t>
                          </a:r>
                          <a:r>
                            <a:rPr lang="es-ES_tradnl" sz="2300" noProof="0" dirty="0" err="1">
                              <a:latin typeface="Gill Sans Nova Light" panose="020B0302020104020203" pitchFamily="34" charset="0"/>
                            </a:rPr>
                            <a:t>fn</a:t>
                          </a:r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20833" t="-89744" b="-1602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3319013"/>
                      </a:ext>
                    </a:extLst>
                  </a:tr>
                  <a:tr h="114300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Falso positivo</a:t>
                          </a:r>
                        </a:p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(</a:t>
                          </a:r>
                          <a:r>
                            <a:rPr lang="es-ES_tradnl" sz="2300" noProof="0" dirty="0" err="1">
                              <a:latin typeface="Gill Sans Nova Light" panose="020B0302020104020203" pitchFamily="34" charset="0"/>
                            </a:rPr>
                            <a:t>fp</a:t>
                          </a:r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Verdadero positivo</a:t>
                          </a:r>
                        </a:p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(</a:t>
                          </a:r>
                          <a:r>
                            <a:rPr lang="es-ES_tradnl" sz="2300" noProof="0" dirty="0" err="1">
                              <a:latin typeface="Gill Sans Nova Light" panose="020B0302020104020203" pitchFamily="34" charset="0"/>
                            </a:rPr>
                            <a:t>vp</a:t>
                          </a:r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20833" t="-164444" b="-3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3389189"/>
                      </a:ext>
                    </a:extLst>
                  </a:tr>
                  <a:tr h="441960"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1722" t="-680000" r="-12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86740" t="-680000" r="-397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63258935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FC0E77-F3C0-A87F-49F9-4878E2221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531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3BB58-5855-ACF9-ED81-BEC9A8A85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Medidas de Error y Curva ROC - grafico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6326567-2749-1F0C-A234-8D38FD16C72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n-US" dirty="0"/>
                  <a:t>ROC: </a:t>
                </a:r>
                <a:r>
                  <a:rPr lang="en-US" dirty="0">
                    <a:solidFill>
                      <a:srgbClr val="002060"/>
                    </a:solidFill>
                  </a:rPr>
                  <a:t>receiver operating characteristics</a:t>
                </a:r>
              </a:p>
              <a:p>
                <a:pPr>
                  <a:lnSpc>
                    <a:spcPct val="160000"/>
                  </a:lnSpc>
                </a:pPr>
                <a:r>
                  <a:rPr lang="en-US" dirty="0" err="1">
                    <a:solidFill>
                      <a:srgbClr val="FF0000"/>
                    </a:solidFill>
                  </a:rPr>
                  <a:t>Curva</a:t>
                </a:r>
                <a:r>
                  <a:rPr lang="en-US" dirty="0">
                    <a:solidFill>
                      <a:srgbClr val="FF0000"/>
                    </a:solidFill>
                  </a:rPr>
                  <a:t> ROC </a:t>
                </a:r>
                <a:r>
                  <a:rPr lang="en-US" i="1" dirty="0">
                    <a:solidFill>
                      <a:srgbClr val="FF0000"/>
                    </a:solidFill>
                  </a:rPr>
                  <a:t>: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n-US" dirty="0" err="1">
                    <a:solidFill>
                      <a:srgbClr val="002060"/>
                    </a:solidFill>
                  </a:rPr>
                  <a:t>Eje</a:t>
                </a:r>
                <a:r>
                  <a:rPr lang="en-US" dirty="0">
                    <a:solidFill>
                      <a:srgbClr val="002060"/>
                    </a:solidFill>
                  </a:rPr>
                  <a:t> x: </a:t>
                </a:r>
                <a:r>
                  <a:rPr lang="es-ES_tradnl" dirty="0"/>
                  <a:t>Tasa de falsos positivos </a:t>
                </a:r>
              </a:p>
              <a:p>
                <a:pPr marL="457200" lvl="1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𝑡𝑓𝑝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𝑓𝑝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i="1" dirty="0"/>
              </a:p>
              <a:p>
                <a:pPr lvl="1">
                  <a:lnSpc>
                    <a:spcPct val="160000"/>
                  </a:lnSpc>
                </a:pPr>
                <a:r>
                  <a:rPr lang="en-US" dirty="0" err="1"/>
                  <a:t>Eje</a:t>
                </a:r>
                <a:r>
                  <a:rPr lang="en-US" dirty="0"/>
                  <a:t> Y: </a:t>
                </a:r>
                <a:r>
                  <a:rPr lang="es-ES_tradnl" dirty="0"/>
                  <a:t>Tasa de verdaderos positivos</a:t>
                </a:r>
                <a:endParaRPr lang="en-US" dirty="0"/>
              </a:p>
              <a:p>
                <a:pPr marL="457200" lvl="1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𝑡𝑣𝑝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𝑣𝑝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lnSpc>
                    <a:spcPct val="160000"/>
                  </a:lnSpc>
                </a:pPr>
                <a:r>
                  <a:rPr lang="en-US" dirty="0">
                    <a:solidFill>
                      <a:srgbClr val="002060"/>
                    </a:solidFill>
                  </a:rPr>
                  <a:t>Accuracy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US" dirty="0"/>
                  <a:t>. Similar 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>
                  <a:lnSpc>
                    <a:spcPct val="160000"/>
                  </a:lnSpc>
                </a:pPr>
                <a:endParaRPr lang="en-US" i="1" dirty="0"/>
              </a:p>
              <a:p>
                <a:pPr>
                  <a:lnSpc>
                    <a:spcPct val="160000"/>
                  </a:lnSpc>
                </a:pPr>
                <a:endParaRPr lang="en-US" i="1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6326567-2749-1F0C-A234-8D38FD16C7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467" b="-319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graph of a curve&#10;&#10;Description automatically generated">
            <a:extLst>
              <a:ext uri="{FF2B5EF4-FFF2-40B4-BE49-F238E27FC236}">
                <a16:creationId xmlns:a16="http://schemas.microsoft.com/office/drawing/2014/main" id="{E07EEF54-105D-F402-7367-E2DA7A7B47E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4"/>
          <a:srcRect l="8151" r="18370"/>
          <a:stretch/>
        </p:blipFill>
        <p:spPr>
          <a:xfrm>
            <a:off x="6628360" y="1604963"/>
            <a:ext cx="4725440" cy="45720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6CB09-AEB1-A75A-06EF-05BE71250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C31EA3-181A-392B-C96A-0F5B5413CFAC}"/>
              </a:ext>
            </a:extLst>
          </p:cNvPr>
          <p:cNvSpPr txBox="1"/>
          <p:nvPr/>
        </p:nvSpPr>
        <p:spPr>
          <a:xfrm>
            <a:off x="6019801" y="6130509"/>
            <a:ext cx="5942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G., Witten, D., Hastie, T., Tibshirani, R., &amp; Taylor, J. (2023). p.155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380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3BB58-5855-ACF9-ED81-BEC9A8A85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Medidas de Error y Curva ROC: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Intuición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6326567-2749-1F0C-A234-8D38FD16C72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Clasificador binario: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s-ES_tradnl" i="1" dirty="0" smtClean="0">
                          <a:latin typeface="Cambria Math" panose="02040503050406030204" pitchFamily="18" charset="0"/>
                        </a:rPr>
                        <m:t>= 1 [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ES_tradnl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s-ES_tradnl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ES_tradnl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s-ES_tradnl" dirty="0"/>
              </a:p>
              <a:p>
                <a:pPr marL="23495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∈ [0, 1]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Con el </a:t>
                </a:r>
                <a:r>
                  <a:rPr lang="es-ES_tradnl" dirty="0">
                    <a:solidFill>
                      <a:srgbClr val="002060"/>
                    </a:solidFill>
                  </a:rPr>
                  <a:t>Clasificador de Bayes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s-ES_tradnl" dirty="0"/>
                  <a:t> (simetría)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6326567-2749-1F0C-A234-8D38FD16C7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689" r="-48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graph of a curve&#10;&#10;Description automatically generated">
            <a:extLst>
              <a:ext uri="{FF2B5EF4-FFF2-40B4-BE49-F238E27FC236}">
                <a16:creationId xmlns:a16="http://schemas.microsoft.com/office/drawing/2014/main" id="{E07EEF54-105D-F402-7367-E2DA7A7B47E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8151" r="18370"/>
          <a:stretch/>
        </p:blipFill>
        <p:spPr>
          <a:xfrm>
            <a:off x="6628360" y="1604963"/>
            <a:ext cx="4725440" cy="45720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0163B-4A02-D25B-A1B6-2CE477F5A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48B2E4-F39D-78DC-68AA-511CA8BDBBB0}"/>
              </a:ext>
            </a:extLst>
          </p:cNvPr>
          <p:cNvSpPr txBox="1"/>
          <p:nvPr/>
        </p:nvSpPr>
        <p:spPr>
          <a:xfrm>
            <a:off x="6019801" y="6130509"/>
            <a:ext cx="5942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G., Witten, D., Hastie, T., Tibshirani, R., &amp; Taylor, J. (2023). p.155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92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93BBC-F7A5-A72F-2518-A50F054F9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BECB0-2EEE-B6D7-5834-2A87F2FC8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Medidas de Error y Curva ROC: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Intuición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02B312-56D9-BE3D-3578-1FBA8F754B5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lnSpc>
                    <a:spcPct val="160000"/>
                  </a:lnSpc>
                  <a:buNone/>
                </a:pPr>
                <a:r>
                  <a:rPr lang="es-ES_tradnl" dirty="0"/>
                  <a:t>¿Asimetría?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endParaRPr lang="es-ES_tradnl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60000"/>
                  </a:lnSpc>
                </a:pP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s-ES_tradnl" dirty="0"/>
                  <a:t> todos clasificados negativos</a:t>
                </a:r>
              </a:p>
              <a:p>
                <a:pPr lvl="1">
                  <a:lnSpc>
                    <a:spcPct val="160000"/>
                  </a:lnSpc>
                </a:pP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𝑡𝑣𝑝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=0</m:t>
                    </m:r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s-ES_tradnl" i="1" dirty="0">
                        <a:latin typeface="Cambria Math" panose="02040503050406030204" pitchFamily="18" charset="0"/>
                      </a:rPr>
                      <m:t>𝑡𝑓𝑝</m:t>
                    </m:r>
                    <m:r>
                      <a:rPr lang="es-ES_tradnl" i="1" dirty="0">
                        <a:latin typeface="Cambria Math" panose="02040503050406030204" pitchFamily="18" charset="0"/>
                      </a:rPr>
                      <m:t> =0</m:t>
                    </m:r>
                  </m:oMath>
                </a14:m>
                <a:endParaRPr lang="en-US" b="0" dirty="0"/>
              </a:p>
              <a:p>
                <a:pPr>
                  <a:lnSpc>
                    <a:spcPct val="160000"/>
                  </a:lnSpc>
                </a:pP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_tradnl" dirty="0"/>
                  <a:t> todos clasificados positivos</a:t>
                </a:r>
              </a:p>
              <a:p>
                <a:pPr lvl="1">
                  <a:lnSpc>
                    <a:spcPct val="160000"/>
                  </a:lnSpc>
                </a:pP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𝑡𝑣𝑝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=1</m:t>
                    </m:r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s-ES_tradnl" i="1" dirty="0">
                        <a:latin typeface="Cambria Math" panose="02040503050406030204" pitchFamily="18" charset="0"/>
                      </a:rPr>
                      <m:t>𝑡𝑓𝑝</m:t>
                    </m:r>
                    <m:r>
                      <a:rPr lang="es-ES_tradnl" i="1" dirty="0">
                        <a:latin typeface="Cambria Math" panose="02040503050406030204" pitchFamily="18" charset="0"/>
                      </a:rPr>
                      <m:t> =1</m:t>
                    </m:r>
                  </m:oMath>
                </a14:m>
                <a:endParaRPr lang="en-US" b="0" dirty="0"/>
              </a:p>
              <a:p>
                <a:pPr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Curva ROC</a:t>
                </a:r>
                <a:r>
                  <a:rPr lang="es-ES_tradnl" dirty="0"/>
                  <a:t>: (</a:t>
                </a:r>
                <a:r>
                  <a:rPr lang="es-ES_tradnl" dirty="0" err="1"/>
                  <a:t>tfp</a:t>
                </a:r>
                <a:r>
                  <a:rPr lang="es-ES_tradnl" dirty="0"/>
                  <a:t>, </a:t>
                </a:r>
                <a:r>
                  <a:rPr lang="es-ES_tradnl" dirty="0" err="1"/>
                  <a:t>tvp</a:t>
                </a:r>
                <a:r>
                  <a:rPr lang="es-ES_tradnl" dirty="0"/>
                  <a:t>) para todos los valores posibles de c ∈ [0, 1].</a:t>
                </a:r>
              </a:p>
              <a:p>
                <a:pPr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Idealmente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𝑡𝑣𝑝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= 1 </m:t>
                    </m:r>
                  </m:oMath>
                </a14:m>
                <a:r>
                  <a:rPr lang="es-ES_tradnl" dirty="0"/>
                  <a:t>y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𝑡𝑓𝑝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02B312-56D9-BE3D-3578-1FBA8F754B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46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B571A74-113E-A36E-DAA5-472051E34AEC}"/>
              </a:ext>
            </a:extLst>
          </p:cNvPr>
          <p:cNvSpPr txBox="1"/>
          <p:nvPr/>
        </p:nvSpPr>
        <p:spPr>
          <a:xfrm>
            <a:off x="6019801" y="6130509"/>
            <a:ext cx="5942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G., Witten, D., Hastie, T., Tibshirani, R., &amp; Taylor, J. (2023). p.155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6AD85B-1FCB-4733-24C3-D92E47156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18</a:t>
            </a:fld>
            <a:endParaRPr lang="en-US"/>
          </a:p>
        </p:txBody>
      </p:sp>
      <p:pic>
        <p:nvPicPr>
          <p:cNvPr id="9" name="Content Placeholder 6" descr="A graph of a curve&#10;&#10;Description automatically generated">
            <a:extLst>
              <a:ext uri="{FF2B5EF4-FFF2-40B4-BE49-F238E27FC236}">
                <a16:creationId xmlns:a16="http://schemas.microsoft.com/office/drawing/2014/main" id="{00325A83-BD16-9B0E-0861-BA815645ABA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8151" r="18370"/>
          <a:stretch/>
        </p:blipFill>
        <p:spPr>
          <a:xfrm>
            <a:off x="6883131" y="1825625"/>
            <a:ext cx="4215899" cy="4079043"/>
          </a:xfrm>
        </p:spPr>
      </p:pic>
    </p:spTree>
    <p:extLst>
      <p:ext uri="{BB962C8B-B14F-4D97-AF65-F5344CB8AC3E}">
        <p14:creationId xmlns:p14="http://schemas.microsoft.com/office/powerpoint/2010/main" val="2127219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948BE-DDEC-7698-ACA6-B48A61392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2DD15-C371-85B7-B9B9-05DDF7600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Curva ROC: </a:t>
            </a:r>
            <a:r>
              <a:rPr lang="es-ES_tradnl" dirty="0">
                <a:solidFill>
                  <a:srgbClr val="7030A0"/>
                </a:solidFill>
              </a:rPr>
              <a:t>Resultados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62922FB-7CB4-38EC-98F3-8F242057484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lnSpc>
                    <a:spcPct val="160000"/>
                  </a:lnSpc>
                  <a:buNone/>
                </a:pPr>
                <a:r>
                  <a:rPr lang="es-ES_tradnl" dirty="0">
                    <a:solidFill>
                      <a:srgbClr val="7030A0"/>
                    </a:solidFill>
                  </a:rPr>
                  <a:t>Resultado 1: </a:t>
                </a:r>
                <a:r>
                  <a:rPr lang="es-ES_tradnl" dirty="0"/>
                  <a:t>Demostrar que Curva ROC tiene pendiente positiva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s-ES_tradnl" dirty="0"/>
                  <a:t>Hint: escribir la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𝑡𝑣𝑝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s-ES_tradnl" dirty="0"/>
                  <a:t> como una función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𝑡𝑓𝑝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s-ES_tradnl" dirty="0"/>
              </a:p>
              <a:p>
                <a:pPr marL="0" indent="0">
                  <a:lnSpc>
                    <a:spcPct val="160000"/>
                  </a:lnSpc>
                  <a:buNone/>
                </a:pPr>
                <a:r>
                  <a:rPr lang="es-ES_tradnl" dirty="0">
                    <a:solidFill>
                      <a:srgbClr val="7030A0"/>
                    </a:solidFill>
                  </a:rPr>
                  <a:t>Resultado 2 </a:t>
                </a:r>
                <a:r>
                  <a:rPr lang="es-ES_tradnl">
                    <a:solidFill>
                      <a:srgbClr val="7030A0"/>
                    </a:solidFill>
                  </a:rPr>
                  <a:t>(opcional):</a:t>
                </a:r>
                <a:r>
                  <a:rPr lang="es-ES_tradnl"/>
                  <a:t> </a:t>
                </a:r>
                <a:r>
                  <a:rPr lang="es-ES_tradnl" dirty="0"/>
                  <a:t>Demostrar que en general, la curva ROC esta por arriba de la línea 45 grados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Hint 1  usar el clasificador invertido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≡1−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Hint2: usar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𝑡𝑓𝑝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𝑡𝑣𝑝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𝑡𝑣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𝑡𝑓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sup>
                    </m:sSup>
                  </m:oMath>
                </a14:m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62922FB-7CB4-38EC-98F3-8F24205748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467" r="-195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graph of a curve&#10;&#10;Description automatically generated">
            <a:extLst>
              <a:ext uri="{FF2B5EF4-FFF2-40B4-BE49-F238E27FC236}">
                <a16:creationId xmlns:a16="http://schemas.microsoft.com/office/drawing/2014/main" id="{1E7F644D-F367-CF67-1E15-0FD1C321EAB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8151" r="18370"/>
          <a:stretch/>
        </p:blipFill>
        <p:spPr>
          <a:xfrm>
            <a:off x="6628360" y="1604963"/>
            <a:ext cx="4725440" cy="4572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0FCF04-D108-73FB-C20A-52D4F879F721}"/>
              </a:ext>
            </a:extLst>
          </p:cNvPr>
          <p:cNvSpPr txBox="1"/>
          <p:nvPr/>
        </p:nvSpPr>
        <p:spPr>
          <a:xfrm>
            <a:off x="6019801" y="6130509"/>
            <a:ext cx="5942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G., Witten, D., Hastie, T., Tibshirani, R., &amp; Taylor, J. (2023). p.155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714749-B910-E307-3555-5632D7EE2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116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Usos de ROC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¿Curva ROC ideal?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AUC</a:t>
                </a:r>
                <a:r>
                  <a:rPr lang="es-ES_tradnl" dirty="0"/>
                  <a:t>: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Area</a:t>
                </a:r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under</a:t>
                </a:r>
                <a:r>
                  <a:rPr lang="es-ES_tradnl" dirty="0">
                    <a:solidFill>
                      <a:srgbClr val="002060"/>
                    </a:solidFill>
                  </a:rPr>
                  <a:t> ROC </a:t>
                </a:r>
                <a:r>
                  <a:rPr lang="es-ES_tradnl" dirty="0"/>
                  <a:t>(suerte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)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Herramienta para comparar clasificadores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¿Elección de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s-ES_tradnl" dirty="0"/>
                  <a:t>? Fijar un máximo tolerable para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𝑡𝑓𝑝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5709E-9A15-12B5-D60D-55BA71D5F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2331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Otras tasas que pueden ser de interés 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Sensibilidad: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𝑡𝑣𝑝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Razón de falsos positivos: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𝑡𝑓𝑝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Exactitud/Precisión: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Especificidad: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Valor predictivo positivo: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Valor predictivo negativo: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_tradnl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b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9919D-9F5C-A184-5F72-3E9AD2BD1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7492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Repasamos</a:t>
            </a:r>
            <a:r>
              <a:rPr lang="es-ES_tradnl" dirty="0"/>
              <a:t> los métodos vistos de clasificación y aclaramos dudas de QDA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Repasamos</a:t>
            </a:r>
            <a:r>
              <a:rPr lang="es-ES_tradnl" dirty="0"/>
              <a:t> </a:t>
            </a:r>
            <a:r>
              <a:rPr lang="es-ES_tradnl" i="1" dirty="0"/>
              <a:t>Naive</a:t>
            </a:r>
            <a:r>
              <a:rPr lang="es-ES_tradnl" dirty="0"/>
              <a:t> Bayes que relaja el supuesto de normalidad del análisis discriminante, pero hace un supuesto fuerte de </a:t>
            </a:r>
            <a:r>
              <a:rPr lang="es-ES_tradnl" dirty="0">
                <a:solidFill>
                  <a:srgbClr val="00B050"/>
                </a:solidFill>
              </a:rPr>
              <a:t>independencia </a:t>
            </a:r>
            <a:r>
              <a:rPr lang="es-ES_tradnl" dirty="0"/>
              <a:t>de los predictores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Comparamos</a:t>
            </a:r>
            <a:r>
              <a:rPr lang="es-ES_tradnl" dirty="0"/>
              <a:t> los métodos de clasificación para 6 escenarios distintos: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Lección principal: </a:t>
            </a:r>
            <a:r>
              <a:rPr lang="es-ES_tradnl" dirty="0">
                <a:solidFill>
                  <a:srgbClr val="FF0000"/>
                </a:solidFill>
              </a:rPr>
              <a:t>Ningún método domina siempre</a:t>
            </a:r>
            <a:r>
              <a:rPr lang="es-ES_tradnl" dirty="0"/>
              <a:t>. Depende del contexto.</a:t>
            </a:r>
            <a:endParaRPr lang="es-ES_tradnl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Discutimos</a:t>
            </a:r>
            <a:r>
              <a:rPr lang="es-ES_tradnl" dirty="0"/>
              <a:t> sobre la construcción de la curva ROC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Aprendimos sobre la </a:t>
            </a:r>
            <a:r>
              <a:rPr lang="es-ES_tradnl" dirty="0">
                <a:solidFill>
                  <a:srgbClr val="002060"/>
                </a:solidFill>
              </a:rPr>
              <a:t>pendiente positiva de ROC </a:t>
            </a:r>
            <a:r>
              <a:rPr lang="es-ES_tradnl" dirty="0"/>
              <a:t>&amp; que está por </a:t>
            </a:r>
            <a:r>
              <a:rPr lang="es-ES_tradnl" dirty="0">
                <a:solidFill>
                  <a:srgbClr val="002060"/>
                </a:solidFill>
              </a:rPr>
              <a:t>arriba de línea 45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001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/>
              <a:t>Consultas: </a:t>
            </a:r>
            <a:r>
              <a:rPr lang="es-ES_tradnl" dirty="0">
                <a:hlinkClick r:id="rId2"/>
              </a:rPr>
              <a:t>mromero@udesa.edu.ar</a:t>
            </a:r>
            <a:r>
              <a:rPr lang="es-ES_tradnl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85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7705</TotalTime>
  <Words>1279</Words>
  <Application>Microsoft Macintosh PowerPoint</Application>
  <PresentationFormat>Panorámica</PresentationFormat>
  <Paragraphs>205</Paragraphs>
  <Slides>24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2" baseType="lpstr">
      <vt:lpstr>Arial</vt:lpstr>
      <vt:lpstr>Calibri</vt:lpstr>
      <vt:lpstr>Cambria Math</vt:lpstr>
      <vt:lpstr>Gill Sans Nova Light</vt:lpstr>
      <vt:lpstr>Goudy Old Style</vt:lpstr>
      <vt:lpstr>Times</vt:lpstr>
      <vt:lpstr>Times New Roman</vt:lpstr>
      <vt:lpstr>Office Theme</vt:lpstr>
      <vt:lpstr>Clasificación: Comparación de Modelos y Curva ROC</vt:lpstr>
      <vt:lpstr>En la clase de hoy</vt:lpstr>
      <vt:lpstr>Repaso clase anterior</vt:lpstr>
      <vt:lpstr>En la clase anterior</vt:lpstr>
      <vt:lpstr>1. Herramientas para predecir la probabilidad condicional: p=Pr⁡(Y=1|X) </vt:lpstr>
      <vt:lpstr>2. Herramientas para predecir la probabilidad condicional: p=Pr⁡(Y=1|X) </vt:lpstr>
      <vt:lpstr>Comparación empírica de los clasificadores</vt:lpstr>
      <vt:lpstr>Comparación Escenarios 1 a 3: límite de Bayes lineal</vt:lpstr>
      <vt:lpstr>Comparación Escenarios 4 a 6: límite de Bayes no lineal</vt:lpstr>
      <vt:lpstr>Análisis ROC</vt:lpstr>
      <vt:lpstr>Intuiciones I: Motivación</vt:lpstr>
      <vt:lpstr>Intuiciones II: Ejemplo de Default con LDA</vt:lpstr>
      <vt:lpstr>Intuiciones III: Idea de Curva ROC</vt:lpstr>
      <vt:lpstr>Notación</vt:lpstr>
      <vt:lpstr>Medidas de error de clasificación - Performance</vt:lpstr>
      <vt:lpstr>Medidas de Error y Curva ROC - grafico </vt:lpstr>
      <vt:lpstr>Medidas de Error y Curva ROC: Intuición I</vt:lpstr>
      <vt:lpstr>Medidas de Error y Curva ROC: Intuición II</vt:lpstr>
      <vt:lpstr>Curva ROC: Resultados</vt:lpstr>
      <vt:lpstr>Usos de ROC</vt:lpstr>
      <vt:lpstr>Otras tasas que pueden ser de interés …</vt:lpstr>
      <vt:lpstr>Conclusiones finales</vt:lpstr>
      <vt:lpstr>¿Qué aprendimos hoy?</vt:lpstr>
      <vt:lpstr>¿Dudas, consultas?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Noelia Romero</cp:lastModifiedBy>
  <cp:revision>282</cp:revision>
  <dcterms:created xsi:type="dcterms:W3CDTF">2023-06-12T20:51:31Z</dcterms:created>
  <dcterms:modified xsi:type="dcterms:W3CDTF">2026-05-15T20:04:08Z</dcterms:modified>
</cp:coreProperties>
</file>