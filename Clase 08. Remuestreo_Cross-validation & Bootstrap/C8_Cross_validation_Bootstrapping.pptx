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489" r:id="rId2"/>
    <p:sldId id="470" r:id="rId3"/>
    <p:sldId id="259" r:id="rId4"/>
    <p:sldId id="327" r:id="rId5"/>
    <p:sldId id="260" r:id="rId6"/>
    <p:sldId id="266" r:id="rId7"/>
    <p:sldId id="409" r:id="rId8"/>
    <p:sldId id="410" r:id="rId9"/>
    <p:sldId id="411" r:id="rId10"/>
    <p:sldId id="444" r:id="rId11"/>
    <p:sldId id="522" r:id="rId12"/>
    <p:sldId id="520" r:id="rId13"/>
    <p:sldId id="523" r:id="rId14"/>
    <p:sldId id="521" r:id="rId15"/>
    <p:sldId id="261" r:id="rId16"/>
    <p:sldId id="329" r:id="rId17"/>
    <p:sldId id="351" r:id="rId18"/>
    <p:sldId id="439" r:id="rId19"/>
    <p:sldId id="447" r:id="rId20"/>
    <p:sldId id="448" r:id="rId21"/>
    <p:sldId id="524" r:id="rId22"/>
    <p:sldId id="331" r:id="rId23"/>
    <p:sldId id="502" r:id="rId24"/>
    <p:sldId id="526" r:id="rId25"/>
    <p:sldId id="443" r:id="rId26"/>
    <p:sldId id="318" r:id="rId27"/>
    <p:sldId id="257" r:id="rId28"/>
    <p:sldId id="332" r:id="rId29"/>
    <p:sldId id="333" r:id="rId30"/>
    <p:sldId id="334" r:id="rId31"/>
    <p:sldId id="340" r:id="rId32"/>
    <p:sldId id="338" r:id="rId33"/>
    <p:sldId id="339" r:id="rId34"/>
    <p:sldId id="341" r:id="rId35"/>
    <p:sldId id="350" r:id="rId36"/>
    <p:sldId id="342" r:id="rId37"/>
    <p:sldId id="343" r:id="rId38"/>
    <p:sldId id="344" r:id="rId39"/>
    <p:sldId id="345" r:id="rId40"/>
    <p:sldId id="346" r:id="rId41"/>
    <p:sldId id="348" r:id="rId42"/>
    <p:sldId id="337" r:id="rId43"/>
    <p:sldId id="314" r:id="rId44"/>
    <p:sldId id="440" r:id="rId45"/>
    <p:sldId id="49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470"/>
            <p14:sldId id="259"/>
          </p14:sldIdLst>
        </p14:section>
        <p14:section name="Error de Pronóstico, MSE, Overfitting" id="{75D31724-3B6C-E842-978D-4FEEBABBFA4D}">
          <p14:sldIdLst>
            <p14:sldId id="327"/>
            <p14:sldId id="260"/>
            <p14:sldId id="266"/>
            <p14:sldId id="409"/>
            <p14:sldId id="410"/>
            <p14:sldId id="411"/>
            <p14:sldId id="444"/>
            <p14:sldId id="522"/>
            <p14:sldId id="520"/>
            <p14:sldId id="523"/>
            <p14:sldId id="521"/>
            <p14:sldId id="261"/>
          </p14:sldIdLst>
        </p14:section>
        <p14:section name="Cross-Validation" id="{5623DDE8-0602-0D4F-AFA1-3B05F3F0BCCE}">
          <p14:sldIdLst>
            <p14:sldId id="329"/>
            <p14:sldId id="351"/>
            <p14:sldId id="439"/>
            <p14:sldId id="447"/>
            <p14:sldId id="448"/>
            <p14:sldId id="524"/>
            <p14:sldId id="331"/>
            <p14:sldId id="502"/>
            <p14:sldId id="526"/>
            <p14:sldId id="443"/>
          </p14:sldIdLst>
        </p14:section>
        <p14:section name="Repaso de Ley de Grandes Números" id="{7FB3D64B-F88D-DC44-A858-9D76D5739914}">
          <p14:sldIdLst>
            <p14:sldId id="318"/>
            <p14:sldId id="257"/>
            <p14:sldId id="332"/>
            <p14:sldId id="333"/>
            <p14:sldId id="334"/>
            <p14:sldId id="340"/>
          </p14:sldIdLst>
        </p14:section>
        <p14:section name="Bootstrap" id="{452C278E-0A2E-D847-AF96-BC48CAD56F94}">
          <p14:sldIdLst>
            <p14:sldId id="338"/>
            <p14:sldId id="339"/>
            <p14:sldId id="341"/>
            <p14:sldId id="350"/>
            <p14:sldId id="342"/>
            <p14:sldId id="343"/>
            <p14:sldId id="344"/>
            <p14:sldId id="345"/>
            <p14:sldId id="346"/>
            <p14:sldId id="348"/>
          </p14:sldIdLst>
        </p14:section>
        <p14:section name="Conclusiones finales" id="{30AE4762-25DE-C74D-AF95-4AEC0CC37FB0}">
          <p14:sldIdLst>
            <p14:sldId id="337"/>
            <p14:sldId id="314"/>
            <p14:sldId id="440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116A0-A64E-9444-97F3-412D335A6EAD}" v="2" dt="2026-05-19T14:41:55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59"/>
    <p:restoredTop sz="81211"/>
  </p:normalViewPr>
  <p:slideViewPr>
    <p:cSldViewPr snapToGrid="0">
      <p:cViewPr varScale="1">
        <p:scale>
          <a:sx n="85" d="100"/>
          <a:sy n="85" d="100"/>
        </p:scale>
        <p:origin x="5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addSld delSld modSld delSection modSection">
      <pc:chgData name="María Noelia Romero" userId="2133f5768dfc5791" providerId="LiveId" clId="{0168CA65-A813-5033-94B8-EF4605FC29D1}" dt="2026-05-19T14:44:24.693" v="76" actId="20577"/>
      <pc:docMkLst>
        <pc:docMk/>
      </pc:docMkLst>
      <pc:sldChg chg="del">
        <pc:chgData name="María Noelia Romero" userId="2133f5768dfc5791" providerId="LiveId" clId="{0168CA65-A813-5033-94B8-EF4605FC29D1}" dt="2026-05-19T14:41:43.424" v="6" actId="2696"/>
        <pc:sldMkLst>
          <pc:docMk/>
          <pc:sldMk cId="1640782994" sldId="256"/>
        </pc:sldMkLst>
      </pc:sldChg>
      <pc:sldChg chg="del">
        <pc:chgData name="María Noelia Romero" userId="2133f5768dfc5791" providerId="LiveId" clId="{0168CA65-A813-5033-94B8-EF4605FC29D1}" dt="2026-05-19T14:41:55.928" v="8" actId="2696"/>
        <pc:sldMkLst>
          <pc:docMk/>
          <pc:sldMk cId="4036285909" sldId="407"/>
        </pc:sldMkLst>
      </pc:sldChg>
      <pc:sldChg chg="del">
        <pc:chgData name="María Noelia Romero" userId="2133f5768dfc5791" providerId="LiveId" clId="{0168CA65-A813-5033-94B8-EF4605FC29D1}" dt="2026-05-19T14:43:36.718" v="9" actId="2696"/>
        <pc:sldMkLst>
          <pc:docMk/>
          <pc:sldMk cId="2058055129" sldId="446"/>
        </pc:sldMkLst>
      </pc:sldChg>
      <pc:sldChg chg="add">
        <pc:chgData name="María Noelia Romero" userId="2133f5768dfc5791" providerId="LiveId" clId="{0168CA65-A813-5033-94B8-EF4605FC29D1}" dt="2026-05-19T14:41:42.098" v="5"/>
        <pc:sldMkLst>
          <pc:docMk/>
          <pc:sldMk cId="116316082" sldId="470"/>
        </pc:sldMkLst>
      </pc:sldChg>
      <pc:sldChg chg="del">
        <pc:chgData name="María Noelia Romero" userId="2133f5768dfc5791" providerId="LiveId" clId="{0168CA65-A813-5033-94B8-EF4605FC29D1}" dt="2026-05-19T14:41:30.982" v="2" actId="2696"/>
        <pc:sldMkLst>
          <pc:docMk/>
          <pc:sldMk cId="1049279431" sldId="487"/>
        </pc:sldMkLst>
      </pc:sldChg>
      <pc:sldChg chg="modSp add mod">
        <pc:chgData name="María Noelia Romero" userId="2133f5768dfc5791" providerId="LiveId" clId="{0168CA65-A813-5033-94B8-EF4605FC29D1}" dt="2026-05-19T14:44:24.693" v="76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5-19T14:44:21.840" v="74" actId="20577"/>
          <ac:spMkLst>
            <pc:docMk/>
            <pc:sldMk cId="439331348" sldId="489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5-19T14:44:24.693" v="76" actId="20577"/>
          <ac:spMkLst>
            <pc:docMk/>
            <pc:sldMk cId="439331348" sldId="489"/>
            <ac:spMk id="3" creationId="{C1F55BDD-1493-5FB8-8EDB-106F9B362918}"/>
          </ac:spMkLst>
        </pc:spChg>
      </pc:sldChg>
      <pc:sldChg chg="add">
        <pc:chgData name="María Noelia Romero" userId="2133f5768dfc5791" providerId="LiveId" clId="{0168CA65-A813-5033-94B8-EF4605FC29D1}" dt="2026-05-19T14:41:55.033" v="7"/>
        <pc:sldMkLst>
          <pc:docMk/>
          <pc:sldMk cId="3787366145" sldId="496"/>
        </pc:sldMkLst>
      </pc:sldChg>
      <pc:sldChg chg="del">
        <pc:chgData name="María Noelia Romero" userId="2133f5768dfc5791" providerId="LiveId" clId="{0168CA65-A813-5033-94B8-EF4605FC29D1}" dt="2026-05-19T14:41:30.963" v="0" actId="2696"/>
        <pc:sldMkLst>
          <pc:docMk/>
          <pc:sldMk cId="1639207034" sldId="527"/>
        </pc:sldMkLst>
      </pc:sldChg>
      <pc:sldChg chg="del">
        <pc:chgData name="María Noelia Romero" userId="2133f5768dfc5791" providerId="LiveId" clId="{0168CA65-A813-5033-94B8-EF4605FC29D1}" dt="2026-05-19T14:41:30.979" v="1" actId="2696"/>
        <pc:sldMkLst>
          <pc:docMk/>
          <pc:sldMk cId="1488394808" sldId="528"/>
        </pc:sldMkLst>
      </pc:sldChg>
      <pc:sldChg chg="del">
        <pc:chgData name="María Noelia Romero" userId="2133f5768dfc5791" providerId="LiveId" clId="{0168CA65-A813-5033-94B8-EF4605FC29D1}" dt="2026-05-19T14:41:31.062" v="3" actId="2696"/>
        <pc:sldMkLst>
          <pc:docMk/>
          <pc:sldMk cId="1028480215" sldId="52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11.png"/><Relationship Id="rId1" Type="http://schemas.openxmlformats.org/officeDocument/2006/relationships/image" Target="../media/image10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Enfoque de Validación Simple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k-fold CV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LOOV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DCB623DE-A832-D648-A198-D04B79F27F79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DCB623DE-A832-D648-A198-D04B79F27F79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BBF27D3A-DC06-7144-9447-A629A2A8DBA0}">
          <dgm:prSet phldrT="[Texto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=5</m:t>
                  </m:r>
                </m:oMath>
              </a14:m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=10</m:t>
                  </m:r>
                </m:oMath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BBF27D3A-DC06-7144-9447-A629A2A8DBA0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5</a:t>
              </a:r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r>
                <a:rPr lang="en-US" b="0" i="0">
                  <a:latin typeface="Cambria Math" panose="02040503050406030204" pitchFamily="18" charset="0"/>
                </a:rPr>
                <a:t>0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5 o 10 splits de train y test 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1 split de train y test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no hay random splts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FC91A75D-C80D-4940-B9C5-7AC3A626E633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FC91A75D-C80D-4940-B9C5-7AC3A626E633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𝑁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>
        <a:blipFill>
          <a:blip xmlns:r="http://schemas.openxmlformats.org/officeDocument/2006/relationships" r:embed="rId1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>
        <a:blipFill>
          <a:blip xmlns:r="http://schemas.openxmlformats.org/officeDocument/2006/relationships" r:embed="rId2"/>
          <a:stretch>
            <a:fillRect t="-2752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>
        <a:blipFill>
          <a:blip xmlns:r="http://schemas.openxmlformats.org/officeDocument/2006/relationships" r:embed="rId3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dgm:pt modelId="{DCB623DE-A832-D648-A198-D04B79F27F79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dgm:pt modelId="{BBF27D3A-DC06-7144-9447-A629A2A8DBA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dgm:pt modelId="{FC91A75D-C80D-4940-B9C5-7AC3A626E633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3F785-8A31-1F4F-BEF3-41C5F0E67901}">
      <dsp:nvSpPr>
        <dsp:cNvPr id="0" name=""/>
        <dsp:cNvSpPr/>
      </dsp:nvSpPr>
      <dsp:spPr>
        <a:xfrm>
          <a:off x="0" y="0"/>
          <a:ext cx="10515600" cy="13597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Enfoque de Validación Simple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1 split de train y test</a:t>
          </a:r>
        </a:p>
      </dsp:txBody>
      <dsp:txXfrm>
        <a:off x="2239099" y="0"/>
        <a:ext cx="8276500" cy="1359793"/>
      </dsp:txXfrm>
    </dsp:sp>
    <dsp:sp modelId="{A5791972-E9F3-0E40-9E4C-BC6BA980B304}">
      <dsp:nvSpPr>
        <dsp:cNvPr id="0" name=""/>
        <dsp:cNvSpPr/>
      </dsp:nvSpPr>
      <dsp:spPr>
        <a:xfrm>
          <a:off x="135979" y="135979"/>
          <a:ext cx="2103120" cy="1087834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82133-3790-304C-9FAF-AC5ABC34DB14}">
      <dsp:nvSpPr>
        <dsp:cNvPr id="0" name=""/>
        <dsp:cNvSpPr/>
      </dsp:nvSpPr>
      <dsp:spPr>
        <a:xfrm>
          <a:off x="0" y="1495772"/>
          <a:ext cx="10515600" cy="13597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k-fold CV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=5</m:t>
              </m:r>
            </m:oMath>
          </a14:m>
          <a:r>
            <a:rPr lang="es-MX" sz="1500" kern="1200" dirty="0">
              <a:latin typeface="Gill Sans Nova Light" panose="020B0302020104020203" pitchFamily="34" charset="0"/>
            </a:rPr>
            <a:t> o </a:t>
          </a: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=10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5 o 10 splits de train y test </a:t>
          </a:r>
        </a:p>
      </dsp:txBody>
      <dsp:txXfrm>
        <a:off x="2239099" y="1495772"/>
        <a:ext cx="8276500" cy="1359793"/>
      </dsp:txXfrm>
    </dsp:sp>
    <dsp:sp modelId="{43EF3C64-362C-AF4B-A6EB-86E20A54F4EF}">
      <dsp:nvSpPr>
        <dsp:cNvPr id="0" name=""/>
        <dsp:cNvSpPr/>
      </dsp:nvSpPr>
      <dsp:spPr>
        <a:xfrm>
          <a:off x="135979" y="1631751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5BF51-FDA3-0241-9DCD-68EA1D0029C1}">
      <dsp:nvSpPr>
        <dsp:cNvPr id="0" name=""/>
        <dsp:cNvSpPr/>
      </dsp:nvSpPr>
      <dsp:spPr>
        <a:xfrm>
          <a:off x="0" y="2991544"/>
          <a:ext cx="10515600" cy="1359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LOOV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</m:t>
              </m:r>
              <m:r>
                <a:rPr lang="en-US" sz="1500" b="0" i="1" kern="1200" smtClean="0">
                  <a:latin typeface="Cambria Math" panose="02040503050406030204" pitchFamily="18" charset="0"/>
                </a:rPr>
                <m:t>𝑁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no hay random splts</a:t>
          </a:r>
        </a:p>
      </dsp:txBody>
      <dsp:txXfrm>
        <a:off x="2239099" y="2991544"/>
        <a:ext cx="8276500" cy="1359793"/>
      </dsp:txXfrm>
    </dsp:sp>
    <dsp:sp modelId="{3160B71B-1B23-544C-B290-FBEB69C2E4EC}">
      <dsp:nvSpPr>
        <dsp:cNvPr id="0" name=""/>
        <dsp:cNvSpPr/>
      </dsp:nvSpPr>
      <dsp:spPr>
        <a:xfrm>
          <a:off x="135979" y="3127524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D2768-130B-614C-8F49-55BAE04AC9E5}" type="datetimeFigureOut">
              <a:rPr lang="es-ES_tradnl" smtClean="0"/>
              <a:t>19/5/26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82E8D-904F-FE4E-AEC7-40B6C99751F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397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0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5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937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Mas de la historia de Netflix </a:t>
            </a:r>
            <a:r>
              <a:rPr lang="es-ES_tradnl" dirty="0" err="1"/>
              <a:t>Prize</a:t>
            </a:r>
            <a:r>
              <a:rPr lang="es-ES_tradnl" dirty="0"/>
              <a:t>: https://</a:t>
            </a:r>
            <a:r>
              <a:rPr lang="es-ES_tradnl" dirty="0" err="1"/>
              <a:t>en.wikipedia.org</a:t>
            </a:r>
            <a:r>
              <a:rPr lang="es-ES_tradnl" dirty="0"/>
              <a:t>/wiki/</a:t>
            </a:r>
            <a:r>
              <a:rPr lang="es-ES_tradnl" dirty="0" err="1"/>
              <a:t>Netflix_Prize</a:t>
            </a:r>
            <a:r>
              <a:rPr lang="es-ES_tradnl" dirty="0"/>
              <a:t> </a:t>
            </a:r>
          </a:p>
          <a:p>
            <a:r>
              <a:rPr lang="es-ES_tradnl" dirty="0"/>
              <a:t>Mas sobre </a:t>
            </a:r>
            <a:r>
              <a:rPr lang="es-ES_tradnl" dirty="0" err="1"/>
              <a:t>AlixParteners</a:t>
            </a:r>
            <a:r>
              <a:rPr lang="es-ES_tradnl" dirty="0"/>
              <a:t>’ </a:t>
            </a:r>
            <a:r>
              <a:rPr lang="es-ES_tradnl" dirty="0" err="1"/>
              <a:t>Analytics</a:t>
            </a:r>
            <a:r>
              <a:rPr lang="es-ES_tradnl" dirty="0"/>
              <a:t> </a:t>
            </a:r>
            <a:r>
              <a:rPr lang="es-ES_tradnl" dirty="0" err="1"/>
              <a:t>Challange</a:t>
            </a:r>
            <a:r>
              <a:rPr lang="es-ES_tradnl" dirty="0"/>
              <a:t>: https://</a:t>
            </a:r>
            <a:r>
              <a:rPr lang="es-ES_tradnl" dirty="0" err="1"/>
              <a:t>www.alixpartners.com</a:t>
            </a:r>
            <a:r>
              <a:rPr lang="es-ES_tradnl" dirty="0"/>
              <a:t>/</a:t>
            </a:r>
            <a:r>
              <a:rPr lang="es-ES_tradnl" dirty="0" err="1"/>
              <a:t>insights-impact</a:t>
            </a:r>
            <a:r>
              <a:rPr lang="es-ES_tradnl" dirty="0"/>
              <a:t>/</a:t>
            </a:r>
            <a:r>
              <a:rPr lang="es-ES_tradnl" dirty="0" err="1"/>
              <a:t>insights</a:t>
            </a:r>
            <a:r>
              <a:rPr lang="es-ES_tradnl" dirty="0"/>
              <a:t>/</a:t>
            </a:r>
            <a:r>
              <a:rPr lang="es-ES_tradnl" dirty="0" err="1"/>
              <a:t>analytics-challenge</a:t>
            </a:r>
            <a:r>
              <a:rPr lang="es-ES_tradnl" dirty="0"/>
              <a:t>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8577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6243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8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Kohavi</a:t>
            </a:r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(1995): 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453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2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1494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4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DCD8-7EB1-8047-A2AB-6E788D18FADB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278C1CC4-2077-434E-BCF1-5D01C08A9B1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B5FB-DAF5-7B40-B1AF-35CC0811FEB7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7F60-1411-2B4A-BCD1-EC230BC346BD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7FEE9-12AE-DE4A-9EF2-994B40F4A4F9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CF93-EB58-8944-AD26-960900805666}" type="datetime1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4389-4B09-0E4D-871E-5E8550FB2FBA}" type="datetime1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0AA1-7772-2142-B489-05E017ABECE3}" type="datetime1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934C-98A6-0244-B4A6-EFCB81F46DCF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7429-5211-8E4F-85EE-D9BE49379DCA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8F9B8-4A84-6C44-97CE-404E82C7C5A6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047E-3421-884D-931C-76C19C9D605B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DD09F69E-A325-574B-B415-C02420AD2FBD}" type="datetime1">
              <a:rPr lang="en-US" noProof="0" smtClean="0"/>
              <a:t>5/19/26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endly.com/m-n-romero91/30min-office-hou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2.png"/><Relationship Id="rId5" Type="http://schemas.openxmlformats.org/officeDocument/2006/relationships/image" Target="../media/image251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Técnicas de Remuestreo: Cross-validation &amp; </a:t>
            </a:r>
            <a:r>
              <a:rPr lang="es-ES" sz="4400" kern="1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Bootstrapping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8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6FC5-0E53-6D4C-09A5-4C5B8E1A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600" dirty="0"/>
              <a:t>Cuestiones operativas del curso: </a:t>
            </a: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FB43-7DE0-04F0-9AC5-E468E02B464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TP4: </a:t>
            </a:r>
            <a:r>
              <a:rPr lang="es-ES_tradnl" dirty="0"/>
              <a:t>Disponible mañana. </a:t>
            </a:r>
            <a:r>
              <a:rPr lang="es-ES_tradnl" dirty="0">
                <a:solidFill>
                  <a:srgbClr val="FF0000"/>
                </a:solidFill>
              </a:rPr>
              <a:t>29 de mayo 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Email o </a:t>
            </a:r>
            <a:r>
              <a:rPr lang="es-ES_tradnl" dirty="0">
                <a:hlinkClick r:id="rId3"/>
              </a:rPr>
              <a:t>Calendly</a:t>
            </a:r>
            <a:endParaRPr lang="es-ES_tradnl" dirty="0"/>
          </a:p>
          <a:p>
            <a:pPr marL="0" indent="0">
              <a:lnSpc>
                <a:spcPct val="120000"/>
              </a:lnSpc>
              <a:buNone/>
            </a:pPr>
            <a:endParaRPr lang="es-ES_tradnl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D31DF-2AE7-1DEC-F2F5-AA775510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 Cuestiones operativas del curso: Recordatorios y Evento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Distinción del Error de Pronóstico y MSE, problema de overfitting y complejidad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Cross-validation -&gt; Ilustración con polinomios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Repaso rápido de </a:t>
            </a:r>
            <a:r>
              <a:rPr lang="es-ES_tradnl" dirty="0">
                <a:solidFill>
                  <a:srgbClr val="FF0000"/>
                </a:solidFill>
              </a:rPr>
              <a:t>Ley de grandes números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3.   </a:t>
            </a:r>
            <a:r>
              <a:rPr lang="es-ES_tradnl" dirty="0" err="1"/>
              <a:t>Bootstrapping</a:t>
            </a:r>
            <a:r>
              <a:rPr lang="es-ES_tradnl" dirty="0"/>
              <a:t> -&gt; Ilustración y una aplicación en economía 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de Pronóstico, MSE y Overfitting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2.2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</a:t>
            </a:r>
            <a:r>
              <a:rPr lang="en-US" b="1" dirty="0"/>
              <a:t> </a:t>
            </a:r>
            <a:r>
              <a:rPr lang="en-US" dirty="0"/>
              <a:t>Sosa Escudero, W., 2021, </a:t>
            </a:r>
            <a:r>
              <a:rPr lang="en-US" i="1" dirty="0"/>
              <a:t>Big data</a:t>
            </a:r>
            <a:r>
              <a:rPr lang="en-US" dirty="0"/>
              <a:t>, 7a </a:t>
            </a:r>
            <a:r>
              <a:rPr lang="en-US" dirty="0" err="1"/>
              <a:t>edición</a:t>
            </a:r>
            <a:r>
              <a:rPr lang="en-US" dirty="0"/>
              <a:t>, </a:t>
            </a:r>
            <a:r>
              <a:rPr lang="en-US" dirty="0" err="1"/>
              <a:t>Siglo</a:t>
            </a:r>
            <a:r>
              <a:rPr lang="en-US" dirty="0"/>
              <a:t> XXI </a:t>
            </a:r>
            <a:r>
              <a:rPr lang="en-US" dirty="0" err="1"/>
              <a:t>Editores</a:t>
            </a:r>
            <a:r>
              <a:rPr lang="en-US" dirty="0"/>
              <a:t>. </a:t>
            </a:r>
            <a:r>
              <a:rPr lang="en-US" b="1" dirty="0"/>
              <a:t>Cap 5</a:t>
            </a:r>
          </a:p>
          <a:p>
            <a:r>
              <a:rPr lang="en-US" sz="18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7.2</a:t>
            </a:r>
          </a:p>
          <a:p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7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Sea el modelo de dos predictores: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Discusión</a:t>
                </a:r>
                <a:r>
                  <a:rPr lang="es-ES_tradnl" dirty="0"/>
                  <a:t>: Omisión de variables relevantes vs. inclusión de variables irrelevantes.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i="1" dirty="0">
                    <a:solidFill>
                      <a:srgbClr val="002060"/>
                    </a:solidFill>
                  </a:rPr>
                  <a:t>Trade off</a:t>
                </a:r>
                <a:r>
                  <a:rPr lang="es-ES_tradnl" dirty="0"/>
                  <a:t>: modelos más ‘complejos’ tienden a ser menos sesgados, pero con mayor varianza.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Complejidad: ¿número de variables?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Preferencia ‘lexicográfica’ por la </a:t>
                </a:r>
                <a:r>
                  <a:rPr lang="es-ES_tradnl" dirty="0">
                    <a:solidFill>
                      <a:srgbClr val="002060"/>
                    </a:solidFill>
                  </a:rPr>
                  <a:t>insesgadez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minimizar ECM </a:t>
                </a:r>
                <a:r>
                  <a:rPr lang="es-ES_tradnl" dirty="0"/>
                  <a:t>es </a:t>
                </a:r>
                <a:r>
                  <a:rPr lang="es-ES_tradnl" dirty="0">
                    <a:solidFill>
                      <a:srgbClr val="7030A0"/>
                    </a:solidFill>
                  </a:rPr>
                  <a:t>minimizar varianza</a:t>
                </a:r>
                <a:r>
                  <a:rPr lang="es-ES_tradnl" dirty="0"/>
                  <a:t>. 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Desafío</a:t>
                </a:r>
                <a:r>
                  <a:rPr lang="es-ES_tradnl" dirty="0"/>
                  <a:t>: tolerar </a:t>
                </a:r>
                <a:r>
                  <a:rPr lang="es-ES_tradnl" dirty="0">
                    <a:solidFill>
                      <a:srgbClr val="002060"/>
                    </a:solidFill>
                  </a:rPr>
                  <a:t>sesgos</a:t>
                </a:r>
                <a:r>
                  <a:rPr lang="es-ES_tradnl" dirty="0"/>
                  <a:t> para bajar considerablemente la varianza.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E42B7-7B7A-06B6-965D-FAB471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 problema de Overfitting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D426E6-D618-C483-9539-62233E71E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11292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s-ES_tradnl" dirty="0" err="1">
                <a:solidFill>
                  <a:srgbClr val="002060"/>
                </a:solidFill>
              </a:rPr>
              <a:t>Overfit</a:t>
            </a:r>
            <a:r>
              <a:rPr lang="es-ES_tradnl" dirty="0"/>
              <a:t>: ‘</a:t>
            </a:r>
            <a:r>
              <a:rPr lang="es-ES_tradnl" i="1" dirty="0" err="1"/>
              <a:t>sobreajustar</a:t>
            </a:r>
            <a:r>
              <a:rPr lang="es-ES_tradnl" dirty="0"/>
              <a:t>’  el </a:t>
            </a:r>
            <a:r>
              <a:rPr lang="es-ES_tradnl" dirty="0">
                <a:solidFill>
                  <a:srgbClr val="002060"/>
                </a:solidFill>
              </a:rPr>
              <a:t>sesgo,</a:t>
            </a:r>
            <a:r>
              <a:rPr lang="es-ES_tradnl" dirty="0"/>
              <a:t> aumenta considerablemente la varianza.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experimental</a:t>
            </a:r>
            <a:r>
              <a:rPr lang="es-ES_tradnl" dirty="0"/>
              <a:t>: problema ‘</a:t>
            </a:r>
            <a:r>
              <a:rPr lang="es-ES_tradnl" dirty="0">
                <a:solidFill>
                  <a:srgbClr val="002060"/>
                </a:solidFill>
              </a:rPr>
              <a:t>menor</a:t>
            </a:r>
            <a:r>
              <a:rPr lang="es-ES_tradnl" dirty="0"/>
              <a:t>’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Machine Learning</a:t>
            </a:r>
            <a:r>
              <a:rPr lang="es-ES_tradnl" dirty="0"/>
              <a:t>: problema </a:t>
            </a:r>
            <a:r>
              <a:rPr lang="es-ES_tradnl" dirty="0">
                <a:solidFill>
                  <a:srgbClr val="002060"/>
                </a:solidFill>
              </a:rPr>
              <a:t>central</a:t>
            </a:r>
          </a:p>
          <a:p>
            <a:pPr>
              <a:lnSpc>
                <a:spcPct val="120000"/>
              </a:lnSpc>
            </a:pPr>
            <a:endParaRPr lang="es-ES_tradnl" dirty="0">
              <a:solidFill>
                <a:srgbClr val="002060"/>
              </a:solidFill>
            </a:endParaRPr>
          </a:p>
        </p:txBody>
      </p:sp>
      <p:pic>
        <p:nvPicPr>
          <p:cNvPr id="8" name="Content Placeholder 7" descr="A close-up of a graph&#10;&#10;Description automatically generated">
            <a:extLst>
              <a:ext uri="{FF2B5EF4-FFF2-40B4-BE49-F238E27FC236}">
                <a16:creationId xmlns:a16="http://schemas.microsoft.com/office/drawing/2014/main" id="{78D76834-7F41-11EB-44E6-264289F03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9492" y="1825625"/>
            <a:ext cx="7406264" cy="37484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87E9-CEAB-6AB7-BC39-1C33553B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798CC-0766-3E77-CD62-6253F71840CD}"/>
              </a:ext>
            </a:extLst>
          </p:cNvPr>
          <p:cNvSpPr txBox="1"/>
          <p:nvPr/>
        </p:nvSpPr>
        <p:spPr>
          <a:xfrm>
            <a:off x="4800601" y="57062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WSE, 2019, </a:t>
            </a:r>
            <a:r>
              <a:rPr lang="en-US" sz="1600" i="1" dirty="0">
                <a:effectLst/>
                <a:latin typeface="Gill Sans Nova Light" panose="020B0302020104020203" pitchFamily="34" charset="0"/>
              </a:rPr>
              <a:t>Big data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Siglo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XXI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Editores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capitulo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07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C203-0825-04BA-586C-E42F85C1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En la práctica, Suma de los Residuos al Cuadrado (MSE):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(1)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5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1503A-D5E0-34A8-A639-49D5B8C9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F3B-DFBC-4E4D-68C3-2B93ECDF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A5D7-7DC3-A1C1-BF88-F9D56DB5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 Suma de los Residuos al Cuadrado (MSE):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Ideal</a:t>
                </a:r>
                <a:r>
                  <a:rPr lang="es-ES_tradnl" dirty="0"/>
                  <a:t>: Ser buenos prediciendo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nuevos datos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predicción de retorno de acciones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Entrenamiento -&gt; uso datos de las ultimas 6 semanas para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Testeo -&gt; ¿seremos buenos para predecir el precio de mañana?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¿Otro ejemplo?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15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6238-8FF2-ABD2-29D0-AF9C144C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2AF-CF1D-BD4E-FE76-EC53AA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Validación y Aprendizaje Automático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Muestras: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Entrenamiento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𝑡𝑟𝑎𝑖𝑛𝑖𝑛𝑔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Testeo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Elegir modelo que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Cuando se </a:t>
                </a:r>
                <a:r>
                  <a:rPr lang="es-ES_tradnl" dirty="0">
                    <a:solidFill>
                      <a:srgbClr val="FF0000"/>
                    </a:solidFill>
                  </a:rPr>
                  <a:t>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s-ES_tradnl" dirty="0"/>
                  <a:t>, se cae en el problema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endParaRPr lang="es-ES_tradnl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60D8C-0163-D5E7-1919-40F0E24C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01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D6E4-85A9-CA08-E71B-A9C22E90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AFB4-DEF1-CB6B-90BC-51650DA4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MSE </a:t>
            </a:r>
            <a:r>
              <a:rPr lang="es-ES_tradnl" i="1" dirty="0"/>
              <a:t>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En la práctica, implica usamos </a:t>
                </a:r>
                <a:r>
                  <a:rPr lang="es-ES_tradnl" dirty="0">
                    <a:solidFill>
                      <a:srgbClr val="00B050"/>
                    </a:solidFill>
                  </a:rPr>
                  <a:t>nuevo set de datos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no usado 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. Reemplazamos en (1):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(2)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3139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4302F-2170-33D8-1BE7-25DFCFCA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79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CAF4-E036-0C22-CCCA-903D8067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6AA1-33DA-F0EB-C8D6-F497D27E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Trade-off sesgo-varianza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682ED-696E-CDDB-0D83-DA86407C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s-ES_tradnl" dirty="0"/>
              <a:t>Teóricamente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ES_trad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sz="2400" dirty="0"/>
              </a:p>
              <a:p>
                <a:pPr>
                  <a:lnSpc>
                    <a:spcPct val="160000"/>
                  </a:lnSpc>
                </a:pPr>
                <a:r>
                  <a:rPr lang="es-ES_tradnl" sz="2400" dirty="0"/>
                  <a:t>¿Cuál término es reducible? ¿Por qué?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/>
                  <a:t>Con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s-ES_tradnl" sz="2400" dirty="0"/>
                  <a:t> estimamos </a:t>
                </a:r>
                <a14:m>
                  <m:oMath xmlns:m="http://schemas.openxmlformats.org/officeDocument/2006/math">
                    <m:r>
                      <a:rPr lang="es-ES_tradnl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s-ES_tradnl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2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36E1D9-6B19-0CED-5201-E116EE2BA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s-ES_tradnl" dirty="0"/>
              <a:t>Visualización teórica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1B3A7-9BFE-721D-321E-BDB4BE44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212508A-1813-FF51-E0F9-E105DD87A356}"/>
              </a:ext>
            </a:extLst>
          </p:cNvPr>
          <p:cNvGrpSpPr/>
          <p:nvPr/>
        </p:nvGrpSpPr>
        <p:grpSpPr>
          <a:xfrm>
            <a:off x="6194427" y="2423899"/>
            <a:ext cx="5375589" cy="4013628"/>
            <a:chOff x="5780092" y="1945245"/>
            <a:chExt cx="5516874" cy="4948272"/>
          </a:xfrm>
        </p:grpSpPr>
        <p:cxnSp>
          <p:nvCxnSpPr>
            <p:cNvPr id="19" name="Straight Arrow Connector 7">
              <a:extLst>
                <a:ext uri="{FF2B5EF4-FFF2-40B4-BE49-F238E27FC236}">
                  <a16:creationId xmlns:a16="http://schemas.microsoft.com/office/drawing/2014/main" id="{E2E4FD79-947F-C772-9261-E0D84E4C0A75}"/>
                </a:ext>
              </a:extLst>
            </p:cNvPr>
            <p:cNvCxnSpPr>
              <a:cxnSpLocks/>
            </p:cNvCxnSpPr>
            <p:nvPr/>
          </p:nvCxnSpPr>
          <p:spPr>
            <a:xfrm>
              <a:off x="5780092" y="6218161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8">
              <a:extLst>
                <a:ext uri="{FF2B5EF4-FFF2-40B4-BE49-F238E27FC236}">
                  <a16:creationId xmlns:a16="http://schemas.microsoft.com/office/drawing/2014/main" id="{C60ECECA-D34E-AC21-4016-5A807CA61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092" y="2270049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110FD9EA-A432-2622-6945-1A62C29FA75D}"/>
                </a:ext>
              </a:extLst>
            </p:cNvPr>
            <p:cNvSpPr/>
            <p:nvPr/>
          </p:nvSpPr>
          <p:spPr>
            <a:xfrm>
              <a:off x="6054412" y="2575801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C2C8185E-96B9-AC07-C1C4-197934CC7059}"/>
                </a:ext>
              </a:extLst>
            </p:cNvPr>
            <p:cNvSpPr/>
            <p:nvPr/>
          </p:nvSpPr>
          <p:spPr>
            <a:xfrm>
              <a:off x="6054412" y="4160760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cxnSp>
          <p:nvCxnSpPr>
            <p:cNvPr id="23" name="Straight Connector 13">
              <a:extLst>
                <a:ext uri="{FF2B5EF4-FFF2-40B4-BE49-F238E27FC236}">
                  <a16:creationId xmlns:a16="http://schemas.microsoft.com/office/drawing/2014/main" id="{4E1D0787-24FB-6D7B-EA5D-44FE243DE148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>
              <a:off x="7837492" y="4160456"/>
              <a:ext cx="15240" cy="2057705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529364E-DB12-D1A5-A75B-2A93E490E500}"/>
                </a:ext>
              </a:extLst>
            </p:cNvPr>
            <p:cNvSpPr/>
            <p:nvPr/>
          </p:nvSpPr>
          <p:spPr>
            <a:xfrm>
              <a:off x="6092522" y="4160760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5" name="TextBox 18">
              <a:extLst>
                <a:ext uri="{FF2B5EF4-FFF2-40B4-BE49-F238E27FC236}">
                  <a16:creationId xmlns:a16="http://schemas.microsoft.com/office/drawing/2014/main" id="{3196FDD4-5E0C-566E-6982-871BB1A53093}"/>
                </a:ext>
              </a:extLst>
            </p:cNvPr>
            <p:cNvSpPr txBox="1"/>
            <p:nvPr/>
          </p:nvSpPr>
          <p:spPr>
            <a:xfrm>
              <a:off x="9087167" y="6392960"/>
              <a:ext cx="2042159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ABB3D8C3-EBE5-7EA3-1D5E-C9CE270602C0}"/>
                </a:ext>
              </a:extLst>
            </p:cNvPr>
            <p:cNvSpPr txBox="1"/>
            <p:nvPr/>
          </p:nvSpPr>
          <p:spPr>
            <a:xfrm>
              <a:off x="5810574" y="1945245"/>
              <a:ext cx="1234438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/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/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/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3837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88F7-19A5-5294-327D-F1D2B42B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9571-AA9B-880E-5756-0743E731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Muestras de Entrenamiento y Testeo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D909C-2EFC-D7E8-84E5-52AE723A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Muestra de Entrenamiento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Seleccionamos la complejidad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con datos de entrenamiento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FF0000"/>
                    </a:solidFill>
                  </a:rPr>
                  <a:t>dentro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(2)</m:t>
                      </m:r>
                    </m:oMath>
                  </m:oMathPara>
                </a14:m>
                <a:endParaRPr lang="es-ES_tradnl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966" t="-1375" b="-3264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BFB8B0-3182-6203-0C02-A7B781A1A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/>
              <a:t>Muestra de testeo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Evaluamos</a:t>
                </a:r>
                <a:r>
                  <a:rPr lang="es-ES_tradnl" dirty="0"/>
                  <a:t> el error de predicción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con datos de testeo no usados en estimar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00B050"/>
                    </a:solidFill>
                  </a:rPr>
                  <a:t>afuera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956" t="-1718" b="-443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1EFB1-ADD5-7688-B78C-24703FAE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9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238F4-F8E7-46A1-004E-61259EB5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1746-A7B1-DA64-A753-0803F483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lineal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7DC5B-D762-A196-3AC1-EB22BCEF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pic>
        <p:nvPicPr>
          <p:cNvPr id="8" name="Content Placeholder 7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1F3EDAC5-9A83-F472-00DB-CA67FFA20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673" y="1690688"/>
            <a:ext cx="8443091" cy="466566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B1BA16-B48E-E0A8-5605-92C16A7E2C03}"/>
              </a:ext>
            </a:extLst>
          </p:cNvPr>
          <p:cNvSpPr txBox="1"/>
          <p:nvPr/>
        </p:nvSpPr>
        <p:spPr>
          <a:xfrm>
            <a:off x="380238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31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/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/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541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223E-BB53-C509-28D8-84B4E1D6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no lineal </a:t>
            </a:r>
          </a:p>
        </p:txBody>
      </p:sp>
      <p:pic>
        <p:nvPicPr>
          <p:cNvPr id="6" name="Content Placeholder 5" descr="A comparison of graphs and diagrams&#10;&#10;Description automatically generated with medium confidence">
            <a:extLst>
              <a:ext uri="{FF2B5EF4-FFF2-40B4-BE49-F238E27FC236}">
                <a16:creationId xmlns:a16="http://schemas.microsoft.com/office/drawing/2014/main" id="{ED5F3929-5CE9-8479-C5B7-602489849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609" y="1690688"/>
            <a:ext cx="8246782" cy="45504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D47A-1534-B46F-8875-36BA4600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2438A-B684-0A2B-64CA-16A9166D57A1}"/>
              </a:ext>
            </a:extLst>
          </p:cNvPr>
          <p:cNvSpPr txBox="1"/>
          <p:nvPr/>
        </p:nvSpPr>
        <p:spPr>
          <a:xfrm>
            <a:off x="3596343" y="624111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29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/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/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375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98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resumen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Overfit</a:t>
                </a:r>
                <a:r>
                  <a:rPr lang="es-ES_tradnl" dirty="0"/>
                  <a:t>: modelos extremadamente complejos predicen muy bien dentro de la muestra y muy mal fuera de ella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con aprendizaje automático </a:t>
                </a:r>
                <a:r>
                  <a:rPr lang="es-ES_tradnl" dirty="0"/>
                  <a:t>haciendo particiones de los datos disponibles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Objetivo</a:t>
                </a:r>
                <a:r>
                  <a:rPr lang="es-ES_tradnl" dirty="0"/>
                  <a:t> de Métodos de Remuestreo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Elegir</a:t>
                </a:r>
                <a:r>
                  <a:rPr lang="es-ES_tradnl" dirty="0"/>
                  <a:t> el nivel de complejidad optimo </a:t>
                </a:r>
                <a:r>
                  <a:rPr lang="es-ES_tradnl" i="1" dirty="0"/>
                  <a:t>(</a:t>
                </a:r>
                <a:r>
                  <a:rPr lang="es-ES_tradnl" dirty="0" err="1"/>
                  <a:t>Model</a:t>
                </a:r>
                <a:r>
                  <a:rPr lang="es-ES_tradnl" dirty="0"/>
                  <a:t> </a:t>
                </a:r>
                <a:r>
                  <a:rPr lang="es-ES_tradnl" dirty="0" err="1"/>
                  <a:t>selection</a:t>
                </a:r>
                <a:r>
                  <a:rPr lang="es-ES_tradnl" i="1" dirty="0"/>
                  <a:t>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Evaluar</a:t>
                </a:r>
                <a:r>
                  <a:rPr lang="es-ES_tradnl" dirty="0"/>
                  <a:t> el error de pronóstico </a:t>
                </a:r>
                <a:r>
                  <a:rPr lang="es-ES_tradnl" dirty="0">
                    <a:solidFill>
                      <a:srgbClr val="002060"/>
                    </a:solidFill>
                  </a:rPr>
                  <a:t>fuera</a:t>
                </a:r>
                <a:r>
                  <a:rPr lang="es-ES_tradnl" dirty="0"/>
                  <a:t> de la muestra (futura, condicional, contra fáctica, etc.) </a:t>
                </a:r>
                <a:r>
                  <a:rPr lang="es-ES_tradnl" i="1" dirty="0"/>
                  <a:t>(</a:t>
                </a:r>
                <a:r>
                  <a:rPr lang="es-ES_tradnl" dirty="0" err="1"/>
                  <a:t>Model</a:t>
                </a:r>
                <a:r>
                  <a:rPr lang="es-ES_tradnl" dirty="0"/>
                  <a:t> </a:t>
                </a:r>
                <a:r>
                  <a:rPr lang="es-ES_tradnl" dirty="0" err="1"/>
                  <a:t>Assesment</a:t>
                </a:r>
                <a:r>
                  <a:rPr lang="es-ES_tradnl" i="1" dirty="0"/>
                  <a:t>)</a:t>
                </a: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>
                    <a:solidFill>
                      <a:srgbClr val="7030A0"/>
                    </a:solidFill>
                  </a:rPr>
                  <a:t> no funciona: </a:t>
                </a:r>
                <a:r>
                  <a:rPr lang="es-ES_tradnl" dirty="0"/>
                  <a:t>mide predicción </a:t>
                </a:r>
                <a:r>
                  <a:rPr lang="es-ES_tradnl" dirty="0">
                    <a:solidFill>
                      <a:srgbClr val="7030A0"/>
                    </a:solidFill>
                  </a:rPr>
                  <a:t>dentro</a:t>
                </a:r>
                <a:r>
                  <a:rPr lang="es-ES_tradnl" dirty="0"/>
                  <a:t> de la muestra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r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C1271-A673-28B6-4390-F6ABC72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0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6BF0-6784-7FA3-DDC1-12F5A51A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Mercado de Trabajo</a:t>
            </a:r>
          </a:p>
        </p:txBody>
      </p:sp>
      <p:pic>
        <p:nvPicPr>
          <p:cNvPr id="13" name="Content Placeholder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4CA199A-F53A-1198-A032-21E4583C4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6841" y="1555924"/>
            <a:ext cx="7523252" cy="444192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46DB1-966E-2B8D-A601-EA661FFA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328A3D-32FC-4D4D-B4B7-6220C376744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456841" y="5897064"/>
            <a:ext cx="4942668" cy="45928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_tradnl" sz="1400" dirty="0"/>
              <a:t>Fuente: Consultora </a:t>
            </a:r>
            <a:r>
              <a:rPr lang="es-ES_tradnl" sz="1400" dirty="0" err="1"/>
              <a:t>AlixPartner</a:t>
            </a:r>
            <a:r>
              <a:rPr lang="es-ES_tradnl" sz="1400" dirty="0"/>
              <a:t> (2023)</a:t>
            </a:r>
          </a:p>
        </p:txBody>
      </p:sp>
    </p:spTree>
    <p:extLst>
      <p:ext uri="{BB962C8B-B14F-4D97-AF65-F5344CB8AC3E}">
        <p14:creationId xmlns:p14="http://schemas.microsoft.com/office/powerpoint/2010/main" val="358482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89C3-4999-7321-D699-0EF1CF3A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Enfoque de Validación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Separar datos para:</a:t>
                </a:r>
              </a:p>
              <a:p>
                <a:pPr lvl="1"/>
                <a:r>
                  <a:rPr lang="es-ES_tradnl" dirty="0"/>
                  <a:t>Muestra de entrenamiento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</a:t>
                </a:r>
                <a:r>
                  <a:rPr lang="es-ES_tradnl" dirty="0">
                    <a:solidFill>
                      <a:schemeClr val="tx1"/>
                    </a:solidFill>
                  </a:rPr>
                  <a:t>estimamos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s-ES_tradnl" dirty="0"/>
                  <a:t>Muestra de testeo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evaluamos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09A6-8010-2D0F-2FEE-15503515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A black arrow pointing to a rectangular object&#10;&#10;Description automatically generated">
            <a:extLst>
              <a:ext uri="{FF2B5EF4-FFF2-40B4-BE49-F238E27FC236}">
                <a16:creationId xmlns:a16="http://schemas.microsoft.com/office/drawing/2014/main" id="{69F02D01-8C04-AB1E-D159-AAE5E3869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24" y="3429000"/>
            <a:ext cx="7467352" cy="22610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/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𝑟𝑎𝑖𝑛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/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𝑡𝑒𝑠𝑡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D6A9A7-591C-53C8-65FB-01989DF0B749}"/>
              </a:ext>
            </a:extLst>
          </p:cNvPr>
          <p:cNvSpPr txBox="1"/>
          <p:nvPr/>
        </p:nvSpPr>
        <p:spPr>
          <a:xfrm>
            <a:off x="3672317" y="582700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33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5D7A-CC17-1083-24EE-49C45A63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5-fold </a:t>
            </a:r>
            <a:r>
              <a:rPr lang="es-ES_tradnl" dirty="0" err="1"/>
              <a:t>cross</a:t>
            </a:r>
            <a:r>
              <a:rPr lang="es-ES_tradnl" dirty="0"/>
              <a:t> </a:t>
            </a:r>
            <a:r>
              <a:rPr lang="es-ES_tradnl" dirty="0" err="1"/>
              <a:t>validation</a:t>
            </a:r>
            <a:endParaRPr lang="es-ES_tradnl" dirty="0"/>
          </a:p>
        </p:txBody>
      </p:sp>
      <p:pic>
        <p:nvPicPr>
          <p:cNvPr id="6" name="Content Placeholder 5" descr="A diagram with a black arrow pointing to a blue and orange rectangle&#10;&#10;Description automatically generated">
            <a:extLst>
              <a:ext uri="{FF2B5EF4-FFF2-40B4-BE49-F238E27FC236}">
                <a16:creationId xmlns:a16="http://schemas.microsoft.com/office/drawing/2014/main" id="{56CDCC88-300A-27C2-E4D9-C2EDF2DE7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325" y="1594209"/>
            <a:ext cx="8492665" cy="45431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EBB85-A7DF-2A2C-1F86-702F6EB8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A80C5-98A7-A38B-758E-FEF1F0841BC2}"/>
              </a:ext>
            </a:extLst>
          </p:cNvPr>
          <p:cNvSpPr txBox="1"/>
          <p:nvPr/>
        </p:nvSpPr>
        <p:spPr>
          <a:xfrm>
            <a:off x="183642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/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/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/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/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/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976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F365-6430-4FC5-EADB-3829B384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MSE test para datos de auto</a:t>
            </a:r>
          </a:p>
        </p:txBody>
      </p:sp>
      <p:pic>
        <p:nvPicPr>
          <p:cNvPr id="6" name="Content Placeholder 5" descr="A graph of a number of graphs&#10;&#10;Description automatically generated with medium confidence">
            <a:extLst>
              <a:ext uri="{FF2B5EF4-FFF2-40B4-BE49-F238E27FC236}">
                <a16:creationId xmlns:a16="http://schemas.microsoft.com/office/drawing/2014/main" id="{5C6B1497-26BB-5730-D02B-8A39D39BB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076" y="1365224"/>
            <a:ext cx="10773847" cy="46656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175EA-AD98-51DD-EDF9-5BA786D0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6D128-DFA8-A42F-F406-3BAE18855561}"/>
              </a:ext>
            </a:extLst>
          </p:cNvPr>
          <p:cNvSpPr txBox="1"/>
          <p:nvPr/>
        </p:nvSpPr>
        <p:spPr>
          <a:xfrm>
            <a:off x="3581401" y="603088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BBF7706-1D46-F4F2-2FDD-39AB2704A856}"/>
              </a:ext>
            </a:extLst>
          </p:cNvPr>
          <p:cNvSpPr txBox="1"/>
          <p:nvPr/>
        </p:nvSpPr>
        <p:spPr>
          <a:xfrm>
            <a:off x="3272446" y="1365224"/>
            <a:ext cx="850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B22BD9F0-A7E7-0DA0-1E2B-EF6121AECCFF}"/>
              </a:ext>
            </a:extLst>
          </p:cNvPr>
          <p:cNvSpPr txBox="1"/>
          <p:nvPr/>
        </p:nvSpPr>
        <p:spPr>
          <a:xfrm>
            <a:off x="8736677" y="1330200"/>
            <a:ext cx="1122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K=10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56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validation: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Partir datos al azar en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partes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Ajustar el modelo dejando afuera una de las particiones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el error de predicción para los datos no utilizados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La estimación por cross-validation del error de predicción 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es la predicción hecha cuando la </a:t>
                </a:r>
                <a:r>
                  <a:rPr lang="es-ES_tradnl" dirty="0">
                    <a:solidFill>
                      <a:srgbClr val="00B050"/>
                    </a:solidFill>
                  </a:rPr>
                  <a:t>observación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no fue usada </a:t>
                </a:r>
                <a:r>
                  <a:rPr lang="es-ES_tradnl" dirty="0"/>
                  <a:t>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" b="-162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53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 (continua)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observación es usada en dos roles: entrenamiento y test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: estima el modelo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datos.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: no hay test data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: ‘</a:t>
                </a:r>
                <a:r>
                  <a:rPr lang="es-ES_tradnl" i="1" dirty="0" err="1"/>
                  <a:t>leave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one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out</a:t>
                </a:r>
                <a:r>
                  <a:rPr lang="es-ES_tradnl" dirty="0"/>
                  <a:t>’ (LOOV). Ir dejando de lado una observación por vez. Estima el modelo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s-ES_tradnl" dirty="0"/>
                  <a:t>datos.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blue and white lines with a black arrow pointing to the top&#10;&#10;Description automatically generated">
            <a:extLst>
              <a:ext uri="{FF2B5EF4-FFF2-40B4-BE49-F238E27FC236}">
                <a16:creationId xmlns:a16="http://schemas.microsoft.com/office/drawing/2014/main" id="{EE4AD716-2957-320E-72ED-B516F5D87A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6123305" cy="33172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8B473-C72C-4757-06B4-1F79DECE37AD}"/>
              </a:ext>
            </a:extLst>
          </p:cNvPr>
          <p:cNvSpPr txBox="1"/>
          <p:nvPr/>
        </p:nvSpPr>
        <p:spPr>
          <a:xfrm>
            <a:off x="6019800" y="54110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205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09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61BFA-446F-49D4-C721-72531759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</a:t>
            </a:r>
            <a:r>
              <a:rPr lang="es-ES_tradnl" dirty="0" err="1"/>
              <a:t>sintesis</a:t>
            </a:r>
            <a:r>
              <a:rPr lang="es-ES_tradnl" dirty="0"/>
              <a:t>: Cross-Validation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9405938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FE90BF-8B07-C585-A261-0CC4D61F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E1FF9D-F6C3-51E4-8847-F4DAD8132F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596" y="2250831"/>
            <a:ext cx="1964067" cy="5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0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4A4E-B06A-35E2-F00A-2C1DC47E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 para </a:t>
            </a:r>
            <a:r>
              <a:rPr lang="en-US" dirty="0" err="1"/>
              <a:t>clasificación</a:t>
            </a:r>
            <a:r>
              <a:rPr lang="en-US" dirty="0"/>
              <a:t>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Tasa de error de LOOCV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¿a quiénes incluye esta tasa de error?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5523" b="-107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7394C10-D9CB-816A-11EB-25D312644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881533" y="2145391"/>
            <a:ext cx="3094374" cy="3385873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C88603-E217-BDE1-2ECF-BCC4C104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F75CE7-7088-C2CD-CAA5-EE7395CF1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21" y="2145391"/>
            <a:ext cx="3228912" cy="34419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/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blipFill>
                <a:blip r:embed="rId5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/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3561B1FF-3589-7613-08BB-1168B064EC74}"/>
              </a:ext>
            </a:extLst>
          </p:cNvPr>
          <p:cNvSpPr txBox="1"/>
          <p:nvPr/>
        </p:nvSpPr>
        <p:spPr>
          <a:xfrm>
            <a:off x="6019800" y="6187073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210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21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7284-01B2-6A0F-FAD8-C6608B4B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E629-4DAC-879A-7972-48EBF91A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F844C-3C1C-BAE9-5EA4-62B69EA9D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F8D52-8620-FFF7-829E-773920B3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6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rápido de la Ley de Grandes Números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99CE-AB55-B346-755A-A5EC3A52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40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Ley de Grandes Números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una sucesión de variables aleatorias escalares. Considere la siguiente sucesión: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Ley de grandes números (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Kolmogorov</a:t>
                </a:r>
                <a:r>
                  <a:rPr lang="es-ES_tradnl" dirty="0">
                    <a:solidFill>
                      <a:srgbClr val="FF0000"/>
                    </a:solidFill>
                  </a:rPr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 finita, Entonces: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b="-6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E5CD0-FD32-799F-BDB1-5F9DDC6D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5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𝑀𝑆𝐸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ES_tradnl" b="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Computamos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cada partición y luego promediamos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Nos aproximamos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(es como 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49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K-fold cross validation: </a:t>
                </a:r>
                <a:r>
                  <a:rPr lang="en-US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Elección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chico</a:t>
                </a:r>
                <a:r>
                  <a:rPr lang="es-ES_tradnl" dirty="0"/>
                  <a:t>: maximiza datos para estimar, sensible a los valores particulares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grande</a:t>
                </a:r>
                <a:r>
                  <a:rPr lang="es-ES_tradnl" dirty="0"/>
                  <a:t>: maximiza datos para evaluar, modelo estimado menos precisamente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Regla en la práctica</a:t>
                </a:r>
                <a:r>
                  <a:rPr lang="es-ES_tradnl" dirty="0"/>
                  <a:t>: 5 0 10 (Ver </a:t>
                </a:r>
                <a:r>
                  <a:rPr lang="es-ES_tradnl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Kohavi</a:t>
                </a:r>
                <a:r>
                  <a:rPr lang="es-ES_tradnl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(1995)</a:t>
                </a:r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09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r>
              <a:rPr lang="es-ES_tradnl" dirty="0"/>
              <a:t> para la elección de modelos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Supongamos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parametriza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complejidad</a:t>
                </a:r>
                <a:r>
                  <a:rPr lang="es-ES_tradnl" dirty="0"/>
                  <a:t> de un modelo.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grado de polinomio en nuestro caso inicial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Cross </a:t>
                </a:r>
                <a:r>
                  <a:rPr lang="es-ES_tradnl" dirty="0" err="1"/>
                  <a:t>validation</a:t>
                </a:r>
                <a:r>
                  <a:rPr lang="es-ES_tradnl" dirty="0"/>
                  <a:t> para un modelo indexado por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:</a:t>
                </a: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_tradnl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computar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s-ES_tradnl" dirty="0"/>
                  <a:t> para una grilla de valores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y minimizar.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error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𝐶𝑉</m:t>
                    </m:r>
                  </m:oMath>
                </a14:m>
                <a:r>
                  <a:rPr lang="es-ES_tradnl" dirty="0"/>
                  <a:t> para distintos grados de polinomio, elegir el que 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" b="-183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0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Elección del grado de un polinomio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Content Placeholder 5" descr="A comparison of graphs with numbers&#10;&#10;Description automatically generated with medium confidence">
            <a:extLst>
              <a:ext uri="{FF2B5EF4-FFF2-40B4-BE49-F238E27FC236}">
                <a16:creationId xmlns:a16="http://schemas.microsoft.com/office/drawing/2014/main" id="{64FDE736-7F77-9E51-2ECC-A6DF88C43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700" y="2013744"/>
            <a:ext cx="9118600" cy="39751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/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/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A5E0486-EC23-C22E-7BED-212CAA61E639}"/>
              </a:ext>
            </a:extLst>
          </p:cNvPr>
          <p:cNvSpPr txBox="1"/>
          <p:nvPr/>
        </p:nvSpPr>
        <p:spPr>
          <a:xfrm>
            <a:off x="1536700" y="597334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2023. p.</a:t>
            </a:r>
            <a:r>
              <a:rPr lang="en-US" sz="1600" dirty="0">
                <a:latin typeface="Gill Sans Nova Light" panose="020B0302020104020203" pitchFamily="34" charset="0"/>
              </a:rPr>
              <a:t>206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231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5.2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07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conocido: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 muestral y estimación de la Varianza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ES_tradnl" dirty="0"/>
                  <a:t> ambas finitas</a:t>
                </a:r>
              </a:p>
              <a:p>
                <a:r>
                  <a:rPr lang="es-ES_tradnl" dirty="0"/>
                  <a:t>Queremos estimar la varianza de la media muestral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con: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b="-5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50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Bootstrap: Método alternativo “sin formula”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 datos originales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tomar una muestra </a:t>
                </a:r>
                <a:r>
                  <a:rPr lang="es-ES_tradnl" dirty="0">
                    <a:solidFill>
                      <a:srgbClr val="FF0000"/>
                    </a:solidFill>
                  </a:rPr>
                  <a:t>con reposición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media muestral con esta </a:t>
                </a:r>
                <a:r>
                  <a:rPr lang="es-ES_tradnl" dirty="0">
                    <a:solidFill>
                      <a:srgbClr val="002060"/>
                    </a:solidFill>
                  </a:rPr>
                  <a:t>pseudo-muestra</a:t>
                </a:r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veces. Al finalizar tendremos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de media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medias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25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10E3-54E1-30D2-E66E-58BB9AE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Bootstrap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9FAB8-61E4-9C79-60FC-ED9E5AB6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pic>
        <p:nvPicPr>
          <p:cNvPr id="10" name="Content Placeholder 9" descr="A diagram of a data flow&#10;&#10;Description automatically generated">
            <a:extLst>
              <a:ext uri="{FF2B5EF4-FFF2-40B4-BE49-F238E27FC236}">
                <a16:creationId xmlns:a16="http://schemas.microsoft.com/office/drawing/2014/main" id="{B78BB9C9-2CC5-CA0B-7E59-EAB81AA36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277" y="1441985"/>
            <a:ext cx="5325604" cy="479012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5DDCF-71C2-FF78-02AD-C68703304C17}"/>
              </a:ext>
            </a:extLst>
          </p:cNvPr>
          <p:cNvSpPr txBox="1"/>
          <p:nvPr/>
        </p:nvSpPr>
        <p:spPr>
          <a:xfrm>
            <a:off x="3117277" y="623306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215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396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Bootstrap 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b="0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es un parámetro de interés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Muestra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 de la muestra original (</a:t>
                </a:r>
                <a:r>
                  <a:rPr lang="es-ES_tradnl" dirty="0">
                    <a:solidFill>
                      <a:srgbClr val="00B050"/>
                    </a:solidFill>
                  </a:rPr>
                  <a:t>muestra</a:t>
                </a:r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bootstrap</a:t>
                </a:r>
                <a:r>
                  <a:rPr lang="es-ES_tradnl" dirty="0"/>
                  <a:t>).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</a:t>
                </a:r>
                <a:r>
                  <a:rPr lang="es-ES_tradnl" b="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3" b="-360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50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de la utilidad de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¿Por qué hacer </a:t>
                </a:r>
                <a:r>
                  <a:rPr lang="es-ES_tradnl" dirty="0" err="1"/>
                  <a:t>bootstraping</a:t>
                </a:r>
                <a:r>
                  <a:rPr lang="es-ES_tradnl" dirty="0"/>
                  <a:t>?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la mayoría de los casos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hay fórmula para la varianza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Ejemplos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formula directa </a:t>
                </a:r>
                <a:r>
                  <a:rPr lang="es-ES_tradnl" dirty="0"/>
                  <a:t>de la varianza: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Coeficiente de Gini, mediana, IPC, otros índices de desigualdad…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Intervalos de confianza</a:t>
                </a:r>
                <a:r>
                  <a:rPr lang="es-ES_tradnl" dirty="0"/>
                  <a:t>: percentiles empíricos de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¿Regresión?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241" b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2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Regresiones: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Errores Estándar “</a:t>
            </a:r>
            <a:r>
              <a:rPr lang="es-ES_tradnl" sz="4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Bootstrapeados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b="0" dirty="0"/>
                  <a:t>Modelo: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una variable binaria. Recordar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. Supongamos que realmente nos interesa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Podemos estimar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por MCO de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la varianza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varianza con </a:t>
                </a:r>
                <a:r>
                  <a:rPr lang="es-ES_tradnl" dirty="0" err="1"/>
                  <a:t>Bootstrapping</a:t>
                </a:r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Tomar una muestra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muestral de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92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Entendiendo por qué funciona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Muestra de Muestra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grande: </a:t>
                </a:r>
                <a:r>
                  <a:rPr lang="es-ES_tradnl" dirty="0"/>
                  <a:t>es como si estuviésemos tomando una muestra de la población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Teorema fundamental de la estadística</a:t>
                </a:r>
                <a:r>
                  <a:rPr lang="es-ES_tradnl" dirty="0"/>
                  <a:t>: estamos reemplazando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0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38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Aplicaciones de 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*Sosa Escudero, W., &amp; Gasparini, L. (2000). A note on the statistical significance of changes in inequality. </a:t>
            </a:r>
            <a:r>
              <a:rPr lang="en-US" i="1" dirty="0" err="1"/>
              <a:t>Económica</a:t>
            </a:r>
            <a:r>
              <a:rPr lang="en-US" dirty="0"/>
              <a:t>, 46.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8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016-48C7-FFD8-3F64-B39C80D3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Intervalos de Confianza para el Coeficiente de Gini: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Sosa &amp; Gasparini (2000)</a:t>
            </a:r>
            <a:r>
              <a:rPr lang="es-ES_tradnl" dirty="0"/>
              <a:t> </a:t>
            </a:r>
          </a:p>
        </p:txBody>
      </p:sp>
      <p:pic>
        <p:nvPicPr>
          <p:cNvPr id="6" name="Content Placeholder 5" descr="A graph of the same type of numbers&#10;&#10;Description automatically generated with medium confidence">
            <a:extLst>
              <a:ext uri="{FF2B5EF4-FFF2-40B4-BE49-F238E27FC236}">
                <a16:creationId xmlns:a16="http://schemas.microsoft.com/office/drawing/2014/main" id="{133F149C-879E-3CDB-BEA0-136B00D48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465" y="1861344"/>
            <a:ext cx="8508835" cy="48601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D16B-790D-C942-A47F-2FCA9B96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4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el problema de modelos más complejos y </a:t>
            </a:r>
            <a:r>
              <a:rPr lang="es-ES_tradnl" dirty="0">
                <a:solidFill>
                  <a:srgbClr val="002060"/>
                </a:solidFill>
              </a:rPr>
              <a:t>overfitting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Relacionamos</a:t>
            </a:r>
            <a:r>
              <a:rPr lang="es-ES_tradnl" dirty="0"/>
              <a:t> el resultado de descomposición de la varianza con el problema de overfitting y excesos de complejidad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Presentamos</a:t>
            </a:r>
            <a:r>
              <a:rPr lang="es-ES_tradnl" dirty="0"/>
              <a:t> el método de remuestreo de </a:t>
            </a:r>
            <a:r>
              <a:rPr lang="es-ES_tradnl" dirty="0">
                <a:solidFill>
                  <a:srgbClr val="002060"/>
                </a:solidFill>
              </a:rPr>
              <a:t>cross-validation </a:t>
            </a:r>
            <a:r>
              <a:rPr lang="es-ES_tradnl" dirty="0"/>
              <a:t>para: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elección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complejidad</a:t>
            </a:r>
            <a:r>
              <a:rPr lang="es-ES_tradnl" dirty="0"/>
              <a:t> de un modelo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evaluación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predicción</a:t>
            </a:r>
            <a:r>
              <a:rPr lang="es-ES_tradnl" dirty="0"/>
              <a:t> </a:t>
            </a:r>
            <a:r>
              <a:rPr lang="es-ES_tradnl" i="1" dirty="0">
                <a:solidFill>
                  <a:srgbClr val="FF0000"/>
                </a:solidFill>
              </a:rPr>
              <a:t>afuera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muestra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la Ley de Grandes Números para entender la </a:t>
            </a:r>
            <a:r>
              <a:rPr lang="es-ES_tradnl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Explicamos</a:t>
            </a:r>
            <a:r>
              <a:rPr lang="es-ES_tradnl" dirty="0"/>
              <a:t> otro método de remuestreo llamado </a:t>
            </a:r>
            <a:r>
              <a:rPr lang="es-ES_tradnl" dirty="0">
                <a:solidFill>
                  <a:srgbClr val="002060"/>
                </a:solidFill>
              </a:rPr>
              <a:t>Bootstrap</a:t>
            </a:r>
            <a:r>
              <a:rPr lang="es-ES_tradnl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Estimar</a:t>
            </a:r>
            <a:r>
              <a:rPr lang="es-ES_tradnl" dirty="0"/>
              <a:t> </a:t>
            </a:r>
            <a:r>
              <a:rPr lang="es-ES_tradnl" dirty="0">
                <a:solidFill>
                  <a:srgbClr val="002060"/>
                </a:solidFill>
              </a:rPr>
              <a:t>varianza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calcular</a:t>
            </a:r>
            <a:r>
              <a:rPr lang="es-ES_tradnl" dirty="0"/>
              <a:t> intervalos de confianza de parámetros sin formula de varianza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Hacer </a:t>
            </a:r>
            <a:r>
              <a:rPr lang="es-ES_tradnl" dirty="0">
                <a:solidFill>
                  <a:srgbClr val="002060"/>
                </a:solidFill>
              </a:rPr>
              <a:t>inferencia estadística </a:t>
            </a:r>
            <a:r>
              <a:rPr lang="es-ES_tradnl" dirty="0"/>
              <a:t>del parámetro de interés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Vimos una aplicación en economía aplicada de Bootstrap para estimar intervalos de confianza del Índice de Gini.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955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dirty="0"/>
              <a:t>Consultas: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25RO35480961@campus.economicas.uba.ar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6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5666</TotalTime>
  <Words>2176</Words>
  <Application>Microsoft Macintosh PowerPoint</Application>
  <PresentationFormat>Panorámica</PresentationFormat>
  <Paragraphs>298</Paragraphs>
  <Slides>45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3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Técnicas de Remuestreo: Cross-validation &amp; Bootstrapping</vt:lpstr>
      <vt:lpstr>Cuestiones operativas del curso: Próximos Deadlines</vt:lpstr>
      <vt:lpstr>En la clase de hoy</vt:lpstr>
      <vt:lpstr>Error de Pronóstico, MSE y Overfitting</vt:lpstr>
      <vt:lpstr>Motivación</vt:lpstr>
      <vt:lpstr>El problema de Overfitting</vt:lpstr>
      <vt:lpstr>Recordamos Error de Pronóstico y MSE </vt:lpstr>
      <vt:lpstr>Recordamos Error de Pronóstico y MSE II</vt:lpstr>
      <vt:lpstr>Idea de Validación y Aprendizaje Automático</vt:lpstr>
      <vt:lpstr>MSE test</vt:lpstr>
      <vt:lpstr>Trade-off sesgo-varianza</vt:lpstr>
      <vt:lpstr>Muestras de Entrenamiento y Testeo</vt:lpstr>
      <vt:lpstr>Ilustración I: Complejidad y train &amp; test MSE. Modelo verdadero lineal </vt:lpstr>
      <vt:lpstr>Ilustración II: Complejidad y train &amp; test MSE. Modelo verdadero no lineal </vt:lpstr>
      <vt:lpstr>En resumen</vt:lpstr>
      <vt:lpstr>Cross Validation</vt:lpstr>
      <vt:lpstr>Motivación: Mercado de Trabajo</vt:lpstr>
      <vt:lpstr>Enfoque de Validación</vt:lpstr>
      <vt:lpstr>Ilustración de 5-fold cross validation</vt:lpstr>
      <vt:lpstr>Ilustración de MSE test para datos de auto</vt:lpstr>
      <vt:lpstr>K-fold cross validation: Formalmente</vt:lpstr>
      <vt:lpstr>K-fold cross validation (continua)</vt:lpstr>
      <vt:lpstr>En sintesis: Cross-Validation</vt:lpstr>
      <vt:lpstr>K-fold cross-validation para clasificación </vt:lpstr>
      <vt:lpstr>¿Por qué funciona Cross-Validation? </vt:lpstr>
      <vt:lpstr>Repaso rápido de la Ley de Grandes Números</vt:lpstr>
      <vt:lpstr>Ley de Grandes Números </vt:lpstr>
      <vt:lpstr>¿Por qué funciona Cross-Validation? Ley de Grandes Números</vt:lpstr>
      <vt:lpstr>K-fold cross validation: Elección de K</vt:lpstr>
      <vt:lpstr>Cross validation para la elección de modelos</vt:lpstr>
      <vt:lpstr>Ilustración: Elección del grado de un polinomio</vt:lpstr>
      <vt:lpstr>Bootstrap</vt:lpstr>
      <vt:lpstr>Ejemplo conocido: Media muestral y estimación de la Varianza</vt:lpstr>
      <vt:lpstr>Bootstrap: Método alternativo “sin formula”</vt:lpstr>
      <vt:lpstr>Ilustración de Bootstrap</vt:lpstr>
      <vt:lpstr>Bootstrap formalmente</vt:lpstr>
      <vt:lpstr>Intuición de la utilidad de Bootstrap</vt:lpstr>
      <vt:lpstr>Regresiones: Errores Estándar “Bootstrapeados”  </vt:lpstr>
      <vt:lpstr>Entendiendo por qué funciona Bootstrap</vt:lpstr>
      <vt:lpstr>Aplicaciones de Bootstrap</vt:lpstr>
      <vt:lpstr>Intervalos de Confianza para el Coeficiente de Gini: Sosa &amp; Gasparini (2000) </vt:lpstr>
      <vt:lpstr>Conclusiones finales</vt:lpstr>
      <vt:lpstr>¿Qué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170</cp:revision>
  <dcterms:created xsi:type="dcterms:W3CDTF">2023-06-12T20:51:31Z</dcterms:created>
  <dcterms:modified xsi:type="dcterms:W3CDTF">2026-05-19T14:44:38Z</dcterms:modified>
</cp:coreProperties>
</file>