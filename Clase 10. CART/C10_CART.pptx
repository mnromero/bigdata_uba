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423" r:id="rId2"/>
    <p:sldId id="497" r:id="rId3"/>
    <p:sldId id="329" r:id="rId4"/>
    <p:sldId id="410" r:id="rId5"/>
    <p:sldId id="351" r:id="rId6"/>
    <p:sldId id="260" r:id="rId7"/>
    <p:sldId id="352" r:id="rId8"/>
    <p:sldId id="411" r:id="rId9"/>
    <p:sldId id="257" r:id="rId10"/>
    <p:sldId id="355" r:id="rId11"/>
    <p:sldId id="356" r:id="rId12"/>
    <p:sldId id="412" r:id="rId13"/>
    <p:sldId id="357" r:id="rId14"/>
    <p:sldId id="358" r:id="rId15"/>
    <p:sldId id="266" r:id="rId16"/>
    <p:sldId id="360" r:id="rId17"/>
    <p:sldId id="361" r:id="rId18"/>
    <p:sldId id="363" r:id="rId19"/>
    <p:sldId id="369" r:id="rId20"/>
    <p:sldId id="488" r:id="rId21"/>
    <p:sldId id="413" r:id="rId22"/>
    <p:sldId id="270" r:id="rId23"/>
    <p:sldId id="362" r:id="rId24"/>
    <p:sldId id="365" r:id="rId25"/>
    <p:sldId id="366" r:id="rId26"/>
    <p:sldId id="367" r:id="rId27"/>
    <p:sldId id="368" r:id="rId28"/>
    <p:sldId id="376" r:id="rId29"/>
    <p:sldId id="414" r:id="rId30"/>
    <p:sldId id="487" r:id="rId31"/>
    <p:sldId id="364" r:id="rId32"/>
    <p:sldId id="486" r:id="rId33"/>
    <p:sldId id="415" r:id="rId34"/>
    <p:sldId id="371" r:id="rId35"/>
    <p:sldId id="272" r:id="rId36"/>
    <p:sldId id="469" r:id="rId37"/>
    <p:sldId id="418" r:id="rId38"/>
    <p:sldId id="337" r:id="rId39"/>
    <p:sldId id="314" r:id="rId40"/>
    <p:sldId id="4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7"/>
          </p14:sldIdLst>
        </p14:section>
        <p14:section name="Introduccion a Arboles" id="{F06AC147-1820-E64A-873C-8C467231AE8F}">
          <p14:sldIdLst/>
        </p14:section>
        <p14:section name="Motivacion" id="{2A9884C3-E307-8646-AB46-1C97B2F6769E}">
          <p14:sldIdLst>
            <p14:sldId id="329"/>
            <p14:sldId id="410"/>
            <p14:sldId id="351"/>
            <p14:sldId id="260"/>
            <p14:sldId id="352"/>
          </p14:sldIdLst>
        </p14:section>
        <p14:section name="Ilustración del algoritmo y formalización" id="{0097FC44-956C-EB46-8C1C-C3D7346DA26E}">
          <p14:sldIdLst>
            <p14:sldId id="411"/>
            <p14:sldId id="257"/>
            <p14:sldId id="355"/>
            <p14:sldId id="356"/>
            <p14:sldId id="412"/>
            <p14:sldId id="357"/>
            <p14:sldId id="358"/>
            <p14:sldId id="266"/>
            <p14:sldId id="360"/>
            <p14:sldId id="361"/>
            <p14:sldId id="363"/>
            <p14:sldId id="369"/>
            <p14:sldId id="488"/>
          </p14:sldIdLst>
        </p14:section>
        <p14:section name="Tree Pruning" id="{117000AB-7224-2140-AC4C-4580F39A188F}">
          <p14:sldIdLst>
            <p14:sldId id="413"/>
            <p14:sldId id="270"/>
            <p14:sldId id="362"/>
            <p14:sldId id="365"/>
            <p14:sldId id="366"/>
            <p14:sldId id="367"/>
            <p14:sldId id="368"/>
            <p14:sldId id="376"/>
          </p14:sldIdLst>
        </p14:section>
        <p14:section name="Arboles vs Modelos lineales" id="{9D9EEA97-91EA-3A42-BBAA-8F741D104C8F}">
          <p14:sldIdLst>
            <p14:sldId id="414"/>
            <p14:sldId id="487"/>
            <p14:sldId id="364"/>
            <p14:sldId id="486"/>
          </p14:sldIdLst>
        </p14:section>
        <p14:section name="Ventajas y Desventajas" id="{C28E94FA-4F3A-6646-9C18-8BFEAAC17B67}">
          <p14:sldIdLst>
            <p14:sldId id="415"/>
            <p14:sldId id="371"/>
            <p14:sldId id="272"/>
            <p14:sldId id="469"/>
            <p14:sldId id="418"/>
          </p14:sldIdLst>
        </p14:section>
        <p14:section name="Conclusiones finales" id="{30AE4762-25DE-C74D-AF95-4AEC0CC37FB0}">
          <p14:sldIdLst>
            <p14:sldId id="337"/>
            <p14:sldId id="314"/>
            <p14:sldId id="4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22423-539B-0643-91E7-42335824F245}" v="1" dt="2026-06-05T19:05:13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022"/>
    <p:restoredTop sz="83230"/>
  </p:normalViewPr>
  <p:slideViewPr>
    <p:cSldViewPr snapToGrid="0">
      <p:cViewPr varScale="1">
        <p:scale>
          <a:sx n="39" d="100"/>
          <a:sy n="39" d="100"/>
        </p:scale>
        <p:origin x="18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addSld delSld modSld modSection">
      <pc:chgData name="María Noelia Romero" userId="2133f5768dfc5791" providerId="LiveId" clId="{0168CA65-A813-5033-94B8-EF4605FC29D1}" dt="2026-06-05T19:05:49.712" v="163" actId="2696"/>
      <pc:docMkLst>
        <pc:docMk/>
      </pc:docMkLst>
      <pc:sldChg chg="modSp add del mod">
        <pc:chgData name="María Noelia Romero" userId="2133f5768dfc5791" providerId="LiveId" clId="{0168CA65-A813-5033-94B8-EF4605FC29D1}" dt="2026-06-05T19:05:49.712" v="163" actId="2696"/>
        <pc:sldMkLst>
          <pc:docMk/>
          <pc:sldMk cId="1640782994" sldId="256"/>
        </pc:sldMkLst>
        <pc:spChg chg="mod">
          <ac:chgData name="María Noelia Romero" userId="2133f5768dfc5791" providerId="LiveId" clId="{0168CA65-A813-5033-94B8-EF4605FC29D1}" dt="2026-05-21T18:43:35.599" v="86" actId="20577"/>
          <ac:spMkLst>
            <pc:docMk/>
            <pc:sldMk cId="1640782994" sldId="256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21T18:42:59.103" v="4" actId="20577"/>
          <ac:spMkLst>
            <pc:docMk/>
            <pc:sldMk cId="1640782994" sldId="256"/>
            <ac:spMk id="3" creationId="{C1F55BDD-1493-5FB8-8EDB-106F9B362918}"/>
          </ac:spMkLst>
        </pc:spChg>
      </pc:sldChg>
      <pc:sldChg chg="modSp add del mod">
        <pc:chgData name="María Noelia Romero" userId="2133f5768dfc5791" providerId="LiveId" clId="{0168CA65-A813-5033-94B8-EF4605FC29D1}" dt="2026-06-05T19:05:48.340" v="162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6-05T19:05:48.340" v="162" actId="20577"/>
          <ac:spMkLst>
            <pc:docMk/>
            <pc:sldMk cId="3979653562" sldId="423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6-05T19:05:21.673" v="93" actId="20577"/>
          <ac:spMkLst>
            <pc:docMk/>
            <pc:sldMk cId="3979653562" sldId="423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5-21T18:43:56.330" v="89"/>
        <pc:sldMkLst>
          <pc:docMk/>
          <pc:sldMk cId="3829958914" sldId="4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5/6/26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3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terminales</a:t>
            </a:r>
            <a:r>
              <a:rPr lang="en-US" dirty="0"/>
              <a:t> or “leaves”: “hojas” al final del arbol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internos</a:t>
            </a:r>
            <a:r>
              <a:rPr lang="en-US" dirty="0"/>
              <a:t>: </a:t>
            </a:r>
            <a:r>
              <a:rPr lang="en-US" dirty="0" err="1"/>
              <a:t>donde</a:t>
            </a:r>
            <a:r>
              <a:rPr lang="en-US" dirty="0"/>
              <a:t> se divide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predictors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Branches: </a:t>
            </a:r>
            <a:r>
              <a:rPr lang="en-US" dirty="0" err="1"/>
              <a:t>segmentos</a:t>
            </a:r>
            <a:r>
              <a:rPr lang="en-US" dirty="0"/>
              <a:t> que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nodos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2173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6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137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Interpretacion</a:t>
                </a:r>
                <a:r>
                  <a:rPr lang="en-US" b="0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{𝑋|𝑋_𝑗≤𝑠}  </a:t>
                </a:r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𝑋_𝑗</a:t>
                </a:r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:r>
                  <a:rPr lang="en-US" b="0" i="0">
                    <a:latin typeface="Cambria Math" panose="02040503050406030204" pitchFamily="18" charset="0"/>
                  </a:rPr>
                  <a:t>𝑠</a:t>
                </a: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2704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_tradnl" dirty="0" err="1"/>
                  <a:t>Overfiting</a:t>
                </a:r>
                <a:r>
                  <a:rPr lang="es-ES_tradnl" dirty="0"/>
                  <a:t> con arboles: </a:t>
                </a:r>
                <a:r>
                  <a:rPr lang="en-US" sz="1800" dirty="0">
                    <a:effectLst/>
                    <a:latin typeface="CMSS10"/>
                  </a:rPr>
                  <a:t>Un arbol </a:t>
                </a:r>
                <a:r>
                  <a:rPr lang="en-US" sz="1800" dirty="0" err="1">
                    <a:effectLst/>
                    <a:latin typeface="CMSS10"/>
                  </a:rPr>
                  <a:t>demasiado</a:t>
                </a:r>
                <a:r>
                  <a:rPr lang="en-US" sz="1800" dirty="0">
                    <a:effectLst/>
                    <a:latin typeface="CMSS10"/>
                  </a:rPr>
                  <a:t> extenso </a:t>
                </a:r>
                <a:r>
                  <a:rPr lang="en-US" sz="1800" dirty="0" err="1">
                    <a:effectLst/>
                    <a:latin typeface="CMSS10"/>
                  </a:rPr>
                  <a:t>sobreajusta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los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datos</a:t>
                </a:r>
                <a:r>
                  <a:rPr lang="en-US" sz="1800" dirty="0">
                    <a:effectLst/>
                    <a:latin typeface="CMSS10"/>
                  </a:rPr>
                  <a:t> (es </a:t>
                </a:r>
                <a:r>
                  <a:rPr lang="en-US" sz="1800" dirty="0" err="1">
                    <a:effectLst/>
                    <a:latin typeface="CMSS10"/>
                  </a:rPr>
                  <a:t>como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poner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una</a:t>
                </a:r>
                <a:r>
                  <a:rPr lang="en-US" sz="1800" dirty="0">
                    <a:effectLst/>
                    <a:latin typeface="CMSS10"/>
                  </a:rPr>
                  <a:t> dummy para </a:t>
                </a:r>
                <a:r>
                  <a:rPr lang="en-US" sz="1800" dirty="0" err="1">
                    <a:effectLst/>
                    <a:latin typeface="CMSS10"/>
                  </a:rPr>
                  <a:t>cada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observacion</a:t>
                </a:r>
                <a:r>
                  <a:rPr lang="en-US" sz="1800" dirty="0">
                    <a:effectLst/>
                    <a:latin typeface="CMSS10"/>
                  </a:rPr>
                  <a:t>). </a:t>
                </a:r>
                <a:endParaRPr lang="en-US" dirty="0">
                  <a:effectLst/>
                </a:endParaRPr>
              </a:p>
              <a:p>
                <a:r>
                  <a:rPr lang="es-ES_tradnl" b="1" dirty="0"/>
                  <a:t>Tener en cuenta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entrenamiento</a:t>
                </a:r>
                <a:r>
                  <a:rPr lang="es-ES_tradnl" dirty="0"/>
                  <a:t>: partir el espacio de predictores y encontrar las regiones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prueba</a:t>
                </a:r>
                <a:r>
                  <a:rPr lang="es-ES_tradnl" dirty="0"/>
                  <a:t>: ahí predecimos </a:t>
                </a:r>
                <a:r>
                  <a:rPr lang="en-US" b="0" i="0">
                    <a:latin typeface="Cambria Math" panose="02040503050406030204" pitchFamily="18" charset="0"/>
                  </a:rPr>
                  <a:t>𝑦 ̂_(</a:t>
                </a:r>
                <a:r>
                  <a:rPr lang="en-US" b="1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𝑹_𝒋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)</a:t>
                </a:r>
                <a:r>
                  <a:rPr lang="es-ES_tradnl" dirty="0"/>
                  <a:t> y calculamos el error de predicción</a:t>
                </a:r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191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462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7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38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02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8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6/5/26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3" Type="http://schemas.openxmlformats.org/officeDocument/2006/relationships/image" Target="../media/image19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CART: 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Árboles de decisión de Clasificación y 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10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39" y="1138265"/>
            <a:ext cx="6911169" cy="859869"/>
          </a:xfrm>
        </p:spPr>
        <p:txBody>
          <a:bodyPr anchor="t">
            <a:normAutofit/>
          </a:bodyPr>
          <a:lstStyle/>
          <a:p>
            <a:r>
              <a:rPr lang="es-ES_tradnl" sz="400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Árboles: CART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 de la relación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Modelo flexible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Simple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Interpretable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Métodos basados en Árboles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7030A0"/>
                    </a:solidFill>
                  </a:rPr>
                  <a:t>partir</a:t>
                </a:r>
                <a:r>
                  <a:rPr lang="es-ES_tradnl" dirty="0"/>
                  <a:t> el espacio de atributos en ‘rectángulos’, y ajustar un modelo </a:t>
                </a:r>
                <a:r>
                  <a:rPr lang="es-ES_tradnl" dirty="0">
                    <a:solidFill>
                      <a:srgbClr val="00B050"/>
                    </a:solidFill>
                  </a:rPr>
                  <a:t>simple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dentro de región.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estratificar o segmentar el espacio de predictores en un numero de simple regiones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¿Para qué?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No-linealidades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Clasificación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Interacciones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Reducción de la dimensionalidad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Predicción.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CART</a:t>
            </a:r>
            <a:r>
              <a:rPr lang="es-ES_tradnl" dirty="0"/>
              <a:t>: </a:t>
            </a:r>
            <a:r>
              <a:rPr lang="es-ES_tradnl" i="1" dirty="0" err="1"/>
              <a:t>Classification</a:t>
            </a:r>
            <a:r>
              <a:rPr lang="es-ES_tradnl" i="1" dirty="0"/>
              <a:t> and </a:t>
            </a:r>
            <a:r>
              <a:rPr lang="es-ES_tradnl" i="1" dirty="0" err="1"/>
              <a:t>Regression</a:t>
            </a:r>
            <a:r>
              <a:rPr lang="es-ES_tradnl" i="1" dirty="0"/>
              <a:t> </a:t>
            </a:r>
            <a:r>
              <a:rPr lang="es-ES_tradnl" i="1" dirty="0" err="1"/>
              <a:t>Tree</a:t>
            </a:r>
            <a:endParaRPr lang="es-ES_tradnl" i="1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 de árboles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Regresión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Regression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numérica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Clasificación (</a:t>
                </a:r>
                <a:r>
                  <a:rPr lang="es-ES_tradnl" i="1" dirty="0" err="1"/>
                  <a:t>Classification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binaria o categórica.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Partición de Ejemplo 1. ¿Problema?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Elegir la variable y el punto de partición de manera </a:t>
            </a:r>
            <a:r>
              <a:rPr lang="es-ES_tradnl" dirty="0">
                <a:solidFill>
                  <a:srgbClr val="002060"/>
                </a:solidFill>
              </a:rPr>
              <a:t>optima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ajuste global, </a:t>
            </a:r>
            <a:r>
              <a:rPr lang="es-ES_tradnl" dirty="0">
                <a:solidFill>
                  <a:srgbClr val="FF0000"/>
                </a:solidFill>
              </a:rPr>
              <a:t>menor</a:t>
            </a:r>
            <a:r>
              <a:rPr lang="es-ES_tradnl" dirty="0"/>
              <a:t> error de predicción </a:t>
            </a: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pic>
        <p:nvPicPr>
          <p:cNvPr id="8" name="Content Placeholder 7" descr="A black and white square with a rectangular pattern&#10;&#10;Description automatically generated with medium confidence">
            <a:extLst>
              <a:ext uri="{FF2B5EF4-FFF2-40B4-BE49-F238E27FC236}">
                <a16:creationId xmlns:a16="http://schemas.microsoft.com/office/drawing/2014/main" id="{982C79D9-2D6A-2EA0-AD77-C271F6DF1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7633" y="1479176"/>
            <a:ext cx="4632358" cy="46977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8483-B51A-5EF5-1F96-3E27AD36109A}"/>
              </a:ext>
            </a:extLst>
          </p:cNvPr>
          <p:cNvSpPr txBox="1"/>
          <p:nvPr/>
        </p:nvSpPr>
        <p:spPr>
          <a:xfrm>
            <a:off x="6617633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Ilustración &amp; Formalización del algoritmo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0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Algoritmo, versión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</a:t>
                </a: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de respuesta continua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Predictores con valores entre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Algoritmo de Árboles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Partimos el espacio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en dos regiones: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Usando 1 variable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Partición vertical u horizontal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Dentro de cada partición: usamos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como predicción de la respuesta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Partición recursiva binaria</a:t>
                </a:r>
                <a:r>
                  <a:rPr lang="es-ES_tradnl" dirty="0"/>
                  <a:t> 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C8E0A-BA8E-4E6C-2CA6-F2934D92ECDC}"/>
              </a:ext>
            </a:extLst>
          </p:cNvPr>
          <p:cNvSpPr/>
          <p:nvPr/>
        </p:nvSpPr>
        <p:spPr>
          <a:xfrm>
            <a:off x="1201271" y="1924423"/>
            <a:ext cx="4894729" cy="364415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/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/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1FE679-9293-35F1-A9CE-CA4E04B1D1C1}"/>
              </a:ext>
            </a:extLst>
          </p:cNvPr>
          <p:cNvCxnSpPr/>
          <p:nvPr/>
        </p:nvCxnSpPr>
        <p:spPr>
          <a:xfrm>
            <a:off x="2586318" y="1924423"/>
            <a:ext cx="0" cy="36441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/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/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68686C-AAC6-0BD5-95F0-46118F98334F}"/>
              </a:ext>
            </a:extLst>
          </p:cNvPr>
          <p:cNvCxnSpPr>
            <a:cxnSpLocks/>
          </p:cNvCxnSpPr>
          <p:nvPr/>
        </p:nvCxnSpPr>
        <p:spPr>
          <a:xfrm>
            <a:off x="2615864" y="4470571"/>
            <a:ext cx="3480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/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/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/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D66E315-CEF8-418B-DD9F-CD6A33493C37}"/>
              </a:ext>
            </a:extLst>
          </p:cNvPr>
          <p:cNvSpPr txBox="1"/>
          <p:nvPr/>
        </p:nvSpPr>
        <p:spPr>
          <a:xfrm>
            <a:off x="7777112" y="5030949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  <a:latin typeface="Gill Sans Nova Light" panose="020B0302020104020203" pitchFamily="34" charset="0"/>
              </a:rPr>
              <a:t>Nodos terminales</a:t>
            </a:r>
            <a:endParaRPr lang="en-US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7CFDB-EBF2-200F-0AC0-75F231EFACC9}"/>
              </a:ext>
            </a:extLst>
          </p:cNvPr>
          <p:cNvSpPr txBox="1"/>
          <p:nvPr/>
        </p:nvSpPr>
        <p:spPr>
          <a:xfrm>
            <a:off x="10390279" y="3566931"/>
            <a:ext cx="1546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Gill Sans Nova Light" panose="020B0302020104020203" pitchFamily="34" charset="0"/>
              </a:rPr>
              <a:t>Nodo interno</a:t>
            </a:r>
            <a:endParaRPr lang="en-US" dirty="0">
              <a:solidFill>
                <a:schemeClr val="accent1"/>
              </a:solidFill>
              <a:latin typeface="Gill Sans Nova Light" panose="020B03020201040202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CEA9C4-0D0C-F8B6-333C-76375CFF561A}"/>
              </a:ext>
            </a:extLst>
          </p:cNvPr>
          <p:cNvGrpSpPr/>
          <p:nvPr/>
        </p:nvGrpSpPr>
        <p:grpSpPr>
          <a:xfrm>
            <a:off x="7013748" y="2337369"/>
            <a:ext cx="2741571" cy="1206494"/>
            <a:chOff x="7013748" y="2337369"/>
            <a:chExt cx="2741571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0676D5-D328-EA5A-68D9-A31B4D1ED7C1}"/>
                </a:ext>
              </a:extLst>
            </p:cNvPr>
            <p:cNvSpPr txBox="1"/>
            <p:nvPr/>
          </p:nvSpPr>
          <p:spPr>
            <a:xfrm>
              <a:off x="7013748" y="2499821"/>
              <a:ext cx="1393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chemeClr val="accent2"/>
                  </a:solidFill>
                  <a:latin typeface="Gill Sans Nova Light" panose="020B0302020104020203" pitchFamily="34" charset="0"/>
                </a:rPr>
                <a:t>Nodo inicial</a:t>
              </a:r>
              <a:endParaRPr lang="en-US" dirty="0">
                <a:solidFill>
                  <a:schemeClr val="accent2"/>
                </a:solidFill>
                <a:latin typeface="Gill Sans Nova Light" panose="020B0302020104020203" pitchFamily="34" charset="0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9A2A92-B17D-B26D-6137-01AF271F9AA2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693FCE-8394-1A47-2E98-F2D82BCD42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6212269-89E3-EAC4-8F22-A557D764E5B4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30C5D4-D699-1F4A-8FB4-C6B11AC33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B40FD20-4FB8-379A-71CD-153E956E4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2" grpId="0"/>
      <p:bldP spid="26" grpId="0"/>
      <p:bldP spid="35" grpId="0"/>
      <p:bldP spid="42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pic>
        <p:nvPicPr>
          <p:cNvPr id="8" name="Content Placeholder 7" descr="A diagram of a cube with lines and a graph&#10;&#10;Description automatically generated with medium confidence">
            <a:extLst>
              <a:ext uri="{FF2B5EF4-FFF2-40B4-BE49-F238E27FC236}">
                <a16:creationId xmlns:a16="http://schemas.microsoft.com/office/drawing/2014/main" id="{56F8C53B-22D3-B599-0A29-05C2EF5E10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2529" t="3305"/>
          <a:stretch/>
        </p:blipFill>
        <p:spPr>
          <a:xfrm>
            <a:off x="3882349" y="1421382"/>
            <a:ext cx="4728251" cy="460105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109DD2-9E8B-8344-DBC9-CD1F3C1C1F18}"/>
              </a:ext>
            </a:extLst>
          </p:cNvPr>
          <p:cNvSpPr txBox="1"/>
          <p:nvPr/>
        </p:nvSpPr>
        <p:spPr>
          <a:xfrm>
            <a:off x="4003793" y="601779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/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blipFill>
                <a:blip r:embed="rId4"/>
                <a:stretch>
                  <a:fillRect l="-6061" t="-9302" r="-606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/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81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es la más importante para predecir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8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 es relevante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sz="2800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entonces importa si: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 o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Fácil de interpretar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Bonita representación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  <a:blipFill>
                <a:blip r:embed="rId3"/>
                <a:stretch>
                  <a:fillRect l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CD31F0-FBBB-18E8-F016-5376864D62EC}"/>
              </a:ext>
            </a:extLst>
          </p:cNvPr>
          <p:cNvGrpSpPr/>
          <p:nvPr/>
        </p:nvGrpSpPr>
        <p:grpSpPr>
          <a:xfrm>
            <a:off x="7975600" y="2337369"/>
            <a:ext cx="1779719" cy="1206494"/>
            <a:chOff x="7975600" y="2337369"/>
            <a:chExt cx="1779719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366B95FA-18D6-D9E2-BD53-096DE4AEF7FA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FAA2C32-85A2-4E13-7583-6FB29880840C}"/>
                </a:ext>
              </a:extLst>
            </p:cNvPr>
            <p:cNvCxnSpPr>
              <a:stCxn id="10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9ECFC2-D323-72FB-EC82-E731E4C95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502504-604B-FD52-F351-77C76D3553BA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D75D39EC-383D-1523-213C-CA866483CB3C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A33785-5885-68C4-1347-3E84EC7CF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350F82-1C42-F056-1983-1C80878ACB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37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1</a:t>
                </a:r>
                <a:r>
                  <a:rPr lang="es-ES_tradnl" dirty="0"/>
                  <a:t>: Dividir el espacio de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disyuntas sin superponerse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2</a:t>
                </a:r>
                <a:r>
                  <a:rPr lang="es-ES_tradnl" dirty="0"/>
                  <a:t>: Dentro de cada partición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, usamos el promedio como predicción de la respuesta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cómo construimos las regiones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Imposible computacionalmente probar con cada posible partición del espacio de predictores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84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Partición recursiva binaria </a:t>
                </a:r>
                <a:r>
                  <a:rPr lang="es-ES_tradnl" dirty="0"/>
                  <a:t>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que haga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mejor</a:t>
                </a:r>
                <a:r>
                  <a:rPr lang="es-ES_tradnl" dirty="0"/>
                  <a:t> partición en </a:t>
                </a:r>
                <a:r>
                  <a:rPr lang="es-ES_tradnl" dirty="0">
                    <a:solidFill>
                      <a:srgbClr val="002060"/>
                    </a:solidFill>
                  </a:rPr>
                  <a:t>cada nodo </a:t>
                </a:r>
                <a:r>
                  <a:rPr lang="es-ES_tradnl" dirty="0"/>
                  <a:t>sin considerar los posibles nodos subsiguientes.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70C0"/>
                    </a:solidFill>
                  </a:rPr>
                  <a:t>mejor</a:t>
                </a:r>
                <a:r>
                  <a:rPr lang="es-ES_tradnl" dirty="0"/>
                  <a:t> división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</a:t>
                </a:r>
                <a:r>
                  <a:rPr lang="es-ES_tradnl" i="1" dirty="0"/>
                  <a:t> </a:t>
                </a:r>
                <a:r>
                  <a:rPr lang="es-ES_tradnl" dirty="0"/>
                  <a:t>en dos regiones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2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 (</a:t>
            </a:r>
            <a:r>
              <a:rPr lang="es-ES_tradnl" dirty="0" err="1"/>
              <a:t>Regression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continua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observaciones.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Partición de la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en dos regiones: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Interpretacion</a:t>
                </a:r>
                <a:r>
                  <a:rPr lang="en-US" b="0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60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Mejor Partición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/>
                  <a:t>En el primer paso, buscamos los valores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que minimicen: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Mejor partición </a:t>
                </a:r>
                <a:r>
                  <a:rPr lang="es-ES_tradnl" dirty="0"/>
                  <a:t>= “mayor reducción de la RSS”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5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5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Stopping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criterion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Luego de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la mejor partición que minimiza RSS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Hacemos lo mismo dentro de las dos regiones región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¿Cuándo paramos? </a:t>
                </a:r>
                <a:r>
                  <a:rPr lang="es-ES_tradnl" dirty="0"/>
                  <a:t>Criterio de parar depende del </a:t>
                </a:r>
                <a:r>
                  <a:rPr lang="es-ES_tradnl" dirty="0">
                    <a:solidFill>
                      <a:srgbClr val="FF0000"/>
                    </a:solidFill>
                  </a:rPr>
                  <a:t>tamaño del árbol </a:t>
                </a:r>
                <a:r>
                  <a:rPr lang="es-ES_tradnl" dirty="0"/>
                  <a:t>(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tunning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parameter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5 observaciones en los nodos terminales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¿Cómo es el </a:t>
                </a:r>
                <a:r>
                  <a:rPr lang="es-ES_tradnl" dirty="0">
                    <a:solidFill>
                      <a:srgbClr val="0070C0"/>
                    </a:solidFill>
                  </a:rPr>
                  <a:t>trade-off de Sesgo-Varianza </a:t>
                </a:r>
                <a:r>
                  <a:rPr lang="es-ES_tradnl" dirty="0"/>
                  <a:t>en árboles?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581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toma valores fijos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1,2,…,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Binaria</a:t>
                </a:r>
                <a:r>
                  <a:rPr lang="es-ES_tradnl" dirty="0"/>
                  <a:t>: 0-1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no necesariamente ordinal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Proporción de observaciones en la categoría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en la región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clasificar todas las observaciones de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a una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Asignamos la clase mayoritaria </a:t>
                </a:r>
                <a:r>
                  <a:rPr lang="es-ES_tradnl" dirty="0"/>
                  <a:t>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 b="-2238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52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/>
              <a:t>Alternativas de la definición de impureza en los nodos terminales:</a:t>
            </a:r>
          </a:p>
          <a:p>
            <a:pPr marL="0" indent="0">
              <a:lnSpc>
                <a:spcPct val="170000"/>
              </a:lnSpc>
              <a:buNone/>
            </a:pPr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A group of mathematical symbols&#10;&#10;Description automatically generated">
            <a:extLst>
              <a:ext uri="{FF2B5EF4-FFF2-40B4-BE49-F238E27FC236}">
                <a16:creationId xmlns:a16="http://schemas.microsoft.com/office/drawing/2014/main" id="{B8F95612-26CE-08F0-1B30-7FCB7C4F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44" y="3718025"/>
            <a:ext cx="10426956" cy="1843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F165-AA02-1908-22D2-91BD5B283DB0}"/>
              </a:ext>
            </a:extLst>
          </p:cNvPr>
          <p:cNvSpPr txBox="1"/>
          <p:nvPr/>
        </p:nvSpPr>
        <p:spPr>
          <a:xfrm>
            <a:off x="3681983" y="575882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1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9552-79C2-B29B-B627-8ECEA851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 la práctica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Clasificar a los sobrevivientes del </a:t>
                </a:r>
                <a:r>
                  <a:rPr lang="es-ES_tradnl" i="1" dirty="0"/>
                  <a:t>Titanic</a:t>
                </a:r>
                <a:r>
                  <a:rPr lang="es-ES_tradnl" dirty="0"/>
                  <a:t> (como en libro)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Índice de Gini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Varianza total entre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Intuición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1</a:t>
                </a:r>
                <a:r>
                  <a:rPr lang="es-ES_tradnl" dirty="0"/>
                  <a:t>: observaciones con distintas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0</a:t>
                </a:r>
                <a:r>
                  <a:rPr lang="es-ES_tradnl" dirty="0"/>
                  <a:t>: observaciones con la misma categoría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-&gt; “nodo más puro”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Tarea para la tutorial</a:t>
                </a:r>
                <a:r>
                  <a:rPr lang="es-ES_tradnl" dirty="0"/>
                  <a:t>: comparar el índice del nodo inicial con la de los nodos terminales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A75D-E0CD-027D-D2B3-B1E10966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Podar un árbol (</a:t>
            </a:r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2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e Intuición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ajustar un árbol grande y luego podarlo (</a:t>
            </a:r>
            <a:r>
              <a:rPr lang="es-ES_tradnl" i="1" dirty="0" err="1"/>
              <a:t>prune</a:t>
            </a:r>
            <a:r>
              <a:rPr lang="es-ES_tradnl" dirty="0"/>
              <a:t>) usando un criterio de costo de complejidad.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subárbol</a:t>
            </a:r>
            <a:r>
              <a:rPr lang="es-ES_tradnl" dirty="0"/>
              <a:t> con mejor tasa de error afuera de la muestra de entrenamiento</a:t>
            </a:r>
          </a:p>
          <a:p>
            <a:pPr>
              <a:lnSpc>
                <a:spcPct val="170000"/>
              </a:lnSpc>
            </a:pPr>
            <a:endParaRPr lang="es-ES_tradnl" sz="2000" dirty="0"/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Problema</a:t>
            </a:r>
            <a:r>
              <a:rPr lang="es-ES_tradnl" dirty="0"/>
              <a:t>: estimar el error de CV para cada subárbol posible puede llevar mucho tiempo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 usar un criterio que para evaluar entre un pequeño conjunto de subárboles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Notación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Á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rbol inicial grande con muchos nodos terminales: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S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ubárbol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Número total de nodos terminales del subárbol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Numero de observaciones en cada partición: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=#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Predicción promedio 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Promedio de la suma de los residuos al cuadrado de los nodos terminales: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4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 e Intuición 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promedio ponderado de la suma de los residuos al cuadrado de cada partición, más el tamaño del árbol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heterogenidad (impureza) dentro de cada región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cantidad de regiones/particiones finales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1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Objetivo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Objetivo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obtener un subárbol que minimice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Resultado</a:t>
                </a:r>
                <a:r>
                  <a:rPr lang="es-ES_tradnl" dirty="0"/>
                  <a:t>: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hay un único subárbol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s-ES_tradnl" dirty="0"/>
                  <a:t> que minimiza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/>
                    </a:solidFill>
                  </a:rPr>
                  <a:t>Nos reduce la búsqueda entre todos los subárboles posibles al armar una sucesión de subárboles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Mecanismo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ES_tradn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:r>
                  <a:rPr lang="es-ES_tradnl" dirty="0"/>
                  <a:t>¿</a:t>
                </a:r>
                <a:r>
                  <a:rPr lang="es-ES_tradnl" dirty="0">
                    <a:solidFill>
                      <a:schemeClr val="tx1"/>
                    </a:solidFill>
                  </a:rPr>
                  <a:t>Por qué?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aumenta, entonces el </a:t>
                </a:r>
                <a:r>
                  <a:rPr lang="es-ES_tradnl" dirty="0">
                    <a:solidFill>
                      <a:srgbClr val="FF0000"/>
                    </a:solidFill>
                  </a:rPr>
                  <a:t>costo</a:t>
                </a:r>
                <a:r>
                  <a:rPr lang="es-ES_tradnl" dirty="0">
                    <a:solidFill>
                      <a:schemeClr val="tx1"/>
                    </a:solidFill>
                  </a:rPr>
                  <a:t> de muchos nodos terminales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</a:t>
                </a:r>
                <a:r>
                  <a:rPr lang="es-ES_tradnl" dirty="0">
                    <a:solidFill>
                      <a:schemeClr val="tx1"/>
                    </a:solidFill>
                  </a:rPr>
                  <a:t>, el </a:t>
                </a:r>
                <a:r>
                  <a:rPr lang="es-ES_tradnl" dirty="0">
                    <a:solidFill>
                      <a:srgbClr val="00B050"/>
                    </a:solidFill>
                  </a:rPr>
                  <a:t>tamaño</a:t>
                </a:r>
                <a:r>
                  <a:rPr lang="es-ES_tradnl" dirty="0">
                    <a:solidFill>
                      <a:schemeClr val="tx1"/>
                    </a:solidFill>
                  </a:rPr>
                  <a:t> del árbol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Colapsamos nodos = menos particiones del espacio de predictores = menos regiones = menor varianza de RSS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“podamos el árbol”: sacamos particiones innecesarias -&gt; </a:t>
                </a:r>
                <a:r>
                  <a:rPr lang="en-US" i="1" dirty="0"/>
                  <a:t>Weakest link pruning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</a:t>
                </a:r>
                <a:r>
                  <a:rPr lang="es-ES_tradnl" dirty="0" err="1"/>
                  <a:t>cross</a:t>
                </a:r>
                <a:r>
                  <a:rPr lang="es-ES_tradnl" dirty="0"/>
                  <a:t>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inicial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F5744B-BAE3-1282-A137-646024611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2411"/>
          </a:xfrm>
        </p:spPr>
        <p:txBody>
          <a:bodyPr anchor="ctr"/>
          <a:lstStyle/>
          <a:p>
            <a:r>
              <a:rPr lang="es-ES_tradnl" dirty="0"/>
              <a:t>MSE y tamaño del árbol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  <p:pic>
        <p:nvPicPr>
          <p:cNvPr id="9" name="Content Placeholder 8" descr="A diagram of a structure&#10;&#10;Description automatically generated">
            <a:extLst>
              <a:ext uri="{FF2B5EF4-FFF2-40B4-BE49-F238E27FC236}">
                <a16:creationId xmlns:a16="http://schemas.microsoft.com/office/drawing/2014/main" id="{F02ABCCC-F284-8A9A-B1EF-8535B3520B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5812" y="2631648"/>
            <a:ext cx="5884096" cy="3054417"/>
          </a:xfrm>
        </p:spPr>
      </p:pic>
      <p:pic>
        <p:nvPicPr>
          <p:cNvPr id="15" name="Content Placeholder 14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176725FB-AE60-8A6C-5A82-AD427F5C56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72518" y="2168204"/>
            <a:ext cx="4446494" cy="422892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3D7C-D8FE-DF24-3EC4-A2EC682E1DF2}"/>
              </a:ext>
            </a:extLst>
          </p:cNvPr>
          <p:cNvSpPr txBox="1"/>
          <p:nvPr/>
        </p:nvSpPr>
        <p:spPr>
          <a:xfrm>
            <a:off x="3418681" y="6229650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p.340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76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podado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con min CV error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14" name="Content Placeholder 13" descr="A diagram of a tree&#10;&#10;Description automatically generated">
            <a:extLst>
              <a:ext uri="{FF2B5EF4-FFF2-40B4-BE49-F238E27FC236}">
                <a16:creationId xmlns:a16="http://schemas.microsoft.com/office/drawing/2014/main" id="{6A183A91-49DF-A407-609C-3DD5107482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5322" y="2173574"/>
            <a:ext cx="4144505" cy="43979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92DA7-F2B8-30BC-7420-368A2DB9C20A}"/>
              </a:ext>
            </a:extLst>
          </p:cNvPr>
          <p:cNvSpPr txBox="1"/>
          <p:nvPr/>
        </p:nvSpPr>
        <p:spPr>
          <a:xfrm>
            <a:off x="3925322" y="6323598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Árboles vs. Modelos lineales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1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C2E4-B56F-054B-950B-30755D5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5FD5-41EA-92B9-DC13-E879E253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Modelo de Árbol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¿Qué es mejor? </a:t>
                </a:r>
                <a:r>
                  <a:rPr lang="es-ES_tradnl" dirty="0">
                    <a:solidFill>
                      <a:schemeClr val="accent2"/>
                    </a:solidFill>
                  </a:rPr>
                  <a:t>Depende</a:t>
                </a:r>
              </a:p>
              <a:p>
                <a:endParaRPr lang="es-ES_tradnl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 b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8751-0475-6399-0DC9-0657B47F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DC13A-F74B-8635-A776-20333BF7A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1: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, CART tiene </a:t>
            </a:r>
            <a:r>
              <a:rPr lang="es-ES_tradnl" dirty="0">
                <a:solidFill>
                  <a:srgbClr val="FF0000"/>
                </a:solidFill>
              </a:rPr>
              <a:t>mala performance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C7CCFBA-043C-8060-DE02-7ED53A69E8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49782"/>
          <a:stretch/>
        </p:blipFill>
        <p:spPr>
          <a:xfrm>
            <a:off x="5883078" y="2317567"/>
            <a:ext cx="6308922" cy="30632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2957-EB4D-C90A-F75F-6059D7721C43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106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A4D2-5A42-F1B2-8886-C2FFEB68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CE8E-53D8-8A5A-8D98-B7DAF4FB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E518F-998E-701D-6CFC-1FC73FC52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2: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no lineal</a:t>
            </a:r>
            <a:r>
              <a:rPr lang="es-ES_tradnl" dirty="0"/>
              <a:t>, CART es </a:t>
            </a: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para clasificar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9B56088-A8FC-458E-1CC8-B19494AFF6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9429"/>
          <a:stretch/>
        </p:blipFill>
        <p:spPr>
          <a:xfrm>
            <a:off x="5922541" y="2316456"/>
            <a:ext cx="6269459" cy="30654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CB2E-7A0F-BFB2-A5A7-410A28B0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DB9C0-F11E-0354-467D-F9BCB154FD09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5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Ventajas &amp; Desventajas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9DDE-0ECC-928D-2685-70540892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74B6-CA6B-DD1D-F03A-F8DDC1DB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Fácil de explicar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Se asemeja a procesos de decisión -&gt; Teoría de Juegos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Muy linda forma de ilustración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Menos capacidad predictiva que otros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2B32-2E72-2411-CA6F-1DBF176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9E41-A60A-CCCC-3AFE-67CA19DC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Puede usar de manera sencilla variables categóricas cualitativas sin necesidad de usar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Arriba: variables más relevantes.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Poco robusto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 Árbol es fundamental para las secciones siguientes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55DCEE9-BA19-C290-C4C7-266A1E274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1600" y="4494848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7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s-ES_tradnl" dirty="0"/>
              <a:t>Aprendimos el algoritmo de árboles que es la base para otros métodos de Ensamble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Simple interpretabilidad e ilustración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Poco robusto u overfitting data -&gt; </a:t>
            </a:r>
            <a:r>
              <a:rPr lang="es-ES_tradnl" dirty="0" err="1"/>
              <a:t>Pruning</a:t>
            </a:r>
            <a:r>
              <a:rPr lang="es-ES_tradnl" dirty="0"/>
              <a:t>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En la práctica, por cross-validation podemos elegir la profundidad de un árbol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  <a:p>
            <a:pPr marL="457200" lvl="1" indent="0">
              <a:lnSpc>
                <a:spcPct val="17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5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1933</Words>
  <Application>Microsoft Macintosh PowerPoint</Application>
  <PresentationFormat>Panorámica</PresentationFormat>
  <Paragraphs>281</Paragraphs>
  <Slides>40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0" baseType="lpstr">
      <vt:lpstr>Arial</vt:lpstr>
      <vt:lpstr>Calibri</vt:lpstr>
      <vt:lpstr>Cambria Math</vt:lpstr>
      <vt:lpstr>Gill Sans Nova Light</vt:lpstr>
      <vt:lpstr>Goudy Old Style</vt:lpstr>
      <vt:lpstr>System Font Regular</vt:lpstr>
      <vt:lpstr>Times</vt:lpstr>
      <vt:lpstr>Times New Roman</vt:lpstr>
      <vt:lpstr>Wingdings</vt:lpstr>
      <vt:lpstr>Office Theme</vt:lpstr>
      <vt:lpstr>CART:  Árboles de decisión de Clasificación y Regresión</vt:lpstr>
      <vt:lpstr>En la clase de hoy</vt:lpstr>
      <vt:lpstr>Introducción a Árboles: CART</vt:lpstr>
      <vt:lpstr> Árboles: Motivación</vt:lpstr>
      <vt:lpstr> Árboles: Motivación I</vt:lpstr>
      <vt:lpstr>Tipo de árboles  </vt:lpstr>
      <vt:lpstr> Árboles: Ilustración I</vt:lpstr>
      <vt:lpstr>CART: Ilustración &amp; Formalización del algoritmo</vt:lpstr>
      <vt:lpstr> Árboles: Algoritmo, versión simple</vt:lpstr>
      <vt:lpstr> Árboles: Ilustración del Algoritmo I</vt:lpstr>
      <vt:lpstr> Árboles: Ilustración del Algoritmo II </vt:lpstr>
      <vt:lpstr> Árboles: Interpretación </vt:lpstr>
      <vt:lpstr>Partición recursiva binaria: Introducción </vt:lpstr>
      <vt:lpstr>Partición recursiva binaria: Formalmente </vt:lpstr>
      <vt:lpstr>1. Árboles de Regresión (Regression Tree)</vt:lpstr>
      <vt:lpstr>1. Árboles de Regresión: Mejor Partición </vt:lpstr>
      <vt:lpstr>1. Árboles de Regresión: Stopping criterion</vt:lpstr>
      <vt:lpstr>2. Arboles de Clasificación:  </vt:lpstr>
      <vt:lpstr>2. Arboles de Clasificación:  </vt:lpstr>
      <vt:lpstr>2. Arboles de Clasificación: en la práctica</vt:lpstr>
      <vt:lpstr>Podar un árbol (Tree pruning)</vt:lpstr>
      <vt:lpstr>Tree Pruning: Idea e Intuición</vt:lpstr>
      <vt:lpstr>Costo de Complejidad: Notación </vt:lpstr>
      <vt:lpstr>Costo de Complejidad: Formula e Intuición  </vt:lpstr>
      <vt:lpstr>Costo de Complejidad: Objetivo </vt:lpstr>
      <vt:lpstr>Costo de Complejidad: Mecanismo </vt:lpstr>
      <vt:lpstr>Tree Pruning: Ilustración I </vt:lpstr>
      <vt:lpstr>Tree Pruning: Ilustración II</vt:lpstr>
      <vt:lpstr>CART: Árboles vs. Modelos lineales</vt:lpstr>
      <vt:lpstr>Árboles vs Modelos Lineales: Formalmente</vt:lpstr>
      <vt:lpstr>Árboles vs Modelos Lineales I</vt:lpstr>
      <vt:lpstr>Árboles vs Modelos Lineales II</vt:lpstr>
      <vt:lpstr>CART: Ventajas &amp; Desventajas</vt:lpstr>
      <vt:lpstr>Ventajas y Desventajas de Árboles I </vt:lpstr>
      <vt:lpstr>Ventajas y Desventajas de Árboles II </vt:lpstr>
      <vt:lpstr>Solución más sofisticada: Método de Ensamble</vt:lpstr>
      <vt:lpstr>¿Dudas, consultas?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194</cp:revision>
  <dcterms:created xsi:type="dcterms:W3CDTF">2023-06-12T20:51:31Z</dcterms:created>
  <dcterms:modified xsi:type="dcterms:W3CDTF">2026-06-05T19:06:04Z</dcterms:modified>
</cp:coreProperties>
</file>