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423" r:id="rId2"/>
    <p:sldId id="275" r:id="rId3"/>
    <p:sldId id="329" r:id="rId4"/>
    <p:sldId id="267" r:id="rId5"/>
    <p:sldId id="268" r:id="rId6"/>
    <p:sldId id="348" r:id="rId7"/>
    <p:sldId id="347" r:id="rId8"/>
    <p:sldId id="477" r:id="rId9"/>
    <p:sldId id="410" r:id="rId10"/>
    <p:sldId id="349" r:id="rId11"/>
    <p:sldId id="478" r:id="rId12"/>
    <p:sldId id="409" r:id="rId13"/>
    <p:sldId id="350" r:id="rId14"/>
    <p:sldId id="479" r:id="rId15"/>
    <p:sldId id="480" r:id="rId16"/>
    <p:sldId id="481" r:id="rId17"/>
    <p:sldId id="482" r:id="rId18"/>
    <p:sldId id="483" r:id="rId19"/>
    <p:sldId id="430" r:id="rId20"/>
    <p:sldId id="431" r:id="rId21"/>
    <p:sldId id="499" r:id="rId22"/>
    <p:sldId id="500" r:id="rId23"/>
    <p:sldId id="501" r:id="rId24"/>
    <p:sldId id="432" r:id="rId25"/>
    <p:sldId id="429" r:id="rId26"/>
    <p:sldId id="502" r:id="rId27"/>
    <p:sldId id="261" r:id="rId28"/>
    <p:sldId id="489" r:id="rId29"/>
    <p:sldId id="490" r:id="rId30"/>
    <p:sldId id="373" r:id="rId31"/>
    <p:sldId id="374" r:id="rId32"/>
    <p:sldId id="491" r:id="rId33"/>
    <p:sldId id="375" r:id="rId34"/>
    <p:sldId id="376" r:id="rId35"/>
    <p:sldId id="377" r:id="rId36"/>
    <p:sldId id="337" r:id="rId37"/>
    <p:sldId id="314" r:id="rId38"/>
    <p:sldId id="503" r:id="rId39"/>
    <p:sldId id="444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5E9202-8AF9-7B42-B817-22D148D689E3}">
          <p14:sldIdLst>
            <p14:sldId id="423"/>
            <p14:sldId id="275"/>
          </p14:sldIdLst>
        </p14:section>
        <p14:section name="Eleccion de modelos: Motivación" id="{F06AC147-1820-E64A-873C-8C467231AE8F}">
          <p14:sldIdLst>
            <p14:sldId id="329"/>
            <p14:sldId id="267"/>
            <p14:sldId id="268"/>
          </p14:sldIdLst>
        </p14:section>
        <p14:section name="Eleccion de modelos: Best, Forward and Backward subset selection" id="{053A4A06-A05F-6D46-82D6-5539DF7FADC8}">
          <p14:sldIdLst>
            <p14:sldId id="348"/>
            <p14:sldId id="347"/>
            <p14:sldId id="477"/>
            <p14:sldId id="410"/>
            <p14:sldId id="349"/>
            <p14:sldId id="478"/>
            <p14:sldId id="409"/>
            <p14:sldId id="350"/>
          </p14:sldIdLst>
        </p14:section>
        <p14:section name="Reduccion de la Dimensionalidad: Motivacion" id="{0A0DC914-4D51-D248-AE46-E8802529BB37}">
          <p14:sldIdLst>
            <p14:sldId id="479"/>
            <p14:sldId id="480"/>
            <p14:sldId id="481"/>
            <p14:sldId id="482"/>
          </p14:sldIdLst>
        </p14:section>
        <p14:section name="Regresion por Componentes Principales" id="{75D31724-3B6C-E842-978D-4FEEBABBFA4D}">
          <p14:sldIdLst>
            <p14:sldId id="483"/>
            <p14:sldId id="430"/>
            <p14:sldId id="431"/>
            <p14:sldId id="499"/>
            <p14:sldId id="500"/>
            <p14:sldId id="501"/>
            <p14:sldId id="432"/>
            <p14:sldId id="429"/>
          </p14:sldIdLst>
        </p14:section>
        <p14:section name="Minimo Cuadrados Parciales (PLS)" id="{5623DDE8-0602-0D4F-AFA1-3B05F3F0BCCE}">
          <p14:sldIdLst>
            <p14:sldId id="502"/>
            <p14:sldId id="261"/>
            <p14:sldId id="489"/>
            <p14:sldId id="490"/>
            <p14:sldId id="373"/>
            <p14:sldId id="374"/>
            <p14:sldId id="491"/>
            <p14:sldId id="375"/>
            <p14:sldId id="376"/>
            <p14:sldId id="377"/>
          </p14:sldIdLst>
        </p14:section>
        <p14:section name="Conclusiones finales" id="{30AE4762-25DE-C74D-AF95-4AEC0CC37FB0}">
          <p14:sldIdLst>
            <p14:sldId id="337"/>
            <p14:sldId id="314"/>
            <p14:sldId id="503"/>
            <p14:sldId id="44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636BAE-75B9-9D49-9367-F22C2EA51750}" v="5" dt="2026-06-02T19:29:31.6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483"/>
    <p:restoredTop sz="86630"/>
  </p:normalViewPr>
  <p:slideViewPr>
    <p:cSldViewPr snapToGrid="0">
      <p:cViewPr varScale="1">
        <p:scale>
          <a:sx n="103" d="100"/>
          <a:sy n="103" d="100"/>
        </p:scale>
        <p:origin x="560" y="176"/>
      </p:cViewPr>
      <p:guideLst/>
    </p:cSldViewPr>
  </p:slideViewPr>
  <p:outlineViewPr>
    <p:cViewPr>
      <p:scale>
        <a:sx n="33" d="100"/>
        <a:sy n="33" d="100"/>
      </p:scale>
      <p:origin x="0" y="-4029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ía Noelia Romero" userId="2133f5768dfc5791" providerId="LiveId" clId="{0168CA65-A813-5033-94B8-EF4605FC29D1}"/>
    <pc:docChg chg="custSel addSld modSld">
      <pc:chgData name="María Noelia Romero" userId="2133f5768dfc5791" providerId="LiveId" clId="{0168CA65-A813-5033-94B8-EF4605FC29D1}" dt="2026-06-02T19:29:31.616" v="102"/>
      <pc:docMkLst>
        <pc:docMk/>
      </pc:docMkLst>
      <pc:sldChg chg="modSp add mod">
        <pc:chgData name="María Noelia Romero" userId="2133f5768dfc5791" providerId="LiveId" clId="{0168CA65-A813-5033-94B8-EF4605FC29D1}" dt="2026-06-02T19:29:17.332" v="98" actId="27636"/>
        <pc:sldMkLst>
          <pc:docMk/>
          <pc:sldMk cId="22754045" sldId="261"/>
        </pc:sldMkLst>
        <pc:spChg chg="mod">
          <ac:chgData name="María Noelia Romero" userId="2133f5768dfc5791" providerId="LiveId" clId="{0168CA65-A813-5033-94B8-EF4605FC29D1}" dt="2026-06-02T19:29:17.332" v="98" actId="27636"/>
          <ac:spMkLst>
            <pc:docMk/>
            <pc:sldMk cId="22754045" sldId="261"/>
            <ac:spMk id="3" creationId="{CEDEC7B7-FFAA-1B1E-300A-35BAE8E1B19C}"/>
          </ac:spMkLst>
        </pc:spChg>
      </pc:sldChg>
      <pc:sldChg chg="delSp modSp mod delDesignElem chgLayout">
        <pc:chgData name="María Noelia Romero" userId="2133f5768dfc5791" providerId="LiveId" clId="{0168CA65-A813-5033-94B8-EF4605FC29D1}" dt="2026-06-02T19:28:04.713" v="91" actId="27636"/>
        <pc:sldMkLst>
          <pc:docMk/>
          <pc:sldMk cId="621529108" sldId="275"/>
        </pc:sldMkLst>
        <pc:spChg chg="mod ord">
          <ac:chgData name="María Noelia Romero" userId="2133f5768dfc5791" providerId="LiveId" clId="{0168CA65-A813-5033-94B8-EF4605FC29D1}" dt="2026-06-02T19:28:04.652" v="90" actId="700"/>
          <ac:spMkLst>
            <pc:docMk/>
            <pc:sldMk cId="621529108" sldId="275"/>
            <ac:spMk id="2" creationId="{EDAE00F5-C7EE-2CC9-E9BA-CD7EB57AFC01}"/>
          </ac:spMkLst>
        </pc:spChg>
        <pc:spChg chg="mod ord">
          <ac:chgData name="María Noelia Romero" userId="2133f5768dfc5791" providerId="LiveId" clId="{0168CA65-A813-5033-94B8-EF4605FC29D1}" dt="2026-06-02T19:28:04.713" v="91" actId="27636"/>
          <ac:spMkLst>
            <pc:docMk/>
            <pc:sldMk cId="621529108" sldId="275"/>
            <ac:spMk id="3" creationId="{F3A8327E-74B0-5F1D-D3E8-C9714B43F83E}"/>
          </ac:spMkLst>
        </pc:spChg>
        <pc:spChg chg="mod ord">
          <ac:chgData name="María Noelia Romero" userId="2133f5768dfc5791" providerId="LiveId" clId="{0168CA65-A813-5033-94B8-EF4605FC29D1}" dt="2026-06-02T19:28:04.652" v="90" actId="700"/>
          <ac:spMkLst>
            <pc:docMk/>
            <pc:sldMk cId="621529108" sldId="275"/>
            <ac:spMk id="4" creationId="{BB0393B2-27BD-5888-9D83-58D8D3F7236F}"/>
          </ac:spMkLst>
        </pc:spChg>
        <pc:cxnChg chg="del">
          <ac:chgData name="María Noelia Romero" userId="2133f5768dfc5791" providerId="LiveId" clId="{0168CA65-A813-5033-94B8-EF4605FC29D1}" dt="2026-06-02T19:28:04.652" v="90" actId="700"/>
          <ac:cxnSpMkLst>
            <pc:docMk/>
            <pc:sldMk cId="621529108" sldId="275"/>
            <ac:cxnSpMk id="10" creationId="{FC23E3B9-5ABF-58B3-E2B0-E9A5DAA90037}"/>
          </ac:cxnSpMkLst>
        </pc:cxnChg>
      </pc:sldChg>
      <pc:sldChg chg="add">
        <pc:chgData name="María Noelia Romero" userId="2133f5768dfc5791" providerId="LiveId" clId="{0168CA65-A813-5033-94B8-EF4605FC29D1}" dt="2026-06-02T19:29:17.036" v="97"/>
        <pc:sldMkLst>
          <pc:docMk/>
          <pc:sldMk cId="616989089" sldId="373"/>
        </pc:sldMkLst>
      </pc:sldChg>
      <pc:sldChg chg="modSp add mod">
        <pc:chgData name="María Noelia Romero" userId="2133f5768dfc5791" providerId="LiveId" clId="{0168CA65-A813-5033-94B8-EF4605FC29D1}" dt="2026-06-02T19:29:17.904" v="99" actId="27636"/>
        <pc:sldMkLst>
          <pc:docMk/>
          <pc:sldMk cId="4193367916" sldId="374"/>
        </pc:sldMkLst>
        <pc:spChg chg="mod">
          <ac:chgData name="María Noelia Romero" userId="2133f5768dfc5791" providerId="LiveId" clId="{0168CA65-A813-5033-94B8-EF4605FC29D1}" dt="2026-06-02T19:29:17.904" v="99" actId="27636"/>
          <ac:spMkLst>
            <pc:docMk/>
            <pc:sldMk cId="4193367916" sldId="374"/>
            <ac:spMk id="3" creationId="{CEDEC7B7-FFAA-1B1E-300A-35BAE8E1B19C}"/>
          </ac:spMkLst>
        </pc:spChg>
      </pc:sldChg>
      <pc:sldChg chg="add">
        <pc:chgData name="María Noelia Romero" userId="2133f5768dfc5791" providerId="LiveId" clId="{0168CA65-A813-5033-94B8-EF4605FC29D1}" dt="2026-06-02T19:29:17.036" v="97"/>
        <pc:sldMkLst>
          <pc:docMk/>
          <pc:sldMk cId="122217021" sldId="375"/>
        </pc:sldMkLst>
      </pc:sldChg>
      <pc:sldChg chg="modSp add mod">
        <pc:chgData name="María Noelia Romero" userId="2133f5768dfc5791" providerId="LiveId" clId="{0168CA65-A813-5033-94B8-EF4605FC29D1}" dt="2026-06-02T19:29:18.419" v="101" actId="27636"/>
        <pc:sldMkLst>
          <pc:docMk/>
          <pc:sldMk cId="2177994868" sldId="376"/>
        </pc:sldMkLst>
        <pc:spChg chg="mod">
          <ac:chgData name="María Noelia Romero" userId="2133f5768dfc5791" providerId="LiveId" clId="{0168CA65-A813-5033-94B8-EF4605FC29D1}" dt="2026-06-02T19:29:18.395" v="100" actId="27636"/>
          <ac:spMkLst>
            <pc:docMk/>
            <pc:sldMk cId="2177994868" sldId="376"/>
            <ac:spMk id="9" creationId="{BC620891-62E4-C4E5-0992-2D6F795C3FAC}"/>
          </ac:spMkLst>
        </pc:spChg>
        <pc:spChg chg="mod">
          <ac:chgData name="María Noelia Romero" userId="2133f5768dfc5791" providerId="LiveId" clId="{0168CA65-A813-5033-94B8-EF4605FC29D1}" dt="2026-06-02T19:29:18.419" v="101" actId="27636"/>
          <ac:spMkLst>
            <pc:docMk/>
            <pc:sldMk cId="2177994868" sldId="376"/>
            <ac:spMk id="11" creationId="{5EBB3223-25AD-9AF4-F56F-B1A8769B307F}"/>
          </ac:spMkLst>
        </pc:spChg>
      </pc:sldChg>
      <pc:sldChg chg="add">
        <pc:chgData name="María Noelia Romero" userId="2133f5768dfc5791" providerId="LiveId" clId="{0168CA65-A813-5033-94B8-EF4605FC29D1}" dt="2026-06-02T19:29:17.036" v="97"/>
        <pc:sldMkLst>
          <pc:docMk/>
          <pc:sldMk cId="3296620071" sldId="377"/>
        </pc:sldMkLst>
      </pc:sldChg>
      <pc:sldChg chg="modSp mod">
        <pc:chgData name="María Noelia Romero" userId="2133f5768dfc5791" providerId="LiveId" clId="{0168CA65-A813-5033-94B8-EF4605FC29D1}" dt="2026-06-02T19:27:04.051" v="81" actId="20577"/>
        <pc:sldMkLst>
          <pc:docMk/>
          <pc:sldMk cId="3979653562" sldId="423"/>
        </pc:sldMkLst>
        <pc:spChg chg="mod">
          <ac:chgData name="María Noelia Romero" userId="2133f5768dfc5791" providerId="LiveId" clId="{0168CA65-A813-5033-94B8-EF4605FC29D1}" dt="2026-06-02T19:27:04.051" v="81" actId="20577"/>
          <ac:spMkLst>
            <pc:docMk/>
            <pc:sldMk cId="3979653562" sldId="423"/>
            <ac:spMk id="2" creationId="{6A52C8F4-54CC-EED9-C31F-8F80FFB62EED}"/>
          </ac:spMkLst>
        </pc:spChg>
        <pc:spChg chg="mod">
          <ac:chgData name="María Noelia Romero" userId="2133f5768dfc5791" providerId="LiveId" clId="{0168CA65-A813-5033-94B8-EF4605FC29D1}" dt="2026-05-26T18:40:27.312" v="1" actId="20577"/>
          <ac:spMkLst>
            <pc:docMk/>
            <pc:sldMk cId="3979653562" sldId="423"/>
            <ac:spMk id="3" creationId="{C1F55BDD-1493-5FB8-8EDB-106F9B362918}"/>
          </ac:spMkLst>
        </pc:spChg>
      </pc:sldChg>
      <pc:sldChg chg="add">
        <pc:chgData name="María Noelia Romero" userId="2133f5768dfc5791" providerId="LiveId" clId="{0168CA65-A813-5033-94B8-EF4605FC29D1}" dt="2026-06-02T19:29:07.975" v="94"/>
        <pc:sldMkLst>
          <pc:docMk/>
          <pc:sldMk cId="2816792858" sldId="429"/>
        </pc:sldMkLst>
      </pc:sldChg>
      <pc:sldChg chg="add">
        <pc:chgData name="María Noelia Romero" userId="2133f5768dfc5791" providerId="LiveId" clId="{0168CA65-A813-5033-94B8-EF4605FC29D1}" dt="2026-06-02T19:29:07.975" v="94"/>
        <pc:sldMkLst>
          <pc:docMk/>
          <pc:sldMk cId="30857735" sldId="430"/>
        </pc:sldMkLst>
      </pc:sldChg>
      <pc:sldChg chg="add">
        <pc:chgData name="María Noelia Romero" userId="2133f5768dfc5791" providerId="LiveId" clId="{0168CA65-A813-5033-94B8-EF4605FC29D1}" dt="2026-06-02T19:29:07.975" v="94"/>
        <pc:sldMkLst>
          <pc:docMk/>
          <pc:sldMk cId="783085676" sldId="431"/>
        </pc:sldMkLst>
      </pc:sldChg>
      <pc:sldChg chg="add">
        <pc:chgData name="María Noelia Romero" userId="2133f5768dfc5791" providerId="LiveId" clId="{0168CA65-A813-5033-94B8-EF4605FC29D1}" dt="2026-06-02T19:29:07.975" v="94"/>
        <pc:sldMkLst>
          <pc:docMk/>
          <pc:sldMk cId="122877682" sldId="432"/>
        </pc:sldMkLst>
      </pc:sldChg>
      <pc:sldChg chg="add">
        <pc:chgData name="María Noelia Romero" userId="2133f5768dfc5791" providerId="LiveId" clId="{0168CA65-A813-5033-94B8-EF4605FC29D1}" dt="2026-06-02T19:28:59.403" v="92"/>
        <pc:sldMkLst>
          <pc:docMk/>
          <pc:sldMk cId="2898539706" sldId="479"/>
        </pc:sldMkLst>
      </pc:sldChg>
      <pc:sldChg chg="modSp add mod">
        <pc:chgData name="María Noelia Romero" userId="2133f5768dfc5791" providerId="LiveId" clId="{0168CA65-A813-5033-94B8-EF4605FC29D1}" dt="2026-06-02T19:28:59.571" v="93" actId="27636"/>
        <pc:sldMkLst>
          <pc:docMk/>
          <pc:sldMk cId="2107134760" sldId="480"/>
        </pc:sldMkLst>
        <pc:spChg chg="mod">
          <ac:chgData name="María Noelia Romero" userId="2133f5768dfc5791" providerId="LiveId" clId="{0168CA65-A813-5033-94B8-EF4605FC29D1}" dt="2026-06-02T19:28:59.571" v="93" actId="27636"/>
          <ac:spMkLst>
            <pc:docMk/>
            <pc:sldMk cId="2107134760" sldId="480"/>
            <ac:spMk id="3" creationId="{4DCB7428-BAF8-C43C-0F61-3A249901DD51}"/>
          </ac:spMkLst>
        </pc:spChg>
      </pc:sldChg>
      <pc:sldChg chg="add">
        <pc:chgData name="María Noelia Romero" userId="2133f5768dfc5791" providerId="LiveId" clId="{0168CA65-A813-5033-94B8-EF4605FC29D1}" dt="2026-06-02T19:28:59.403" v="92"/>
        <pc:sldMkLst>
          <pc:docMk/>
          <pc:sldMk cId="380196250" sldId="481"/>
        </pc:sldMkLst>
      </pc:sldChg>
      <pc:sldChg chg="add">
        <pc:chgData name="María Noelia Romero" userId="2133f5768dfc5791" providerId="LiveId" clId="{0168CA65-A813-5033-94B8-EF4605FC29D1}" dt="2026-06-02T19:28:59.403" v="92"/>
        <pc:sldMkLst>
          <pc:docMk/>
          <pc:sldMk cId="88012587" sldId="482"/>
        </pc:sldMkLst>
      </pc:sldChg>
      <pc:sldChg chg="add">
        <pc:chgData name="María Noelia Romero" userId="2133f5768dfc5791" providerId="LiveId" clId="{0168CA65-A813-5033-94B8-EF4605FC29D1}" dt="2026-06-02T19:29:07.975" v="94"/>
        <pc:sldMkLst>
          <pc:docMk/>
          <pc:sldMk cId="802874650" sldId="483"/>
        </pc:sldMkLst>
      </pc:sldChg>
      <pc:sldChg chg="add">
        <pc:chgData name="María Noelia Romero" userId="2133f5768dfc5791" providerId="LiveId" clId="{0168CA65-A813-5033-94B8-EF4605FC29D1}" dt="2026-06-02T19:29:17.036" v="97"/>
        <pc:sldMkLst>
          <pc:docMk/>
          <pc:sldMk cId="2724183562" sldId="489"/>
        </pc:sldMkLst>
      </pc:sldChg>
      <pc:sldChg chg="add">
        <pc:chgData name="María Noelia Romero" userId="2133f5768dfc5791" providerId="LiveId" clId="{0168CA65-A813-5033-94B8-EF4605FC29D1}" dt="2026-06-02T19:29:17.036" v="97"/>
        <pc:sldMkLst>
          <pc:docMk/>
          <pc:sldMk cId="1362354659" sldId="490"/>
        </pc:sldMkLst>
      </pc:sldChg>
      <pc:sldChg chg="add">
        <pc:chgData name="María Noelia Romero" userId="2133f5768dfc5791" providerId="LiveId" clId="{0168CA65-A813-5033-94B8-EF4605FC29D1}" dt="2026-06-02T19:29:17.036" v="97"/>
        <pc:sldMkLst>
          <pc:docMk/>
          <pc:sldMk cId="2130440370" sldId="491"/>
        </pc:sldMkLst>
      </pc:sldChg>
      <pc:sldChg chg="add">
        <pc:chgData name="María Noelia Romero" userId="2133f5768dfc5791" providerId="LiveId" clId="{0168CA65-A813-5033-94B8-EF4605FC29D1}" dt="2026-06-02T19:29:07.975" v="94"/>
        <pc:sldMkLst>
          <pc:docMk/>
          <pc:sldMk cId="227796607" sldId="499"/>
        </pc:sldMkLst>
      </pc:sldChg>
      <pc:sldChg chg="modSp add mod">
        <pc:chgData name="María Noelia Romero" userId="2133f5768dfc5791" providerId="LiveId" clId="{0168CA65-A813-5033-94B8-EF4605FC29D1}" dt="2026-06-02T19:29:08.787" v="95" actId="27636"/>
        <pc:sldMkLst>
          <pc:docMk/>
          <pc:sldMk cId="917389342" sldId="500"/>
        </pc:sldMkLst>
        <pc:spChg chg="mod">
          <ac:chgData name="María Noelia Romero" userId="2133f5768dfc5791" providerId="LiveId" clId="{0168CA65-A813-5033-94B8-EF4605FC29D1}" dt="2026-06-02T19:29:08.787" v="95" actId="27636"/>
          <ac:spMkLst>
            <pc:docMk/>
            <pc:sldMk cId="917389342" sldId="500"/>
            <ac:spMk id="3" creationId="{B5931804-7A9D-6F46-201E-D02A4BA9DE68}"/>
          </ac:spMkLst>
        </pc:spChg>
      </pc:sldChg>
      <pc:sldChg chg="modSp add mod">
        <pc:chgData name="María Noelia Romero" userId="2133f5768dfc5791" providerId="LiveId" clId="{0168CA65-A813-5033-94B8-EF4605FC29D1}" dt="2026-06-02T19:29:08.928" v="96" actId="27636"/>
        <pc:sldMkLst>
          <pc:docMk/>
          <pc:sldMk cId="4059380853" sldId="501"/>
        </pc:sldMkLst>
        <pc:spChg chg="mod">
          <ac:chgData name="María Noelia Romero" userId="2133f5768dfc5791" providerId="LiveId" clId="{0168CA65-A813-5033-94B8-EF4605FC29D1}" dt="2026-06-02T19:29:08.928" v="96" actId="27636"/>
          <ac:spMkLst>
            <pc:docMk/>
            <pc:sldMk cId="4059380853" sldId="501"/>
            <ac:spMk id="3" creationId="{BE35CFA3-09F2-07DB-818F-367413A659EC}"/>
          </ac:spMkLst>
        </pc:spChg>
      </pc:sldChg>
      <pc:sldChg chg="add">
        <pc:chgData name="María Noelia Romero" userId="2133f5768dfc5791" providerId="LiveId" clId="{0168CA65-A813-5033-94B8-EF4605FC29D1}" dt="2026-06-02T19:29:17.036" v="97"/>
        <pc:sldMkLst>
          <pc:docMk/>
          <pc:sldMk cId="517100053" sldId="502"/>
        </pc:sldMkLst>
      </pc:sldChg>
      <pc:sldChg chg="add">
        <pc:chgData name="María Noelia Romero" userId="2133f5768dfc5791" providerId="LiveId" clId="{0168CA65-A813-5033-94B8-EF4605FC29D1}" dt="2026-06-02T19:29:31.616" v="102"/>
        <pc:sldMkLst>
          <pc:docMk/>
          <pc:sldMk cId="979656567" sldId="50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A57B98-7F31-0D42-9B7E-63D1E3B1FEB1}" type="datetimeFigureOut">
              <a:rPr lang="es-ES_tradnl" smtClean="0"/>
              <a:t>2/6/26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6B6AD-E852-0649-B090-0B587A2ABB4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22000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94188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* Ver la </a:t>
            </a:r>
            <a:r>
              <a:rPr lang="es-ES_tradnl" dirty="0" err="1"/>
              <a:t>intro</a:t>
            </a:r>
            <a:r>
              <a:rPr lang="es-ES_tradnl" dirty="0"/>
              <a:t> y motivación en estos dos capítulos.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5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369036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499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539979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50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17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963501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3751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3677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36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07228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B98C-7E11-E20C-7CA1-01CA7BC60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FC3A6-7EF0-25DE-49FD-093DABEA4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BDF46-6163-6B81-C8F2-2AFCA65A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000F8-7FFC-5341-ADE9-35A49375D21C}" type="datetime1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8C366-551D-FE97-2B1D-32127BF3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01B1D-ECC1-F92A-E5F2-CCE79365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8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CDC1-3848-0D97-B7AC-87941E6A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30B0-69E0-A392-06B3-B0B255B7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B745A-C184-9A02-3478-963C49CD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858FC-9A6A-6A4B-BC45-38DA2CDC520C}" type="datetime1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6306-932B-2678-8102-D5B1FF6A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FBCBB-A717-3F86-896B-2E915566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CE9D-254D-F34F-04CD-7171E08A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A657-71FF-6D0F-FA99-85DC67E6E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D6D25-137F-9F92-60F0-FB0CA02E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57393-515B-1A47-A87A-8640CC03CD21}" type="datetime1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48134-AEC4-52EE-619E-153EC79D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6E28-6B6A-F6F8-4722-E4543D31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8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1D6C-E496-E079-CBB1-0568125C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5603-C8AA-9A92-329E-1802B5F59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50DDA-AA05-B9E0-6968-15C94DE92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06625-219C-99D2-3E54-1E8F41B2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0A069-A1EA-0F47-A741-49B3A660719F}" type="datetime1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ABBC7-B012-FDE4-EA5B-0F69DA2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5FDEE-8F41-2CAA-8017-4038F3B8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5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A04D-9D5C-EB18-C5D0-F76A09B0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72525-56CB-7F89-4E11-9F3346C59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198E8-A9B1-48FB-F54D-A3A92D36D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1E517-63E9-95AE-DECC-CFC5865D1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2A0CC-FDD5-8EAE-60EC-D76CDDC97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A6C08-7F94-962B-4B6D-4E592F0E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E4583-8738-D446-A561-042FC1E653E3}" type="datetime1">
              <a:rPr lang="en-US" smtClean="0"/>
              <a:t>6/2/26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DBB8B-904B-340C-44C2-AEB8E734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7219B-396C-1FD3-E2D2-AE434727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6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71B7-64C8-5681-B050-6630E101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26AF0-FBD4-6543-A23B-33B8EC5C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0A491-31D3-4F46-B45E-95FC60EFF440}" type="datetime1">
              <a:rPr lang="en-US" smtClean="0"/>
              <a:t>6/2/26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316-ECA6-24C4-30E6-F285BB5B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1D056-F9AE-1692-E81E-AF758FCC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10710-3846-C9D7-2144-F947912C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22F5C-5B3E-AE45-9D2D-54D56FEFFDFB}" type="datetime1">
              <a:rPr lang="en-US" smtClean="0"/>
              <a:t>6/2/26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AC6AD-5E2E-A761-7126-579D5026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90D8-22CE-08FF-C435-CF9436B2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159F-BCFE-0041-5B65-0F7FC249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DE978-B876-7F13-E812-15175B9B4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065CE-0860-1EFD-1CD1-8D84398DF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E4DE7-1714-6B66-42FD-77D069D7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ECDE3-54E0-7D4C-8C01-682D9A3E8683}" type="datetime1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CCE9F-F437-9F8B-15B0-8576AFF5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9748-1BAE-0CB1-1ED5-9FF402F0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0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5094-D299-E460-49A2-D005A07A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9A670-8C5F-885F-FB89-1940119E6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02C41-9999-BFD6-AEAD-EB346FCC3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5BE73-C51E-CB3B-FD3F-C461033F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DF334-1367-DE42-B433-657F08CBBA33}" type="datetime1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D6684-3CE0-4A83-95A6-6EBB0949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73D51-51CE-D827-C1EE-C87D922E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1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6847-10A3-1E86-2365-C19719B4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4D640-C06A-7E21-00D5-44964ADC6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FEB36-D0A3-DD5E-C201-B27A7169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FA313-D30E-C24D-B5E3-47AF40650833}" type="datetime1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C4C8-11C3-310B-0494-5A9A39C6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3FB9E-F285-F7AE-0E8F-94E44391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591E1-25BE-1B7D-2747-B206B7690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C95D2-79AD-B457-5041-AF0BC72A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D9B71-7EFC-DD71-1559-F745192F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B59BE-6406-4040-81F6-DB3E248EDC37}" type="datetime1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FD8D1-6C57-FE1E-C640-C760ABFF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79F31-ACBF-4495-3650-1BBE0598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E12EA-8A8E-06EC-6E57-8E5E96C5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0FE1-91A8-46C3-32E1-30AAA21A9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noProof="0"/>
              <a:t>Click to edit Master text styles</a:t>
            </a:r>
          </a:p>
          <a:p>
            <a:pPr lvl="1"/>
            <a:r>
              <a:rPr lang="es-ES_tradnl" noProof="0"/>
              <a:t>Second level</a:t>
            </a:r>
          </a:p>
          <a:p>
            <a:pPr lvl="2"/>
            <a:r>
              <a:rPr lang="es-ES_tradnl" noProof="0"/>
              <a:t>Third level</a:t>
            </a:r>
          </a:p>
          <a:p>
            <a:pPr lvl="3"/>
            <a:r>
              <a:rPr lang="es-ES_tradnl" noProof="0"/>
              <a:t>Fourth level</a:t>
            </a:r>
          </a:p>
          <a:p>
            <a:pPr lvl="4"/>
            <a:r>
              <a:rPr lang="es-ES_tradnl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69DB0-88CE-6331-AB80-0CB309875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6C47D364-D30F-3243-95CC-D040B3E96DD2}" type="datetime1">
              <a:rPr lang="en-US" noProof="0" smtClean="0"/>
              <a:t>6/2/26</a:t>
            </a:fld>
            <a:endParaRPr lang="es-ES_tradnl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5CBFB-E83F-ED57-BB3C-53CCB6662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endParaRPr lang="es-ES_tradnl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CCDE-D195-0527-335D-0AECD8803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78C1CC4-2077-434E-BCF1-5D01C08A9B17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0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Goudy Old Style" panose="020205020503050203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mailto:25RO35480961@campus.economicas.uba.ar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C8F4-54CC-EED9-C31F-8F80FFB62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910"/>
            <a:ext cx="9144000" cy="2387600"/>
          </a:xfrm>
        </p:spPr>
        <p:txBody>
          <a:bodyPr>
            <a:normAutofit/>
          </a:bodyPr>
          <a:lstStyle/>
          <a:p>
            <a:r>
              <a:rPr lang="es-ES" sz="4400" kern="1400" dirty="0">
                <a:cs typeface="Times New Roman" panose="02020603050405020304" pitchFamily="18" charset="0"/>
              </a:rPr>
              <a:t>Elección de Modelos Lineales &amp; Métodos basados en la reducción de la dimensionalidad: PCR &amp; PLS</a:t>
            </a:r>
            <a:endParaRPr lang="en-US" sz="14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55BDD-1493-5FB8-8EDB-106F9B362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9115"/>
            <a:ext cx="9144000" cy="1655762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María Noelia Romero</a:t>
            </a:r>
            <a:r>
              <a:rPr lang="en-US" sz="4000" dirty="0">
                <a:effectLst/>
              </a:rPr>
              <a:t> </a:t>
            </a:r>
            <a:endParaRPr lang="en-US" sz="4000" dirty="0"/>
          </a:p>
          <a:p>
            <a:r>
              <a:rPr lang="es-ES" sz="2800" dirty="0">
                <a:solidFill>
                  <a:srgbClr val="000000"/>
                </a:solidFill>
                <a:latin typeface="Gill Sans Nova Light" panose="020F0302020204030204" pitchFamily="34" charset="0"/>
                <a:cs typeface="Times New Roman" panose="02020603050405020304" pitchFamily="18" charset="0"/>
              </a:rPr>
              <a:t>Clase </a:t>
            </a:r>
            <a:r>
              <a:rPr lang="es-E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09 – Parte 2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ADCD9-CEB1-5D1E-D7AC-167899E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27F2D-CC52-462D-4A92-C7C4502C7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50" y="853123"/>
            <a:ext cx="1463040" cy="1463040"/>
          </a:xfrm>
          <a:prstGeom prst="rect">
            <a:avLst/>
          </a:prstGeom>
        </p:spPr>
      </p:pic>
      <p:pic>
        <p:nvPicPr>
          <p:cNvPr id="6" name="Picture 5" descr="A blue and yellow logo&#10;&#10;Description automatically generated">
            <a:extLst>
              <a:ext uri="{FF2B5EF4-FFF2-40B4-BE49-F238E27FC236}">
                <a16:creationId xmlns:a16="http://schemas.microsoft.com/office/drawing/2014/main" id="{939E0972-AB4F-C51D-7B38-9F10B613F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07" y="849631"/>
            <a:ext cx="1271793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653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00F5-C7EE-2CC9-E9BA-CD7EB57AF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s-ES_tradnl" sz="3200"/>
              <a:t>En la clase de hoy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327E-74B0-5F1D-D3E8-C9714B43F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_tradnl" dirty="0">
                <a:solidFill>
                  <a:srgbClr val="0070C0"/>
                </a:solidFill>
              </a:rPr>
              <a:t>Métodos de elección de modelos lineales </a:t>
            </a:r>
          </a:p>
          <a:p>
            <a:pPr marL="971550" lvl="1" indent="-514350">
              <a:buFont typeface="+mj-lt"/>
              <a:buAutoNum type="alphaLcPeriod"/>
            </a:pPr>
            <a:r>
              <a:rPr lang="es-ES_tradnl" dirty="0"/>
              <a:t>Búsqueda Exhaustiva (</a:t>
            </a:r>
            <a:r>
              <a:rPr lang="es-ES_tradnl" dirty="0" err="1"/>
              <a:t>Best</a:t>
            </a:r>
            <a:r>
              <a:rPr lang="es-ES_tradnl" dirty="0"/>
              <a:t> </a:t>
            </a:r>
            <a:r>
              <a:rPr lang="es-ES_tradnl" dirty="0" err="1"/>
              <a:t>Subset</a:t>
            </a:r>
            <a:r>
              <a:rPr lang="es-ES_tradnl" dirty="0"/>
              <a:t> </a:t>
            </a:r>
            <a:r>
              <a:rPr lang="es-ES_tradnl" dirty="0" err="1"/>
              <a:t>Selection</a:t>
            </a:r>
            <a:r>
              <a:rPr lang="es-ES_tradnl" dirty="0"/>
              <a:t>)</a:t>
            </a:r>
          </a:p>
          <a:p>
            <a:pPr marL="971550" lvl="1" indent="-514350">
              <a:buFont typeface="+mj-lt"/>
              <a:buAutoNum type="alphaLcPeriod"/>
            </a:pPr>
            <a:r>
              <a:rPr lang="es-ES_tradnl" dirty="0" err="1"/>
              <a:t>Foward</a:t>
            </a:r>
            <a:r>
              <a:rPr lang="es-ES_tradnl" dirty="0"/>
              <a:t> </a:t>
            </a:r>
            <a:r>
              <a:rPr lang="es-ES_tradnl" dirty="0" err="1"/>
              <a:t>Selection</a:t>
            </a:r>
            <a:endParaRPr lang="es-ES_tradnl" dirty="0"/>
          </a:p>
          <a:p>
            <a:pPr marL="971550" lvl="1" indent="-514350">
              <a:buFont typeface="+mj-lt"/>
              <a:buAutoNum type="alphaLcPeriod"/>
            </a:pPr>
            <a:r>
              <a:rPr lang="es-ES_tradnl" dirty="0" err="1"/>
              <a:t>Backward</a:t>
            </a:r>
            <a:r>
              <a:rPr lang="es-ES_tradnl" dirty="0"/>
              <a:t> </a:t>
            </a:r>
            <a:r>
              <a:rPr lang="es-ES_tradnl" dirty="0" err="1"/>
              <a:t>Selection</a:t>
            </a:r>
            <a:endParaRPr lang="es-ES_tradnl" dirty="0"/>
          </a:p>
          <a:p>
            <a:pPr marL="0" indent="0">
              <a:lnSpc>
                <a:spcPct val="120000"/>
              </a:lnSpc>
              <a:buNone/>
            </a:pPr>
            <a:r>
              <a:rPr lang="es-ES_tradnl" dirty="0">
                <a:solidFill>
                  <a:srgbClr val="0070C0"/>
                </a:solidFill>
              </a:rPr>
              <a:t>Regresión lineal </a:t>
            </a:r>
            <a:r>
              <a:rPr lang="es-ES_tradnl" dirty="0"/>
              <a:t>basada en métodos de reducción de la dimensionalidad: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LcPeriod"/>
            </a:pPr>
            <a:r>
              <a:rPr lang="es-ES_tradnl" dirty="0"/>
              <a:t>Regresión por Componentes Principales (PCR) 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LcPeriod"/>
            </a:pPr>
            <a:r>
              <a:rPr lang="es-ES_tradnl" dirty="0"/>
              <a:t>Mínimo Cuadrado Parciales (PLS): </a:t>
            </a:r>
          </a:p>
          <a:p>
            <a:pPr marL="0" indent="0">
              <a:buNone/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393B2-27BD-5888-9D83-58D8D3F72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78C1CC4-2077-434E-BCF1-5D01C08A9B17}" type="slidenum">
              <a:rPr lang="en-US" sz="1800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621529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Elección de Modelos: Introducción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665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E4FD-2DBC-AAD4-5AD2-71B1A7DA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Trade off-sesgo varianza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B7428-BAF8-C43C-0F61-3A249901D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80529" cy="435133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Modelo </a:t>
            </a:r>
            <a:r>
              <a:rPr lang="es-ES_tradnl" dirty="0">
                <a:solidFill>
                  <a:srgbClr val="002060"/>
                </a:solidFill>
              </a:rPr>
              <a:t>lineal</a:t>
            </a:r>
            <a:r>
              <a:rPr lang="es-ES_tradnl" dirty="0"/>
              <a:t>: “</a:t>
            </a:r>
            <a:r>
              <a:rPr lang="es-ES_tradnl" dirty="0">
                <a:solidFill>
                  <a:srgbClr val="002060"/>
                </a:solidFill>
              </a:rPr>
              <a:t>Madre</a:t>
            </a:r>
            <a:r>
              <a:rPr lang="es-ES_tradnl" dirty="0"/>
              <a:t>” de todos los modelos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FF0000"/>
                </a:solidFill>
              </a:rPr>
              <a:t>Trade off</a:t>
            </a:r>
            <a:r>
              <a:rPr lang="es-ES_tradnl" dirty="0"/>
              <a:t>: modelos más ‘complejos’ tienden a ser menos sesgados, pero con mayor varianza.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Idea</a:t>
            </a:r>
            <a:r>
              <a:rPr lang="es-ES_tradnl" dirty="0"/>
              <a:t>: Buscar modelos lineales que: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Interpretación </a:t>
            </a:r>
            <a:r>
              <a:rPr lang="es-ES_tradnl" dirty="0"/>
              <a:t>de manera sencilla 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Menor error de predicción </a:t>
            </a:r>
            <a:r>
              <a:rPr lang="es-ES_tradnl" dirty="0"/>
              <a:t>afuera de la muestra que una regresión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C3116-EEC6-9873-7268-2EF328014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B317EB5-1442-A4A6-2D79-1D5C57D69603}"/>
              </a:ext>
            </a:extLst>
          </p:cNvPr>
          <p:cNvGrpSpPr/>
          <p:nvPr/>
        </p:nvGrpSpPr>
        <p:grpSpPr>
          <a:xfrm>
            <a:off x="6675126" y="1266521"/>
            <a:ext cx="5516874" cy="4970935"/>
            <a:chOff x="6675126" y="1266521"/>
            <a:chExt cx="5516874" cy="4970935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B973C4A-5C95-B1A6-C745-2E4273DD7501}"/>
                </a:ext>
              </a:extLst>
            </p:cNvPr>
            <p:cNvCxnSpPr/>
            <p:nvPr/>
          </p:nvCxnSpPr>
          <p:spPr>
            <a:xfrm>
              <a:off x="6675126" y="5539437"/>
              <a:ext cx="445008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D4855910-5CE8-6F00-EFF6-D3A81B78BB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5126" y="1591325"/>
              <a:ext cx="0" cy="394811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E15B4DF0-1066-7C0C-87CD-7E86D4365E73}"/>
                </a:ext>
              </a:extLst>
            </p:cNvPr>
            <p:cNvSpPr/>
            <p:nvPr/>
          </p:nvSpPr>
          <p:spPr>
            <a:xfrm>
              <a:off x="6949446" y="1897077"/>
              <a:ext cx="3749040" cy="1584959"/>
            </a:xfrm>
            <a:custGeom>
              <a:avLst/>
              <a:gdLst>
                <a:gd name="connsiteX0" fmla="*/ 0 w 3749040"/>
                <a:gd name="connsiteY0" fmla="*/ 0 h 1829151"/>
                <a:gd name="connsiteX1" fmla="*/ 1783080 w 3749040"/>
                <a:gd name="connsiteY1" fmla="*/ 1828800 h 1829151"/>
                <a:gd name="connsiteX2" fmla="*/ 3749040 w 3749040"/>
                <a:gd name="connsiteY2" fmla="*/ 121920 h 182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49040" h="1829151">
                  <a:moveTo>
                    <a:pt x="0" y="0"/>
                  </a:moveTo>
                  <a:cubicBezTo>
                    <a:pt x="579120" y="904240"/>
                    <a:pt x="1158240" y="1808480"/>
                    <a:pt x="1783080" y="1828800"/>
                  </a:cubicBezTo>
                  <a:cubicBezTo>
                    <a:pt x="2407920" y="1849120"/>
                    <a:pt x="3078480" y="985520"/>
                    <a:pt x="3749040" y="12192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49F39FF6-1BF9-7939-A133-CD5BBC768AF9}"/>
                </a:ext>
              </a:extLst>
            </p:cNvPr>
            <p:cNvSpPr/>
            <p:nvPr/>
          </p:nvSpPr>
          <p:spPr>
            <a:xfrm>
              <a:off x="6949446" y="3482036"/>
              <a:ext cx="4053835" cy="1615442"/>
            </a:xfrm>
            <a:custGeom>
              <a:avLst/>
              <a:gdLst>
                <a:gd name="connsiteX0" fmla="*/ 0 w 4373880"/>
                <a:gd name="connsiteY0" fmla="*/ 0 h 3517945"/>
                <a:gd name="connsiteX1" fmla="*/ 1859280 w 4373880"/>
                <a:gd name="connsiteY1" fmla="*/ 3078480 h 3517945"/>
                <a:gd name="connsiteX2" fmla="*/ 4373880 w 4373880"/>
                <a:gd name="connsiteY2" fmla="*/ 3429000 h 3517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73880" h="3517945">
                  <a:moveTo>
                    <a:pt x="0" y="0"/>
                  </a:moveTo>
                  <a:cubicBezTo>
                    <a:pt x="565150" y="1253490"/>
                    <a:pt x="1130300" y="2506980"/>
                    <a:pt x="1859280" y="3078480"/>
                  </a:cubicBezTo>
                  <a:cubicBezTo>
                    <a:pt x="2588260" y="3649980"/>
                    <a:pt x="3481070" y="3539490"/>
                    <a:pt x="4373880" y="342900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A71D21AC-0DDF-30E6-9D82-49022824A35F}"/>
                </a:ext>
              </a:extLst>
            </p:cNvPr>
            <p:cNvSpPr/>
            <p:nvPr/>
          </p:nvSpPr>
          <p:spPr>
            <a:xfrm>
              <a:off x="6987556" y="3482036"/>
              <a:ext cx="3749035" cy="1688456"/>
            </a:xfrm>
            <a:custGeom>
              <a:avLst/>
              <a:gdLst>
                <a:gd name="connsiteX0" fmla="*/ 0 w 3810000"/>
                <a:gd name="connsiteY0" fmla="*/ 2971800 h 2983857"/>
                <a:gd name="connsiteX1" fmla="*/ 1752600 w 3810000"/>
                <a:gd name="connsiteY1" fmla="*/ 2529840 h 2983857"/>
                <a:gd name="connsiteX2" fmla="*/ 3810000 w 3810000"/>
                <a:gd name="connsiteY2" fmla="*/ 0 h 2983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10000" h="2983857">
                  <a:moveTo>
                    <a:pt x="0" y="2971800"/>
                  </a:moveTo>
                  <a:cubicBezTo>
                    <a:pt x="558800" y="2998470"/>
                    <a:pt x="1117600" y="3025140"/>
                    <a:pt x="1752600" y="2529840"/>
                  </a:cubicBezTo>
                  <a:cubicBezTo>
                    <a:pt x="2387600" y="2034540"/>
                    <a:pt x="3098800" y="1017270"/>
                    <a:pt x="3810000" y="0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CC39B49-AF84-B8B5-F1C2-3736D73A24DD}"/>
                </a:ext>
              </a:extLst>
            </p:cNvPr>
            <p:cNvSpPr txBox="1"/>
            <p:nvPr/>
          </p:nvSpPr>
          <p:spPr>
            <a:xfrm>
              <a:off x="9982201" y="5714236"/>
              <a:ext cx="20421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_tradnl" sz="2800" dirty="0">
                  <a:latin typeface="Gill Sans Nova Light" panose="020B0302020104020203" pitchFamily="34" charset="0"/>
                </a:rPr>
                <a:t>Complejidad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A437908-8EF7-4CB3-88C1-5E698701403B}"/>
                </a:ext>
              </a:extLst>
            </p:cNvPr>
            <p:cNvSpPr txBox="1"/>
            <p:nvPr/>
          </p:nvSpPr>
          <p:spPr>
            <a:xfrm>
              <a:off x="6705608" y="1266521"/>
              <a:ext cx="123443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_tradnl" sz="2800" dirty="0">
                  <a:latin typeface="Gill Sans Nova Light" panose="020B0302020104020203" pitchFamily="34" charset="0"/>
                </a:rPr>
                <a:t>Error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16B4C00-9165-B137-D7CD-4D27CF805EAD}"/>
                    </a:ext>
                  </a:extLst>
                </p:cNvPr>
                <p:cNvSpPr txBox="1"/>
                <p:nvPr/>
              </p:nvSpPr>
              <p:spPr>
                <a:xfrm>
                  <a:off x="9761221" y="1482115"/>
                  <a:ext cx="2263139" cy="5786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𝐸𝑟𝑟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ES_tradnl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16B4C00-9165-B137-D7CD-4D27CF805E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61221" y="1482115"/>
                  <a:ext cx="2263139" cy="578685"/>
                </a:xfrm>
                <a:prstGeom prst="rect">
                  <a:avLst/>
                </a:prstGeom>
                <a:blipFill>
                  <a:blip r:embed="rId3"/>
                  <a:stretch>
                    <a:fillRect t="-4255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0F779B0-A41E-2D99-7F5F-B877955E4598}"/>
                    </a:ext>
                  </a:extLst>
                </p:cNvPr>
                <p:cNvSpPr txBox="1"/>
                <p:nvPr/>
              </p:nvSpPr>
              <p:spPr>
                <a:xfrm>
                  <a:off x="9841235" y="2813345"/>
                  <a:ext cx="2263139" cy="5820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ctrlP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ES_tradnl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sz="2800" b="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0F779B0-A41E-2D99-7F5F-B877955E45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1235" y="2813345"/>
                  <a:ext cx="2263139" cy="582019"/>
                </a:xfrm>
                <a:prstGeom prst="rect">
                  <a:avLst/>
                </a:prstGeom>
                <a:blipFill>
                  <a:blip r:embed="rId4"/>
                  <a:stretch>
                    <a:fillRect t="-6383" b="-12766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5627078-95E6-3A2C-5A19-A97B1B5011F9}"/>
                    </a:ext>
                  </a:extLst>
                </p:cNvPr>
                <p:cNvSpPr txBox="1"/>
                <p:nvPr/>
              </p:nvSpPr>
              <p:spPr>
                <a:xfrm>
                  <a:off x="9928861" y="4406233"/>
                  <a:ext cx="2263139" cy="5820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𝑆𝑒𝑠𝑔</m:t>
                        </m:r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ES_tradnl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sz="2800" b="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5627078-95E6-3A2C-5A19-A97B1B5011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28861" y="4406233"/>
                  <a:ext cx="2263139" cy="582019"/>
                </a:xfrm>
                <a:prstGeom prst="rect">
                  <a:avLst/>
                </a:prstGeom>
                <a:blipFill>
                  <a:blip r:embed="rId5"/>
                  <a:stretch>
                    <a:fillRect t="-6522" b="-13043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54528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E4FD-2DBC-AAD4-5AD2-71B1A7DA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Elección de Modelos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Sea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serie de modelos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¿Ordenables en complejidad? Trade-off sesgo varianza. </a:t>
                </a:r>
                <a:r>
                  <a:rPr lang="es-ES_tradnl" dirty="0" err="1"/>
                  <a:t>Overfit</a:t>
                </a:r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¿Anidados?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¿Existe un “supermodelo” que contenga al verdadero?</a:t>
                </a:r>
              </a:p>
              <a:p>
                <a:pPr>
                  <a:lnSpc>
                    <a:spcPct val="150000"/>
                  </a:lnSpc>
                </a:pPr>
                <a:endParaRPr lang="es-ES_tradnl" sz="1500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Elección de modelos</a:t>
                </a:r>
                <a:r>
                  <a:rPr lang="es-ES_tradnl" dirty="0"/>
                  <a:t>: búsqueda 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s-ES_tradnl" dirty="0"/>
                  <a:t> del </a:t>
                </a:r>
                <a:r>
                  <a:rPr lang="es-ES_tradnl" dirty="0">
                    <a:solidFill>
                      <a:srgbClr val="00B050"/>
                    </a:solidFill>
                  </a:rPr>
                  <a:t>mejor</a:t>
                </a:r>
                <a:r>
                  <a:rPr lang="es-ES_tradnl" dirty="0"/>
                  <a:t> modelo lineal para predecir fuera de la muestra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Ventajas</a:t>
                </a:r>
                <a:r>
                  <a:rPr lang="es-ES_tradnl" dirty="0"/>
                  <a:t>: seguimos en el conjunto de modelos simples de interpretar y fácil de estimar por MCO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B7029-CAC5-1B0F-5F65-E42E8001F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371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Elección de Modelos Lineales: </a:t>
            </a:r>
            <a:r>
              <a:rPr lang="es-ES_tradnl" dirty="0" err="1"/>
              <a:t>Subset</a:t>
            </a:r>
            <a:r>
              <a:rPr lang="es-ES_tradnl" dirty="0"/>
              <a:t> </a:t>
            </a:r>
            <a:r>
              <a:rPr lang="es-ES_tradnl" dirty="0" err="1"/>
              <a:t>Selection</a:t>
            </a:r>
            <a:endParaRPr lang="es-ES_trad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6.1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53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C2A76-D9EB-1BA0-8D88-E47A6BDCE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Búsqueda exhaustiva: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Best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Subset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Selection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106514-EB17-AA85-B556-CC66957601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Iniciar con el modelo nulo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sin predictores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Estimar todos los posibles modelos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s-ES_tradnl" dirty="0"/>
                  <a:t> con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s-ES_tradnl" dirty="0"/>
                  <a:t> predictores,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=1, 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Para cada modelo, </a:t>
                </a:r>
                <a:r>
                  <a:rPr lang="es-ES_tradnl" dirty="0">
                    <a:solidFill>
                      <a:srgbClr val="002060"/>
                    </a:solidFill>
                  </a:rPr>
                  <a:t>computar</a:t>
                </a:r>
                <a:r>
                  <a:rPr lang="es-ES_tradnl" dirty="0"/>
                  <a:t> la suma de los residuos al cuadrado (RSS),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, o el error de cross-validation (CV)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Elegir el que minimiza RSS o maximiza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 -&gt; </a:t>
                </a:r>
                <a:r>
                  <a:rPr lang="es-ES_tradnl" dirty="0" err="1">
                    <a:solidFill>
                      <a:srgbClr val="00B050"/>
                    </a:solidFill>
                  </a:rPr>
                  <a:t>Best</a:t>
                </a:r>
                <a:r>
                  <a:rPr lang="es-ES_tradnl" dirty="0">
                    <a:solidFill>
                      <a:srgbClr val="00B050"/>
                    </a:solidFill>
                  </a:rPr>
                  <a:t> </a:t>
                </a:r>
                <a:r>
                  <a:rPr lang="es-ES_tradnl" dirty="0" err="1">
                    <a:solidFill>
                      <a:srgbClr val="00B050"/>
                    </a:solidFill>
                  </a:rPr>
                  <a:t>subset</a:t>
                </a:r>
                <a:endParaRPr lang="es-ES_tradnl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106514-EB17-AA85-B556-CC66957601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68" b="-11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AB197-1BD1-7E2E-8029-21768C688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99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E426B-A789-60A7-0744-A4048FDB9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Búsqueda exhaustiva: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Best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Subset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Selection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0A2308-547B-A89D-115A-CEA1D8DD3C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>
                    <a:solidFill>
                      <a:srgbClr val="FF0000"/>
                    </a:solidFill>
                  </a:rPr>
                  <a:t>¿Problema?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Estamos calculando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s-ES_tradnl" dirty="0"/>
                  <a:t> modelos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Computacionalmente inviable para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‘moderado’: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⇒1.048.576</m:t>
                    </m:r>
                  </m:oMath>
                </a14:m>
                <a:r>
                  <a:rPr lang="es-ES_tradnl" dirty="0"/>
                  <a:t> modelos</a:t>
                </a:r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0A2308-547B-A89D-115A-CEA1D8DD3C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68" t="-29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16425-C4AA-D86B-1482-9C0FC1785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768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08420-CF74-7429-B167-DE9CDF086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 </a:t>
            </a:r>
            <a:r>
              <a:rPr lang="es-ES_tradnl" i="1" dirty="0" err="1"/>
              <a:t>Best</a:t>
            </a:r>
            <a:r>
              <a:rPr lang="es-ES_tradnl" i="1" dirty="0"/>
              <a:t> </a:t>
            </a:r>
            <a:r>
              <a:rPr lang="es-ES_tradnl" i="1" dirty="0" err="1"/>
              <a:t>Subset</a:t>
            </a:r>
            <a:r>
              <a:rPr lang="es-ES_tradnl" i="1" dirty="0"/>
              <a:t> </a:t>
            </a:r>
            <a:r>
              <a:rPr lang="es-ES_tradnl" i="1" dirty="0" err="1"/>
              <a:t>Selection</a:t>
            </a:r>
            <a:endParaRPr lang="es-ES_tradnl" i="1" dirty="0"/>
          </a:p>
        </p:txBody>
      </p:sp>
      <p:pic>
        <p:nvPicPr>
          <p:cNvPr id="6" name="Content Placeholder 5" descr="A graph of a number of predictors&#10;&#10;Description automatically generated">
            <a:extLst>
              <a:ext uri="{FF2B5EF4-FFF2-40B4-BE49-F238E27FC236}">
                <a16:creationId xmlns:a16="http://schemas.microsoft.com/office/drawing/2014/main" id="{F76DA481-D119-38AA-ECB2-B5DC065F2A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2621" y="1690688"/>
            <a:ext cx="8889315" cy="445220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0188AF-E40C-993E-2FA1-2B0AEF111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9D4634-0DB4-0E7E-58F8-665267DCEE65}"/>
              </a:ext>
            </a:extLst>
          </p:cNvPr>
          <p:cNvSpPr txBox="1"/>
          <p:nvPr/>
        </p:nvSpPr>
        <p:spPr>
          <a:xfrm>
            <a:off x="1482621" y="6203655"/>
            <a:ext cx="59849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</a:t>
            </a:r>
            <a:r>
              <a:rPr lang="en-US" sz="1600" dirty="0">
                <a:latin typeface="Gill Sans Nova Light" panose="020B0302020104020203" pitchFamily="34" charset="0"/>
              </a:rPr>
              <a:t>232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769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961E1-FFB0-647C-1FD9-F29F97EF3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Stepwise Selection: </a:t>
            </a:r>
            <a:r>
              <a:rPr lang="es-ES_tradnl" b="1" i="1" dirty="0"/>
              <a:t>Forward </a:t>
            </a:r>
            <a:r>
              <a:rPr lang="es-ES_tradnl" b="1" i="1" dirty="0" err="1"/>
              <a:t>Selection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6EE81-F564-68A1-256C-6BA1085239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Empezar con modelo nulo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sin predictores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Probar todos los modelos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s-ES_tradnl" dirty="0"/>
                  <a:t> con 1 predictor adicional. Elegir el que minimiza CV.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Predictores incorporados </a:t>
                </a:r>
                <a:r>
                  <a:rPr lang="es-ES_tradnl" dirty="0">
                    <a:solidFill>
                      <a:srgbClr val="002060"/>
                    </a:solidFill>
                  </a:rPr>
                  <a:t>no “salen”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Elegir el modelo con menor</a:t>
                </a:r>
                <a:r>
                  <a:rPr lang="en-US" dirty="0"/>
                  <a:t> error de </a:t>
                </a:r>
                <a:r>
                  <a:rPr lang="es-ES_tradnl" dirty="0"/>
                  <a:t>CV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6EE81-F564-68A1-256C-6BA1085239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09" t="-1163" r="-229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9D36E-F589-E90B-859E-BDEEFBE75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8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3537D-E083-B662-EA19-873916CDC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Ventaja de </a:t>
            </a:r>
            <a:r>
              <a:rPr lang="es-ES_tradnl" b="1" i="1" dirty="0"/>
              <a:t>Forward </a:t>
            </a:r>
            <a:r>
              <a:rPr lang="es-ES_tradnl" b="1" i="1" dirty="0" err="1"/>
              <a:t>Selection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B17ADE-E374-2857-9DE0-D69643CF32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_tradnl" dirty="0"/>
                  <a:t>Ahora calculamos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s-ES_tradnl" dirty="0"/>
                  <a:t> modelos</a:t>
                </a:r>
              </a:p>
              <a:p>
                <a:r>
                  <a:rPr lang="es-ES_tradnl" dirty="0"/>
                  <a:t>Ejemplo: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es-ES_tradnl" dirty="0"/>
                  <a:t>, requiere estimas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211</m:t>
                    </m:r>
                  </m:oMath>
                </a14:m>
                <a:r>
                  <a:rPr lang="es-ES_tradnl" dirty="0"/>
                  <a:t> modelos</a:t>
                </a:r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B17ADE-E374-2857-9DE0-D69643CF32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0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812E9-EF34-344D-87B7-55E0F64B8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586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961E1-FFB0-647C-1FD9-F29F97EF3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Stepwise Selection: </a:t>
            </a:r>
            <a:r>
              <a:rPr lang="en-US" i="1" dirty="0"/>
              <a:t>Backward selection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6EE81-F564-68A1-256C-6BA1085239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Empieza con el </a:t>
                </a:r>
                <a:r>
                  <a:rPr lang="es-ES_tradnl" dirty="0">
                    <a:solidFill>
                      <a:srgbClr val="002060"/>
                    </a:solidFill>
                  </a:rPr>
                  <a:t>modelo completo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s-ES_tradnl" dirty="0">
                  <a:solidFill>
                    <a:srgbClr val="002060"/>
                  </a:solidFill>
                </a:endParaRP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Probar todos los modelos con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s-ES_tradnl" dirty="0"/>
                  <a:t> predictor. 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Elegir el que minimiza CV.</a:t>
                </a:r>
              </a:p>
              <a:p>
                <a:pPr>
                  <a:lnSpc>
                    <a:spcPct val="120000"/>
                  </a:lnSpc>
                  <a:buFont typeface="+mj-lt"/>
                  <a:buAutoNum type="arabicPeriod"/>
                </a:pPr>
                <a:endParaRPr lang="es-ES_tradnl" sz="1200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Forward tiene la </a:t>
                </a:r>
                <a:r>
                  <a:rPr lang="es-ES_tradnl" dirty="0">
                    <a:solidFill>
                      <a:srgbClr val="00B050"/>
                    </a:solidFill>
                  </a:rPr>
                  <a:t>ventaja</a:t>
                </a:r>
                <a:r>
                  <a:rPr lang="es-ES_tradnl" dirty="0"/>
                  <a:t> en modelos de alta dimensión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Cuando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, modelo más grande puede ser con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s-ES_tradnl" dirty="0"/>
                  <a:t> predictores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6EE81-F564-68A1-256C-6BA1085239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09" t="-581" r="-96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9D36E-F589-E90B-859E-BDEEFBE75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934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2CD8E-C681-C0BE-7E00-8E6C193AD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Discusión de estos métodos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FD0E1-E247-11EB-7524-5F19CCE85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s-ES_tradnl" dirty="0"/>
              <a:t>¿No vale empezar con el modelo general y tachar los coeficientes no significativos?</a:t>
            </a:r>
          </a:p>
          <a:p>
            <a:pPr>
              <a:lnSpc>
                <a:spcPct val="120000"/>
              </a:lnSpc>
            </a:pPr>
            <a:r>
              <a:rPr lang="es-ES_tradnl" i="1" dirty="0" err="1"/>
              <a:t>Backward</a:t>
            </a:r>
            <a:r>
              <a:rPr lang="es-ES_tradnl" i="1" dirty="0"/>
              <a:t> </a:t>
            </a:r>
            <a:r>
              <a:rPr lang="es-ES_tradnl" i="1" dirty="0" err="1"/>
              <a:t>selection</a:t>
            </a:r>
            <a:r>
              <a:rPr lang="es-ES_tradnl" i="1" dirty="0"/>
              <a:t> </a:t>
            </a:r>
            <a:r>
              <a:rPr lang="es-ES_tradnl" dirty="0"/>
              <a:t>aproxima esa idea (no exactamente ya que el criterio es de ajuste/predicción).</a:t>
            </a:r>
          </a:p>
          <a:p>
            <a:pPr>
              <a:lnSpc>
                <a:spcPct val="120000"/>
              </a:lnSpc>
            </a:pPr>
            <a:r>
              <a:rPr lang="es-ES_tradnl" dirty="0"/>
              <a:t>‘</a:t>
            </a:r>
            <a:r>
              <a:rPr lang="es-ES_tradnl" dirty="0">
                <a:solidFill>
                  <a:srgbClr val="002060"/>
                </a:solidFill>
              </a:rPr>
              <a:t>Tachar</a:t>
            </a:r>
            <a:r>
              <a:rPr lang="es-ES_tradnl" dirty="0"/>
              <a:t>’ variables/coeficientes es una forma extrema de ‘</a:t>
            </a:r>
            <a:r>
              <a:rPr lang="es-ES_tradnl" dirty="0">
                <a:solidFill>
                  <a:srgbClr val="002060"/>
                </a:solidFill>
              </a:rPr>
              <a:t>achicarlos</a:t>
            </a:r>
            <a:r>
              <a:rPr lang="es-ES_tradnl" dirty="0"/>
              <a:t>’ (</a:t>
            </a:r>
            <a:r>
              <a:rPr lang="es-ES_tradnl" i="1" dirty="0" err="1"/>
              <a:t>shrinkage</a:t>
            </a:r>
            <a:r>
              <a:rPr lang="es-ES_tradnl" dirty="0"/>
              <a:t>).</a:t>
            </a:r>
          </a:p>
          <a:p>
            <a:pPr lvl="1">
              <a:lnSpc>
                <a:spcPct val="120000"/>
              </a:lnSpc>
            </a:pPr>
            <a:r>
              <a:rPr lang="es-ES_tradnl" dirty="0">
                <a:solidFill>
                  <a:srgbClr val="002060"/>
                </a:solidFill>
              </a:rPr>
              <a:t>Lasso</a:t>
            </a:r>
            <a:r>
              <a:rPr lang="es-ES_tradnl" dirty="0"/>
              <a:t>: una manera formal de realizar esa tarea.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AEE1D1-90DD-3C25-9DA6-9C4C21257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36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Reducción de la Dimensionalidad: Motivación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6.3</a:t>
            </a: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539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E4FD-2DBC-AAD4-5AD2-71B1A7DA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hicimos en la clase de Regularización?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_tradnl" dirty="0"/>
                  <a:t>Controlar la varianza de </a:t>
                </a:r>
                <a:r>
                  <a:rPr lang="es-ES_tradnl" dirty="0">
                    <a:solidFill>
                      <a:srgbClr val="0070C0"/>
                    </a:solidFill>
                  </a:rPr>
                  <a:t>error de predicción </a:t>
                </a:r>
                <a:r>
                  <a:rPr lang="es-ES_tradnl" dirty="0"/>
                  <a:t>de </a:t>
                </a:r>
                <a:r>
                  <a:rPr lang="es-ES_tradnl" dirty="0">
                    <a:solidFill>
                      <a:srgbClr val="002060"/>
                    </a:solidFill>
                  </a:rPr>
                  <a:t>modelos lineales</a:t>
                </a:r>
                <a:r>
                  <a:rPr lang="es-ES_tradnl" dirty="0"/>
                  <a:t>: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s-ES_tradnl" dirty="0"/>
                  <a:t>Seleccionando un </a:t>
                </a:r>
                <a:r>
                  <a:rPr lang="es-ES_tradnl" dirty="0">
                    <a:solidFill>
                      <a:srgbClr val="002060"/>
                    </a:solidFill>
                  </a:rPr>
                  <a:t>subconjunto</a:t>
                </a:r>
                <a:r>
                  <a:rPr lang="es-ES_tradnl" dirty="0"/>
                  <a:t> de predictores (</a:t>
                </a:r>
                <a:r>
                  <a:rPr lang="es-ES_tradnl" dirty="0" err="1"/>
                  <a:t>Best</a:t>
                </a:r>
                <a:r>
                  <a:rPr lang="es-ES_tradnl" dirty="0"/>
                  <a:t> </a:t>
                </a:r>
                <a:r>
                  <a:rPr lang="es-ES_tradnl" dirty="0" err="1"/>
                  <a:t>Subset</a:t>
                </a:r>
                <a:r>
                  <a:rPr lang="es-ES_tradnl" dirty="0"/>
                  <a:t>, </a:t>
                </a:r>
                <a:r>
                  <a:rPr lang="es-ES_tradnl" dirty="0" err="1"/>
                  <a:t>Stepwise</a:t>
                </a:r>
                <a:r>
                  <a:rPr lang="es-ES_tradnl" dirty="0"/>
                  <a:t> selección y Lasso)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s-ES_tradnl" dirty="0"/>
                  <a:t>Regularización: Reduciendo coeficientes a 0 (Ridge, Lasso, </a:t>
                </a:r>
                <a:r>
                  <a:rPr lang="es-ES_tradnl" dirty="0" err="1"/>
                  <a:t>Elastic</a:t>
                </a:r>
                <a:r>
                  <a:rPr lang="es-ES_tradnl" dirty="0"/>
                  <a:t> Net)</a:t>
                </a:r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Método de Reducción de la Dimensionalidad</a:t>
                </a:r>
                <a:r>
                  <a:rPr lang="es-ES_tradnl" dirty="0"/>
                  <a:t>: busca 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s-ES_tradnl" dirty="0"/>
                  <a:t>Transformar los predictores  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s-ES_tradnl" dirty="0"/>
                  <a:t>Usar MCO para estimar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en los predictores </a:t>
                </a:r>
                <a:r>
                  <a:rPr lang="es-ES_tradnl" dirty="0">
                    <a:solidFill>
                      <a:srgbClr val="002060"/>
                    </a:solidFill>
                  </a:rPr>
                  <a:t>transformados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0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0D8F6-F6DB-41E8-B614-0A42A5FF3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134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E4FD-2DBC-AAD4-5AD2-71B1A7DA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4000" dirty="0"/>
              <a:t>Métodos de Reducción de la Dimensionalidad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predictores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 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s-ES_tradnl" i="1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Transformación de predictores</a:t>
                </a:r>
                <a:r>
                  <a:rPr lang="es-ES_tradnl" i="1" dirty="0"/>
                  <a:t>:</a:t>
                </a:r>
                <a:r>
                  <a:rPr lang="es-ES_tradnl" dirty="0"/>
                  <a:t> una combinación lineal de los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i="1" dirty="0"/>
                  <a:t> </a:t>
                </a:r>
                <a:r>
                  <a:rPr lang="es-ES_tradnl" dirty="0"/>
                  <a:t>predictores originales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/>
                  <a:t>Con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s-ES_tradnl" dirty="0"/>
                  <a:t> coeficientes constantes -&gt; los métodos se </a:t>
                </a:r>
                <a:r>
                  <a:rPr lang="es-ES_tradnl" dirty="0">
                    <a:solidFill>
                      <a:srgbClr val="002060"/>
                    </a:solidFill>
                  </a:rPr>
                  <a:t>diferencian</a:t>
                </a:r>
                <a:r>
                  <a:rPr lang="es-ES_tradnl" dirty="0"/>
                  <a:t> aquí, en la construcción de estas ponderaciones para cada predictor.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Idea</a:t>
                </a:r>
                <a:r>
                  <a:rPr lang="es-ES_tradnl" dirty="0"/>
                  <a:t>: Buscamos un </a:t>
                </a:r>
                <a:r>
                  <a:rPr lang="es-ES_tradnl" dirty="0">
                    <a:solidFill>
                      <a:srgbClr val="002060"/>
                    </a:solidFill>
                  </a:rPr>
                  <a:t>menor número de predictores </a:t>
                </a:r>
                <a:r>
                  <a:rPr lang="es-ES_tradnl" dirty="0"/>
                  <a:t>al usar las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s-ES_tradnl" dirty="0"/>
                  <a:t> transformaciones, pero con toda la información de los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predictores</a:t>
                </a:r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11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9053A-FF2F-96E6-3062-D5A770A31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96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B2E08-489C-3E76-5C3F-587A964E4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Relevancia: ¿Cuándo es útil dichos métodos?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E4B15E-049C-D8A5-E8D1-76307FF24C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t"/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Muy útil cuando hay </a:t>
                </a:r>
                <a:r>
                  <a:rPr lang="es-ES_tradnl" dirty="0">
                    <a:solidFill>
                      <a:srgbClr val="FF0000"/>
                    </a:solidFill>
                  </a:rPr>
                  <a:t>alta correlación </a:t>
                </a:r>
                <a:r>
                  <a:rPr lang="es-ES_tradnl" dirty="0"/>
                  <a:t>entre los predictores y la varianza de los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𝑀𝐶𝑂</m:t>
                        </m:r>
                      </m:sub>
                    </m:sSub>
                  </m:oMath>
                </a14:m>
                <a:r>
                  <a:rPr lang="es-ES_tradnl" dirty="0"/>
                  <a:t> muy grande.</a:t>
                </a:r>
              </a:p>
              <a:p>
                <a:pPr>
                  <a:lnSpc>
                    <a:spcPct val="150000"/>
                  </a:lnSpc>
                </a:pPr>
                <a:endParaRPr lang="es-ES_tradnl" sz="600" dirty="0"/>
              </a:p>
              <a:p>
                <a:r>
                  <a:rPr lang="es-ES_tradnl" dirty="0"/>
                  <a:t>Otra solución cuando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E4B15E-049C-D8A5-E8D1-76307FF24C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37DA8-6D4A-9231-0EC3-40551420E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2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Regresión por Componentes Principales (PCR)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6.3.1</a:t>
            </a: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8746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Regresión por Componentes Principales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514350" indent="-514350">
                  <a:lnSpc>
                    <a:spcPct val="120000"/>
                  </a:lnSpc>
                  <a:spcBef>
                    <a:spcPts val="0"/>
                  </a:spcBef>
                  <a:buFont typeface="+mj-lt"/>
                  <a:buAutoNum type="arabicPeriod"/>
                </a:pPr>
                <a:r>
                  <a:rPr lang="es-ES_tradnl" dirty="0"/>
                  <a:t>Obtener los componentes principales con PCA(</a:t>
                </a:r>
                <a:r>
                  <a:rPr lang="es-ES_tradnl" dirty="0">
                    <a:solidFill>
                      <a:srgbClr val="0070C0"/>
                    </a:solidFill>
                  </a:rPr>
                  <a:t>C3</a:t>
                </a:r>
                <a:r>
                  <a:rPr lang="es-ES_tradnl" dirty="0"/>
                  <a:t>): 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ES_tradnl" dirty="0"/>
              </a:p>
              <a:p>
                <a:pPr marL="514350" indent="-514350">
                  <a:lnSpc>
                    <a:spcPct val="120000"/>
                  </a:lnSpc>
                  <a:spcBef>
                    <a:spcPts val="0"/>
                  </a:spcBef>
                  <a:buFont typeface="+mj-lt"/>
                  <a:buAutoNum type="arabicPeriod" startAt="2"/>
                </a:pPr>
                <a:r>
                  <a:rPr lang="es-ES_tradnl" dirty="0"/>
                  <a:t>Regresar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s-US" dirty="0"/>
                  <a:t>: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𝑖𝑚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s-ES_tradnl" sz="10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s-ES_tradnl" dirty="0"/>
                  <a:t>¿Cómo elegimos el número de componentes?</a:t>
                </a:r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s-ES_tradnl" dirty="0"/>
                  <a:t>Cross </a:t>
                </a:r>
                <a:r>
                  <a:rPr lang="es-ES_tradnl" dirty="0" err="1"/>
                  <a:t>Validation</a:t>
                </a: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15698" b="-2732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4C9DF-C909-6AEF-F737-502315EAE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7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D70F5-7278-BBBE-787E-3CC55D521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Elección de Número de Componentes</a:t>
            </a:r>
          </a:p>
        </p:txBody>
      </p:sp>
      <p:pic>
        <p:nvPicPr>
          <p:cNvPr id="6" name="Content Placeholder 5" descr="A comparison of a number of components&#10;&#10;Description automatically generated with medium confidence">
            <a:extLst>
              <a:ext uri="{FF2B5EF4-FFF2-40B4-BE49-F238E27FC236}">
                <a16:creationId xmlns:a16="http://schemas.microsoft.com/office/drawing/2014/main" id="{BF335939-A0DD-7330-2BC4-5962A0E813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3191" y="1909011"/>
            <a:ext cx="10177735" cy="405396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B133F-1C6E-B879-DA06-599B78493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20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26AA94-AD6F-0B00-B6DD-922C2C82AC58}"/>
              </a:ext>
            </a:extLst>
          </p:cNvPr>
          <p:cNvSpPr txBox="1"/>
          <p:nvPr/>
        </p:nvSpPr>
        <p:spPr>
          <a:xfrm>
            <a:off x="1482621" y="6203656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</a:t>
            </a:r>
            <a:r>
              <a:rPr lang="en-US" sz="1600" dirty="0">
                <a:latin typeface="Gill Sans Nova Light" panose="020B0302020104020203" pitchFamily="34" charset="0"/>
              </a:rPr>
              <a:t>258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0856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81AB89-405F-5B64-CB2D-D10ACDDD1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PCR: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Intuición, Ventaja &amp; Desventaja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0C424BC-D956-5B70-3FD3-0C65FA0DEB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70C0"/>
                    </a:solidFill>
                  </a:rPr>
                  <a:t>Intuición</a:t>
                </a:r>
                <a:r>
                  <a:rPr lang="es-ES_tradnl" dirty="0"/>
                  <a:t>: Reduce el problema de estimar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s-ES_tradnl" dirty="0"/>
                  <a:t> coeficientes del modelo original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s-ES_tradnl" dirty="0"/>
                  <a:t>) a estimar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s-ES_tradnl" dirty="0"/>
                  <a:t> coeficientes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s-ES_tradnl" dirty="0"/>
                  <a:t>)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Ventaja</a:t>
                </a:r>
                <a:r>
                  <a:rPr lang="es-ES_tradnl" dirty="0"/>
                  <a:t>: Performance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&gt; </a:t>
                </a:r>
                <a:r>
                  <a:rPr lang="es-ES_tradnl" dirty="0"/>
                  <a:t>Performance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Desventaja</a:t>
                </a:r>
                <a:r>
                  <a:rPr lang="es-ES_tradnl" dirty="0"/>
                  <a:t>: Perdemos interpretabilidad de la relación entre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0C424BC-D956-5B70-3FD3-0C65FA0DEB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873731-B5C3-409B-054F-8EEAB1708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96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547ED6-E0B0-7534-6CC5-8D3F1E856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PCR y Modelo lineal general 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5931804-7A9D-6F46-201E-D02A4BA9DE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s-ES_tradnl" dirty="0"/>
                  <a:t>Modelo lineal general: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1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s-ES_tradnl" dirty="0"/>
              </a:p>
              <a:p>
                <a:r>
                  <a:rPr lang="es-ES_tradnl" dirty="0"/>
                  <a:t>PCR: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𝑖𝑚</m:t>
                            </m:r>
                          </m:sub>
                        </m:sSub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s-ES_tradnl" dirty="0"/>
              </a:p>
              <a:p>
                <a:r>
                  <a:rPr lang="es-ES_tradnl" dirty="0"/>
                  <a:t>Entonces: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𝑖𝑚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𝑗𝑚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𝑗𝑚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r>
                  <a:rPr lang="es-ES_tradnl" dirty="0"/>
                  <a:t>Con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𝑗𝑚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  <a:r>
                  <a:rPr lang="es-US" dirty="0"/>
                  <a:t>→ </a:t>
                </a:r>
                <a:r>
                  <a:rPr lang="es-ES_tradnl" dirty="0"/>
                  <a:t>PCR es un </a:t>
                </a:r>
                <a:r>
                  <a:rPr lang="es-ES_tradnl" dirty="0">
                    <a:solidFill>
                      <a:srgbClr val="002060"/>
                    </a:solidFill>
                  </a:rPr>
                  <a:t>caso especial </a:t>
                </a:r>
                <a:r>
                  <a:rPr lang="es-ES_tradnl" dirty="0"/>
                  <a:t>del modelo lineal general (¿Por qué?)</a:t>
                </a:r>
              </a:p>
              <a:p>
                <a:endParaRPr lang="es-ES_tradnl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5931804-7A9D-6F46-201E-D02A4BA9DE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7151" b="-2558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33CE38D-B76B-D91A-3945-EDE20284D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3893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FF89E-2BFC-CC5C-E105-836F32ADF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EFFB11-DEE3-1CF1-E763-0979999A7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PCR y Modelo lineal general 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E35CFA3-09F2-07DB-818F-367413A659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ES_tradnl" dirty="0"/>
                  <a:t>Con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𝑗𝑚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  <a:r>
                  <a:rPr lang="es-US" dirty="0"/>
                  <a:t>→ </a:t>
                </a:r>
                <a:r>
                  <a:rPr lang="es-ES_tradnl" dirty="0"/>
                  <a:t>PCR es un </a:t>
                </a:r>
                <a:r>
                  <a:rPr lang="es-ES_tradnl" dirty="0">
                    <a:solidFill>
                      <a:srgbClr val="002060"/>
                    </a:solidFill>
                  </a:rPr>
                  <a:t>caso especial </a:t>
                </a:r>
                <a:r>
                  <a:rPr lang="es-ES_tradnl" dirty="0"/>
                  <a:t>del modelo lineal general (¿Por qué?)</a:t>
                </a:r>
              </a:p>
              <a:p>
                <a:pPr lvl="1"/>
                <a:r>
                  <a:rPr lang="es-ES_tradnl" dirty="0"/>
                  <a:t>Esta restricción sesga los coeficientes estimados por OLS en el modelo general</a:t>
                </a:r>
              </a:p>
              <a:p>
                <a:pPr lvl="1"/>
                <a:r>
                  <a:rPr lang="es-ES_tradnl" dirty="0"/>
                  <a:t>Cuando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entonces elegir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≪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reduce significantemente la varianza de los coeficientes</a:t>
                </a:r>
              </a:p>
              <a:p>
                <a:pPr lvl="1"/>
                <a:r>
                  <a:rPr lang="es-ES_tradnl" dirty="0"/>
                  <a:t>Cuando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y todos los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 son linealmente independientes</a:t>
                </a:r>
                <a:r>
                  <a:rPr lang="es-ES_tradnl" dirty="0"/>
                  <a:t>, entonces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𝑗𝑚</m:t>
                        </m:r>
                      </m:sub>
                    </m:sSub>
                  </m:oMath>
                </a14:m>
                <a:r>
                  <a:rPr lang="es-ES_tradnl" dirty="0"/>
                  <a:t> no imponen ninguna restricción</a:t>
                </a:r>
              </a:p>
              <a:p>
                <a:pPr lvl="2"/>
                <a:r>
                  <a:rPr lang="es-ES_tradnl" dirty="0"/>
                  <a:t>No hay reducción de la dimensionalidad ya que es equivalente al modelo general</a:t>
                </a:r>
              </a:p>
              <a:p>
                <a:pPr lvl="1"/>
                <a:endParaRPr lang="es-ES_tradnl" dirty="0"/>
              </a:p>
              <a:p>
                <a:endParaRPr lang="es-ES_tradnl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E35CFA3-09F2-07DB-818F-367413A659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68" t="-18314" r="-2413" b="-581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B5145B8-9881-60CF-CF56-7F1AC5964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3808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D70F5-7278-BBBE-787E-3CC55D521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Comparando PCR con LASSO &amp; Ridge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B133F-1C6E-B879-DA06-599B78493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26AA94-AD6F-0B00-B6DD-922C2C82AC58}"/>
              </a:ext>
            </a:extLst>
          </p:cNvPr>
          <p:cNvSpPr txBox="1"/>
          <p:nvPr/>
        </p:nvSpPr>
        <p:spPr>
          <a:xfrm>
            <a:off x="1482621" y="6203656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</a:t>
            </a:r>
            <a:r>
              <a:rPr lang="en-US" sz="1600" dirty="0">
                <a:latin typeface="Gill Sans Nova Light" panose="020B0302020104020203" pitchFamily="34" charset="0"/>
              </a:rPr>
              <a:t>259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pic>
        <p:nvPicPr>
          <p:cNvPr id="9" name="Content Placeholder 8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841E36BE-E687-CBAB-EFFE-70ACC35757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3870" y="1690688"/>
            <a:ext cx="9342680" cy="4368006"/>
          </a:xfrm>
        </p:spPr>
      </p:pic>
    </p:spTree>
    <p:extLst>
      <p:ext uri="{BB962C8B-B14F-4D97-AF65-F5344CB8AC3E}">
        <p14:creationId xmlns:p14="http://schemas.microsoft.com/office/powerpoint/2010/main" val="1228776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017D9-C559-76C9-154B-242D64FFF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Consideración técnica: Recordatorio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2CC90-9FB3-02D5-1229-B4B0F73AD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s-ES_tradnl" dirty="0"/>
              <a:t>Estandarizar las variables antes de usar PCR</a:t>
            </a:r>
          </a:p>
          <a:p>
            <a:pPr lvl="1">
              <a:lnSpc>
                <a:spcPct val="200000"/>
              </a:lnSpc>
            </a:pPr>
            <a:r>
              <a:rPr lang="es-ES_tradnl" b="0" dirty="0"/>
              <a:t>Al igual que en PCA, las </a:t>
            </a:r>
            <a:r>
              <a:rPr lang="es-ES_tradnl" dirty="0"/>
              <a:t>variables con alta varianza pueden influenciar la estimación de los coeficientes de cada componente.</a:t>
            </a:r>
          </a:p>
          <a:p>
            <a:pPr lvl="1">
              <a:lnSpc>
                <a:spcPct val="200000"/>
              </a:lnSpc>
            </a:pPr>
            <a:endParaRPr lang="es-ES_tradnl" b="0" dirty="0"/>
          </a:p>
          <a:p>
            <a:pPr>
              <a:lnSpc>
                <a:spcPct val="200000"/>
              </a:lnSpc>
            </a:pPr>
            <a:endParaRPr lang="es-ES_tradnl" b="0" dirty="0"/>
          </a:p>
          <a:p>
            <a:pPr>
              <a:lnSpc>
                <a:spcPct val="200000"/>
              </a:lnSpc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64194-4B01-401C-8018-3E8420BDF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7928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Mínimo Cuadrados Parciales (PLS)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6.3.2</a:t>
            </a: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1000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PCA vs. Mínimo Cuadrado Parciales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_tradnl" dirty="0">
                    <a:solidFill>
                      <a:srgbClr val="00B050"/>
                    </a:solidFill>
                  </a:rPr>
                  <a:t>Alternativa a PCA</a:t>
                </a:r>
                <a:r>
                  <a:rPr lang="es-ES_tradnl" dirty="0"/>
                  <a:t>: Combinación lineal usando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s-ES_tradnl" dirty="0"/>
              </a:p>
              <a:p>
                <a:r>
                  <a:rPr lang="es-ES_tradnl" dirty="0"/>
                  <a:t>Recordamos para PCA: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Para el primer componente, teníamos: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_tradnl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_tradnl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s-ES_tradnl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s-ES_tradnl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s-ES_tradnl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s-ES_tradnl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s-ES_tradnl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_tradnl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_tradnl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𝑖𝑝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  <a:p>
                <a:endParaRPr lang="es-ES_tradn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15407" b="-5058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93AEB-46B7-240A-8A97-C9F3BC82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4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A2171-C0B4-A096-7149-03951BC16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5B85B-84D8-7D0B-2DFB-870F8033F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Mínimo Cuadrado Parciales (PLS):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Idea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430190-77FE-978C-B3BC-B9A568651D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PLS: </a:t>
                </a:r>
                <a:r>
                  <a:rPr lang="es-ES_tradnl" i="1" dirty="0" err="1"/>
                  <a:t>Partial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Least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Squares</a:t>
                </a:r>
                <a:endParaRPr lang="es-ES_tradnl" i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Problema</a:t>
                </a:r>
                <a:r>
                  <a:rPr lang="es-ES_tradnl" dirty="0"/>
                  <a:t>: PCA es método no supervisado y no tiene encuentra la relación de </a:t>
                </a: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ES_tradnl" dirty="0"/>
                  <a:t> con los predictores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</a:t>
                </a:r>
                <a:r>
                  <a:rPr lang="es-ES_tradnl" dirty="0"/>
                  <a:t>: PLS pone </a:t>
                </a:r>
                <a:r>
                  <a:rPr lang="es-ES_tradnl" dirty="0">
                    <a:solidFill>
                      <a:srgbClr val="00B050"/>
                    </a:solidFill>
                  </a:rPr>
                  <a:t>ponderación más alta </a:t>
                </a:r>
                <a:r>
                  <a:rPr lang="es-ES_tradnl" dirty="0"/>
                  <a:t>a las variables que están </a:t>
                </a:r>
                <a:r>
                  <a:rPr lang="es-ES_tradnl" dirty="0">
                    <a:solidFill>
                      <a:srgbClr val="002060"/>
                    </a:solidFill>
                  </a:rPr>
                  <a:t>más correlacionadas </a:t>
                </a:r>
                <a:r>
                  <a:rPr lang="es-ES_tradnl" dirty="0"/>
                  <a:t>con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430190-77FE-978C-B3BC-B9A568651D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FC0462-5A35-B014-9DB3-07416B936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183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PLS: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Calculo del 1er componente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Regresar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ES_tradnl" dirty="0"/>
                  <a:t> 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. Usar los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𝑀𝐶𝑂𝑗</m:t>
                        </m:r>
                      </m:sub>
                    </m:sSub>
                  </m:oMath>
                </a14:m>
                <a:r>
                  <a:rPr lang="es-ES_tradnl" dirty="0"/>
                  <a:t> como ponderadores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Computar como </a:t>
                </a:r>
                <a:r>
                  <a:rPr lang="es-ES_tradnl" dirty="0">
                    <a:solidFill>
                      <a:srgbClr val="002060"/>
                    </a:solidFill>
                  </a:rPr>
                  <a:t>1er componente: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_tradnl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_tradnl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s-ES_tradnl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_tradnl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_tradnl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𝑖𝑝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09" b="-4331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93AEB-46B7-240A-8A97-C9F3BC82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354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PLS: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Ilustración y comparación con PCA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/>
                  <a:t>Usando el ejemplo de población y publicidad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ES_tradnl" dirty="0"/>
                  <a:t> ventas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Línea </a:t>
                </a:r>
                <a:r>
                  <a:rPr lang="es-ES_tradnl" dirty="0">
                    <a:solidFill>
                      <a:srgbClr val="00B050"/>
                    </a:solidFill>
                  </a:rPr>
                  <a:t>solida</a:t>
                </a:r>
                <a:r>
                  <a:rPr lang="es-ES_tradnl" dirty="0"/>
                  <a:t>: PLS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Línea </a:t>
                </a:r>
                <a:r>
                  <a:rPr lang="es-ES_tradnl" dirty="0">
                    <a:solidFill>
                      <a:srgbClr val="0070C0"/>
                    </a:solidFill>
                  </a:rPr>
                  <a:t>punteada</a:t>
                </a:r>
                <a:r>
                  <a:rPr lang="es-ES_tradnl" dirty="0"/>
                  <a:t>: PCA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Notar para el 1er componente: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sz="2400" i="1" dirty="0" smtClean="0">
                          <a:latin typeface="Cambria Math" panose="02040503050406030204" pitchFamily="18" charset="0"/>
                        </a:rPr>
                        <m:t>𝑃𝑒𝑛𝑑𝑖𝑒𝑛𝑡𝑒</m:t>
                      </m:r>
                      <m:r>
                        <a:rPr lang="es-ES_tradnl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_tradnl" sz="2400" i="1" dirty="0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_tradnl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_tradnl" sz="2400" i="1" dirty="0" smtClean="0">
                          <a:latin typeface="Cambria Math" panose="02040503050406030204" pitchFamily="18" charset="0"/>
                        </a:rPr>
                        <m:t>𝑃𝐿𝑆</m:t>
                      </m:r>
                      <m:r>
                        <a:rPr lang="es-ES_tradnl" sz="240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s-ES_tradnl" sz="2400" i="1" dirty="0" smtClean="0">
                          <a:latin typeface="Cambria Math" panose="02040503050406030204" pitchFamily="18" charset="0"/>
                        </a:rPr>
                        <m:t>𝑝𝑒𝑛𝑑𝑖𝑒𝑛𝑡𝑒</m:t>
                      </m:r>
                      <m:r>
                        <a:rPr lang="es-ES_tradnl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_tradnl" sz="2400" i="1" dirty="0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_tradnl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_tradnl" sz="2400" i="1" dirty="0" smtClean="0">
                          <a:latin typeface="Cambria Math" panose="02040503050406030204" pitchFamily="18" charset="0"/>
                        </a:rPr>
                        <m:t>𝑃𝐶𝐴</m:t>
                      </m:r>
                    </m:oMath>
                  </m:oMathPara>
                </a14:m>
                <a:endParaRPr lang="es-ES_tradnl" sz="2400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Población está más relacionada con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200" t="-1163" r="-48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 descr="A green line with purple dots&#10;&#10;Description automatically generated">
            <a:extLst>
              <a:ext uri="{FF2B5EF4-FFF2-40B4-BE49-F238E27FC236}">
                <a16:creationId xmlns:a16="http://schemas.microsoft.com/office/drawing/2014/main" id="{19B213DD-BB50-113E-FE83-AE51B90CBB9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775384" y="1825625"/>
            <a:ext cx="6047240" cy="381552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93AEB-46B7-240A-8A97-C9F3BC82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9890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PLS: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Calculo del 2do componente</a:t>
            </a:r>
            <a:endParaRPr lang="es-ES_trad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s-ES_tradnl" dirty="0"/>
                  <a:t>Regresamos cada predictor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s-ES_tradnl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s-ES_tradnl" dirty="0"/>
                  <a:t>Computamos residuos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</m:oMath>
                </a14:m>
                <a:endParaRPr lang="es-ES_tradnl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s-ES_tradnl" dirty="0">
                    <a:solidFill>
                      <a:srgbClr val="0070C0"/>
                    </a:solidFill>
                  </a:rPr>
                  <a:t>Regresar</a:t>
                </a:r>
                <a:r>
                  <a:rPr lang="es-ES_tradnl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ES_tradnl" dirty="0"/>
                  <a:t> 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</m:oMath>
                </a14:m>
                <a:endParaRPr lang="es-ES_tradnl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s-ES_tradnl" dirty="0"/>
                  <a:t>Calcular el 2do componente usando los coeficientes de la regresión en el ítem </a:t>
                </a:r>
                <a:r>
                  <a:rPr lang="es-ES_tradnl" dirty="0">
                    <a:solidFill>
                      <a:srgbClr val="0070C0"/>
                    </a:solidFill>
                  </a:rPr>
                  <a:t>3</a:t>
                </a:r>
                <a:r>
                  <a:rPr lang="es-ES_tradnl" dirty="0"/>
                  <a:t> como ponderadores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𝑀𝐶𝑂𝑗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_tradnl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_tradnl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s-ES_tradnl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_tradnl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_tradnl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𝑖𝑝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endParaRPr lang="es-ES_tradnl" dirty="0"/>
              </a:p>
              <a:p>
                <a:endParaRPr lang="es-ES_tradn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09" t="-3488" b="-4970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93AEB-46B7-240A-8A97-C9F3BC82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367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F94D6-1B32-C4A5-E5A8-345AED8DE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8E159-79F5-B085-0C53-C82304F68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PLS: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2do componente - Interpretación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B1146D-3371-E1DF-9A9B-1C494261AF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Interpretación de los residuos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</m:oMath>
                </a14:m>
                <a:r>
                  <a:rPr lang="es-ES_tradnl" dirty="0"/>
                  <a:t>: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Información remanente del predictor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no explicada por el 1er componente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s-ES_tradnl" sz="2000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El 2do componente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dirty="0"/>
                  <a:t> es </a:t>
                </a:r>
                <a:r>
                  <a:rPr lang="es-ES_tradnl" dirty="0">
                    <a:solidFill>
                      <a:srgbClr val="002060"/>
                    </a:solidFill>
                  </a:rPr>
                  <a:t>ortogonal</a:t>
                </a:r>
                <a:r>
                  <a:rPr lang="es-ES_tradnl" dirty="0"/>
                  <a:t> al 1er componente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Por la regresión auxiliar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en 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 y calcular los residuos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</m:oMath>
                </a14:m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B1146D-3371-E1DF-9A9B-1C494261AF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59521-3257-8339-A6E5-6AB5B12F8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440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B1F94A4-F260-BCA5-E875-B23731B5A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Comparación del Problema de Optimización</a:t>
            </a:r>
            <a:br>
              <a:rPr lang="es-ES_tradnl" dirty="0"/>
            </a:b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Intuición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4C5894C-0E63-4AD1-4D1C-80DE00F67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lang="es-ES_tradnl" dirty="0">
                <a:solidFill>
                  <a:srgbClr val="002060"/>
                </a:solidFill>
              </a:rPr>
              <a:t>Regresión por Componentes Principales (PCR)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BC620891-62E4-C4E5-0992-2D6F795C3FA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 anchor="ctr"/>
              <a:lstStyle/>
              <a:p>
                <a:r>
                  <a:rPr lang="es-ES_tradnl" dirty="0"/>
                  <a:t>Maximiza varianza de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BC620891-62E4-C4E5-0992-2D6F795C3F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06E993-B366-C399-56A4-2276088D48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/>
          <a:lstStyle/>
          <a:p>
            <a:pPr algn="ctr"/>
            <a:r>
              <a:rPr lang="es-ES_tradnl" dirty="0">
                <a:solidFill>
                  <a:srgbClr val="002060"/>
                </a:solidFill>
              </a:rPr>
              <a:t>Regresión de Mínimos Cuadrados Parciales (PLS)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5EBB3223-25AD-9AF4-F56F-B1A8769B307F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 anchor="ctr"/>
              <a:lstStyle/>
              <a:p>
                <a:r>
                  <a:rPr lang="es-ES_tradnl" dirty="0"/>
                  <a:t>Maximiza varianza de </a:t>
                </a:r>
                <a14:m>
                  <m:oMath xmlns:m="http://schemas.openxmlformats.org/officeDocument/2006/math">
                    <m:r>
                      <a:rPr lang="es-ES_tradnl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y alta correlación con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5EBB3223-25AD-9AF4-F56F-B1A8769B30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3"/>
                <a:stretch>
                  <a:fillRect l="-2689" r="-268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A8EC8-7B6D-176F-ACDC-19B9C74B0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170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B1F94A4-F260-BCA5-E875-B23731B5A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Comparación del Problema de Optimización</a:t>
            </a:r>
            <a:br>
              <a:rPr lang="es-ES_tradnl" dirty="0"/>
            </a:b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Formalmente</a:t>
            </a:r>
            <a:endParaRPr lang="es-ES_tradnl" i="1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4C5894C-0E63-4AD1-4D1C-80DE00F67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lang="es-ES_tradnl" dirty="0">
                <a:solidFill>
                  <a:srgbClr val="002060"/>
                </a:solidFill>
              </a:rPr>
              <a:t>PCR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BC620891-62E4-C4E5-0992-2D6F795C3FA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 anchor="t"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s-ES_tradnl" dirty="0"/>
                  <a:t>La dirección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para el m-</a:t>
                </a:r>
                <a:r>
                  <a:rPr lang="es-ES_tradnl" dirty="0" err="1"/>
                  <a:t>ésimo</a:t>
                </a:r>
                <a:r>
                  <a:rPr lang="es-ES_tradnl" dirty="0"/>
                  <a:t> componente: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lim>
                          </m:limLow>
                        </m:fName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Var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r>
                  <a:rPr lang="es-ES_tradnl" dirty="0"/>
                  <a:t>Sujeta a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𝑺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r>
                  <a:rPr lang="en-US" b="0" dirty="0"/>
                  <a:t>Con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 …,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s-ES_tradnl" dirty="0"/>
                  <a:t> matriz de varianza-covarianzas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s-ES_tradnl" dirty="0"/>
              </a:p>
            </p:txBody>
          </p:sp>
        </mc:Choice>
        <mc:Fallback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BC620891-62E4-C4E5-0992-2D6F795C3F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703" t="-515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06E993-B366-C399-56A4-2276088D48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/>
          <a:lstStyle/>
          <a:p>
            <a:pPr algn="ctr"/>
            <a:r>
              <a:rPr lang="es-ES_tradnl" dirty="0">
                <a:solidFill>
                  <a:srgbClr val="002060"/>
                </a:solidFill>
              </a:rPr>
              <a:t>PLS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5EBB3223-25AD-9AF4-F56F-B1A8769B307F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 anchor="t"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s-ES_tradnl" dirty="0"/>
                  <a:t>La dirección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para el m-</a:t>
                </a:r>
                <a:r>
                  <a:rPr lang="es-ES_tradnl" dirty="0" err="1"/>
                  <a:t>ésimo</a:t>
                </a:r>
                <a:r>
                  <a:rPr lang="es-ES_tradnl" dirty="0"/>
                  <a:t> componente: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Corr</m:t>
                              </m:r>
                            </m:e>
                            <m:sup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Var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r>
                  <a:rPr lang="es-ES_tradnl" dirty="0"/>
                  <a:t>Sujeta a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𝑺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r>
                  <a:rPr lang="en-US" b="0" dirty="0"/>
                  <a:t>Con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 …,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s-ES_tradnl" dirty="0"/>
                  <a:t> matriz de varianza-covarianzas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s-ES_tradnl" dirty="0"/>
              </a:p>
              <a:p>
                <a:endParaRPr lang="es-ES_tradnl" dirty="0"/>
              </a:p>
            </p:txBody>
          </p:sp>
        </mc:Choice>
        <mc:Fallback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5EBB3223-25AD-9AF4-F56F-B1A8769B30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3"/>
                <a:stretch>
                  <a:fillRect l="-2689" t="-515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A8EC8-7B6D-176F-ACDC-19B9C74B0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9948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BD43F-9B6A-861A-B0BD-684AEE101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Consideraciones finales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627EDC-9CA4-1BDD-E1E9-D3DAE3FD3A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Estandarizamos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antes de usar ambos métodos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¿Cómo elegimos el </a:t>
                </a:r>
                <a:r>
                  <a:rPr lang="es-ES_tradnl" dirty="0">
                    <a:solidFill>
                      <a:srgbClr val="002060"/>
                    </a:solidFill>
                  </a:rPr>
                  <a:t>número de componentes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s-ES_tradnl" dirty="0"/>
                  <a:t>?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Por Cross </a:t>
                </a:r>
                <a:r>
                  <a:rPr lang="es-ES_tradnl" dirty="0" err="1"/>
                  <a:t>Validation</a:t>
                </a:r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En la práctica</a:t>
                </a:r>
                <a:r>
                  <a:rPr lang="es-ES_tradnl" dirty="0"/>
                  <a:t>: PLS </a:t>
                </a: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</m:t>
                    </m:r>
                  </m:oMath>
                </a14:m>
                <a:r>
                  <a:rPr lang="es-ES_tradnl" dirty="0"/>
                  <a:t>PCR y Ridge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Aunque se reduce el sesgo incorporando la relación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ES_tradnl" dirty="0"/>
                  <a:t> con las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, puede </a:t>
                </a:r>
                <a:r>
                  <a:rPr lang="es-ES_tradnl" dirty="0">
                    <a:solidFill>
                      <a:srgbClr val="FF0000"/>
                    </a:solidFill>
                  </a:rPr>
                  <a:t>aumentar la varianza</a:t>
                </a:r>
                <a:r>
                  <a:rPr lang="es-ES_tradnl" dirty="0"/>
                  <a:t> del modelo 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627EDC-9CA4-1BDD-E1E9-D3DAE3FD3A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b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637C7-98D2-096C-AA66-B08C55E02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6200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Conclusiones finales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561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Introducimos</a:t>
            </a:r>
            <a:r>
              <a:rPr lang="es-ES_tradnl" dirty="0"/>
              <a:t> la selección de modelos lineales más intuitiva de Modelos por </a:t>
            </a:r>
            <a:r>
              <a:rPr lang="es-ES_tradnl" i="1" dirty="0" err="1"/>
              <a:t>Stepwise</a:t>
            </a:r>
            <a:r>
              <a:rPr lang="es-ES_tradnl" i="1" dirty="0"/>
              <a:t> </a:t>
            </a:r>
            <a:r>
              <a:rPr lang="es-ES_tradnl" i="1" dirty="0" err="1"/>
              <a:t>Selection</a:t>
            </a:r>
            <a:r>
              <a:rPr lang="es-ES_tradnl" i="1" dirty="0"/>
              <a:t> </a:t>
            </a:r>
            <a:r>
              <a:rPr lang="es-ES_tradnl" dirty="0"/>
              <a:t>como </a:t>
            </a:r>
            <a:r>
              <a:rPr lang="es-ES_tradnl" dirty="0" err="1"/>
              <a:t>Best</a:t>
            </a:r>
            <a:r>
              <a:rPr lang="es-ES_tradnl" dirty="0"/>
              <a:t> </a:t>
            </a:r>
            <a:r>
              <a:rPr lang="es-ES_tradnl" dirty="0" err="1"/>
              <a:t>Subset</a:t>
            </a:r>
            <a:r>
              <a:rPr lang="es-ES_tradnl" dirty="0"/>
              <a:t>, Forward y </a:t>
            </a:r>
            <a:r>
              <a:rPr lang="es-ES_tradnl" dirty="0" err="1"/>
              <a:t>Backward</a:t>
            </a:r>
            <a:r>
              <a:rPr lang="es-ES_tradnl" dirty="0"/>
              <a:t> </a:t>
            </a:r>
            <a:r>
              <a:rPr lang="es-ES_tradnl" dirty="0" err="1"/>
              <a:t>Selection</a:t>
            </a:r>
            <a:r>
              <a:rPr lang="es-ES_tradnl" dirty="0"/>
              <a:t> 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Mencionamos sus </a:t>
            </a:r>
            <a:r>
              <a:rPr lang="es-ES_tradnl" dirty="0">
                <a:solidFill>
                  <a:srgbClr val="FF0000"/>
                </a:solidFill>
              </a:rPr>
              <a:t>problemas computacionales </a:t>
            </a:r>
            <a:r>
              <a:rPr lang="es-ES_tradnl" dirty="0"/>
              <a:t>y </a:t>
            </a:r>
            <a:r>
              <a:rPr lang="es-ES_tradnl" dirty="0">
                <a:solidFill>
                  <a:srgbClr val="00B050"/>
                </a:solidFill>
              </a:rPr>
              <a:t>ventajas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001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466B93-964D-A72E-FB12-DE627F299F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s-ES_tradnl" dirty="0"/>
                  <a:t>Para </a:t>
                </a:r>
                <a:r>
                  <a:rPr lang="es-ES_tradnl" dirty="0">
                    <a:solidFill>
                      <a:srgbClr val="002060"/>
                    </a:solidFill>
                  </a:rPr>
                  <a:t>reducir la dimensión </a:t>
                </a:r>
                <a:r>
                  <a:rPr lang="es-ES_tradnl" dirty="0"/>
                  <a:t>de los predictores disponibles para predecir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repasamos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Regresión por Componentes Principales: </a:t>
                </a:r>
              </a:p>
              <a:p>
                <a:pPr lvl="2">
                  <a:lnSpc>
                    <a:spcPct val="110000"/>
                  </a:lnSpc>
                </a:pPr>
                <a:r>
                  <a:rPr lang="es-ES_tradnl" dirty="0"/>
                  <a:t>Usar los componentes obtenidos por PCA como regresores: Reg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ES_tradnl" dirty="0"/>
                  <a:t> 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dirty="0"/>
                  <a:t>,…,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endParaRPr lang="es-ES_tradnl" dirty="0"/>
              </a:p>
              <a:p>
                <a:pPr lvl="1">
                  <a:lnSpc>
                    <a:spcPct val="11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Mínimos Cuadrados Parciales</a:t>
                </a:r>
              </a:p>
              <a:p>
                <a:pPr lvl="2">
                  <a:lnSpc>
                    <a:spcPct val="110000"/>
                  </a:lnSpc>
                </a:pPr>
                <a:r>
                  <a:rPr lang="es-ES_tradnl" dirty="0"/>
                  <a:t>Usamos MCO para obtener el primer componente </a:t>
                </a:r>
              </a:p>
              <a:p>
                <a:pPr lvl="2">
                  <a:lnSpc>
                    <a:spcPct val="110000"/>
                  </a:lnSpc>
                </a:pPr>
                <a:r>
                  <a:rPr lang="es-ES_tradnl" dirty="0"/>
                  <a:t>Con los siguientes se ajustan las variables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 lvl="2">
                  <a:lnSpc>
                    <a:spcPct val="110000"/>
                  </a:lnSpc>
                </a:pPr>
                <a:endParaRPr lang="es-ES_tradnl" dirty="0"/>
              </a:p>
              <a:p>
                <a:pPr>
                  <a:lnSpc>
                    <a:spcPct val="11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466B93-964D-A72E-FB12-DE627F299F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565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55B1-4C9E-9A68-CAC5-2D521102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¿Dudas, consultas?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DE542-4031-D126-7AAF-A0332014D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_tradnl" dirty="0">
                <a:latin typeface="Gill Sans Nova Light" panose="020B0302020104020203" pitchFamily="34" charset="0"/>
              </a:rPr>
              <a:t>Consultas: 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  <a:hlinkClick r:id="rId2"/>
              </a:rPr>
              <a:t>25RO35480961@campus.economicas.uba.ar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</a:rPr>
              <a:t> </a:t>
            </a:r>
            <a:endParaRPr lang="es-ES_tradnl" dirty="0">
              <a:latin typeface="Gill Sans Nova Light" panose="020B03020201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557C-64E1-99EA-732F-3F53925C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875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2916</TotalTime>
  <Words>1847</Words>
  <Application>Microsoft Macintosh PowerPoint</Application>
  <PresentationFormat>Panorámica</PresentationFormat>
  <Paragraphs>254</Paragraphs>
  <Slides>39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39</vt:i4>
      </vt:variant>
    </vt:vector>
  </HeadingPairs>
  <TitlesOfParts>
    <vt:vector size="47" baseType="lpstr">
      <vt:lpstr>Arial</vt:lpstr>
      <vt:lpstr>Calibri</vt:lpstr>
      <vt:lpstr>Cambria Math</vt:lpstr>
      <vt:lpstr>Gill Sans Nova Light</vt:lpstr>
      <vt:lpstr>Goudy Old Style</vt:lpstr>
      <vt:lpstr>Times</vt:lpstr>
      <vt:lpstr>Times New Roman</vt:lpstr>
      <vt:lpstr>Office Theme</vt:lpstr>
      <vt:lpstr>Elección de Modelos Lineales &amp; Métodos basados en la reducción de la dimensionalidad: PCR &amp; PLS</vt:lpstr>
      <vt:lpstr>En la clase de hoy</vt:lpstr>
      <vt:lpstr>Elección de Modelos: Introducción </vt:lpstr>
      <vt:lpstr>Trade off-sesgo varianza</vt:lpstr>
      <vt:lpstr>Elección de Modelos</vt:lpstr>
      <vt:lpstr>Elección de Modelos Lineales: Subset Selection</vt:lpstr>
      <vt:lpstr>Búsqueda exhaustiva: Best Subset Selection</vt:lpstr>
      <vt:lpstr>Búsqueda exhaustiva: Best Subset Selection</vt:lpstr>
      <vt:lpstr>Ilustración de Best Subset Selection</vt:lpstr>
      <vt:lpstr>Stepwise Selection: Forward Selection</vt:lpstr>
      <vt:lpstr>Ventaja de Forward Selection</vt:lpstr>
      <vt:lpstr>Stepwise Selection: Backward selection</vt:lpstr>
      <vt:lpstr>Discusión de estos métodos </vt:lpstr>
      <vt:lpstr>Reducción de la Dimensionalidad: Motivación</vt:lpstr>
      <vt:lpstr>¿Qué hicimos en la clase de Regularización?</vt:lpstr>
      <vt:lpstr>Métodos de Reducción de la Dimensionalidad</vt:lpstr>
      <vt:lpstr>Relevancia: ¿Cuándo es útil dichos métodos?</vt:lpstr>
      <vt:lpstr>Regresión por Componentes Principales (PCR)</vt:lpstr>
      <vt:lpstr>Regresión por Componentes Principales</vt:lpstr>
      <vt:lpstr>Elección de Número de Componentes</vt:lpstr>
      <vt:lpstr>PCR: Intuición, Ventaja &amp; Desventaja</vt:lpstr>
      <vt:lpstr>PCR y Modelo lineal general I</vt:lpstr>
      <vt:lpstr>PCR y Modelo lineal general I</vt:lpstr>
      <vt:lpstr>Comparando PCR con LASSO &amp; Ridge</vt:lpstr>
      <vt:lpstr>Consideración técnica: Recordatorio</vt:lpstr>
      <vt:lpstr>Mínimo Cuadrados Parciales (PLS)</vt:lpstr>
      <vt:lpstr>PCA vs. Mínimo Cuadrado Parciales</vt:lpstr>
      <vt:lpstr>Mínimo Cuadrado Parciales (PLS): Idea</vt:lpstr>
      <vt:lpstr>PLS: Calculo del 1er componente</vt:lpstr>
      <vt:lpstr>PLS: Ilustración y comparación con PCA</vt:lpstr>
      <vt:lpstr>PLS: Calculo del 2do componente</vt:lpstr>
      <vt:lpstr>PLS: 2do componente - Interpretación</vt:lpstr>
      <vt:lpstr>Comparación del Problema de Optimización Intuición</vt:lpstr>
      <vt:lpstr>Comparación del Problema de Optimización Formalmente</vt:lpstr>
      <vt:lpstr>Consideraciones finales</vt:lpstr>
      <vt:lpstr>Conclusiones finales</vt:lpstr>
      <vt:lpstr>¿Qué aprendimos hoy?</vt:lpstr>
      <vt:lpstr>¿Qué aprendimos hoy?</vt:lpstr>
      <vt:lpstr>¿Dudas, consultas?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data, Aprendizaje y Minería de Datos:  Perspectivas, ideas y herramientas para economistas</dc:title>
  <dc:creator>Romero, Maria Noelia</dc:creator>
  <cp:lastModifiedBy>María Noelia Romero</cp:lastModifiedBy>
  <cp:revision>187</cp:revision>
  <dcterms:created xsi:type="dcterms:W3CDTF">2023-06-12T20:51:31Z</dcterms:created>
  <dcterms:modified xsi:type="dcterms:W3CDTF">2026-06-02T19:29:36Z</dcterms:modified>
</cp:coreProperties>
</file>