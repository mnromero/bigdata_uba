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423" r:id="rId2"/>
    <p:sldId id="275" r:id="rId3"/>
    <p:sldId id="329" r:id="rId4"/>
    <p:sldId id="267" r:id="rId5"/>
    <p:sldId id="268" r:id="rId6"/>
    <p:sldId id="348" r:id="rId7"/>
    <p:sldId id="347" r:id="rId8"/>
    <p:sldId id="477" r:id="rId9"/>
    <p:sldId id="410" r:id="rId10"/>
    <p:sldId id="349" r:id="rId11"/>
    <p:sldId id="478" r:id="rId12"/>
    <p:sldId id="409" r:id="rId13"/>
    <p:sldId id="350" r:id="rId14"/>
    <p:sldId id="337" r:id="rId15"/>
    <p:sldId id="314" r:id="rId16"/>
    <p:sldId id="44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5E9202-8AF9-7B42-B817-22D148D689E3}">
          <p14:sldIdLst>
            <p14:sldId id="423"/>
            <p14:sldId id="275"/>
          </p14:sldIdLst>
        </p14:section>
        <p14:section name="Eleccion de modelos: Motivación" id="{F06AC147-1820-E64A-873C-8C467231AE8F}">
          <p14:sldIdLst>
            <p14:sldId id="329"/>
            <p14:sldId id="267"/>
            <p14:sldId id="268"/>
          </p14:sldIdLst>
        </p14:section>
        <p14:section name="Eleccion de modelos: Best, Forward and Backward subset selection" id="{053A4A06-A05F-6D46-82D6-5539DF7FADC8}">
          <p14:sldIdLst>
            <p14:sldId id="348"/>
            <p14:sldId id="347"/>
            <p14:sldId id="477"/>
            <p14:sldId id="410"/>
            <p14:sldId id="349"/>
            <p14:sldId id="478"/>
            <p14:sldId id="409"/>
            <p14:sldId id="350"/>
          </p14:sldIdLst>
        </p14:section>
        <p14:section name="Conclusiones finales" id="{30AE4762-25DE-C74D-AF95-4AEC0CC37FB0}">
          <p14:sldIdLst>
            <p14:sldId id="337"/>
            <p14:sldId id="314"/>
            <p14:sldId id="44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688"/>
    <p:restoredTop sz="86625"/>
  </p:normalViewPr>
  <p:slideViewPr>
    <p:cSldViewPr snapToGrid="0">
      <p:cViewPr varScale="1">
        <p:scale>
          <a:sx n="80" d="100"/>
          <a:sy n="80" d="100"/>
        </p:scale>
        <p:origin x="208" y="416"/>
      </p:cViewPr>
      <p:guideLst/>
    </p:cSldViewPr>
  </p:slideViewPr>
  <p:outlineViewPr>
    <p:cViewPr>
      <p:scale>
        <a:sx n="33" d="100"/>
        <a:sy n="33" d="100"/>
      </p:scale>
      <p:origin x="0" y="-4029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0" d="100"/>
        <a:sy n="9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ía Noelia Romero" userId="2133f5768dfc5791" providerId="LiveId" clId="{0168CA65-A813-5033-94B8-EF4605FC29D1}"/>
    <pc:docChg chg="modSld">
      <pc:chgData name="María Noelia Romero" userId="2133f5768dfc5791" providerId="LiveId" clId="{0168CA65-A813-5033-94B8-EF4605FC29D1}" dt="2026-05-26T18:40:27.312" v="1" actId="20577"/>
      <pc:docMkLst>
        <pc:docMk/>
      </pc:docMkLst>
      <pc:sldChg chg="modSp mod">
        <pc:chgData name="María Noelia Romero" userId="2133f5768dfc5791" providerId="LiveId" clId="{0168CA65-A813-5033-94B8-EF4605FC29D1}" dt="2026-05-26T18:40:27.312" v="1" actId="20577"/>
        <pc:sldMkLst>
          <pc:docMk/>
          <pc:sldMk cId="3979653562" sldId="423"/>
        </pc:sldMkLst>
        <pc:spChg chg="mod">
          <ac:chgData name="María Noelia Romero" userId="2133f5768dfc5791" providerId="LiveId" clId="{0168CA65-A813-5033-94B8-EF4605FC29D1}" dt="2026-05-26T18:40:27.312" v="1" actId="20577"/>
          <ac:spMkLst>
            <pc:docMk/>
            <pc:sldMk cId="3979653562" sldId="423"/>
            <ac:spMk id="3" creationId="{C1F55BDD-1493-5FB8-8EDB-106F9B36291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A57B98-7F31-0D42-9B7E-63D1E3B1FEB1}" type="datetimeFigureOut">
              <a:rPr lang="es-ES_tradnl" smtClean="0"/>
              <a:t>26/5/26</a:t>
            </a:fld>
            <a:endParaRPr lang="es-ES_trad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B6B6AD-E852-0649-B090-0B587A2ABB49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22000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412AF-8B30-1C4A-9486-8B7EE1FDFB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2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9418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* Ver la </a:t>
            </a:r>
            <a:r>
              <a:rPr lang="es-ES_tradnl" dirty="0" err="1"/>
              <a:t>intro</a:t>
            </a:r>
            <a:r>
              <a:rPr lang="es-ES_tradnl" dirty="0"/>
              <a:t> y motivación en estos dos capítulos.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95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369036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499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539979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14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07228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CB98C-7E11-E20C-7CA1-01CA7BC60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FC3A6-7EF0-25DE-49FD-093DABEA4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DF46-6163-6B81-C8F2-2AFCA65A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000F8-7FFC-5341-ADE9-35A49375D21C}" type="datetime1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8C366-551D-FE97-2B1D-32127BF3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01B1D-ECC1-F92A-E5F2-CCE79365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8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0CDC1-3848-0D97-B7AC-87941E6A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930B0-69E0-A392-06B3-B0B255B7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B745A-C184-9A02-3478-963C49CD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858FC-9A6A-6A4B-BC45-38DA2CDC520C}" type="datetime1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6306-932B-2678-8102-D5B1FF6A8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FBCBB-A717-3F86-896B-2E915566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4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CE9D-254D-F34F-04CD-7171E08AA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3A657-71FF-6D0F-FA99-85DC67E6E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D6D25-137F-9F92-60F0-FB0CA02E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57393-515B-1A47-A87A-8640CC03CD21}" type="datetime1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48134-AEC4-52EE-619E-153EC79DA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E28-6B6A-F6F8-4722-E4543D315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8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31D6C-E496-E079-CBB1-0568125CB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E5603-C8AA-9A92-329E-1802B5F592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50DDA-AA05-B9E0-6968-15C94DE92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06625-219C-99D2-3E54-1E8F41B24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0A069-A1EA-0F47-A741-49B3A660719F}" type="datetime1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BABBC7-B012-FDE4-EA5B-0F69DA2E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5FDEE-8F41-2CAA-8017-4038F3B8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6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A04D-9D5C-EB18-C5D0-F76A09B06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72525-56CB-7F89-4E11-9F3346C59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198E8-A9B1-48FB-F54D-A3A92D36D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1E517-63E9-95AE-DECC-CFC5865D1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A0CC-FDD5-8EAE-60EC-D76CDDC97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DA6C08-7F94-962B-4B6D-4E592F0E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E4583-8738-D446-A561-042FC1E653E3}" type="datetime1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6DBB8B-904B-340C-44C2-AEB8E734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57219B-396C-1FD3-E2D2-AE434727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64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471B7-64C8-5681-B050-6630E1012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26AF0-FBD4-6543-A23B-33B8EC5C6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0A491-31D3-4F46-B45E-95FC60EFF440}" type="datetime1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316-ECA6-24C4-30E6-F285BB5BB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1D056-F9AE-1692-E81E-AF758FCC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A10710-3846-C9D7-2144-F947912C5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22F5C-5B3E-AE45-9D2D-54D56FEFFDFB}" type="datetime1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AC6AD-5E2E-A761-7126-579D50261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490D8-22CE-08FF-C435-CF9436B2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159F-BCFE-0041-5B65-0F7FC249D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DE978-B876-7F13-E812-15175B9B4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065CE-0860-1EFD-1CD1-8D84398DF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E4DE7-1714-6B66-42FD-77D069D7B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ECDE3-54E0-7D4C-8C01-682D9A3E8683}" type="datetime1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CCE9F-F437-9F8B-15B0-8576AFF53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9748-1BAE-0CB1-1ED5-9FF402F0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04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5094-D299-E460-49A2-D005A07AC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9A670-8C5F-885F-FB89-1940119E6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F02C41-9999-BFD6-AEAD-EB346FCC3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E5BE73-C51E-CB3B-FD3F-C461033F7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DF334-1367-DE42-B433-657F08CBBA33}" type="datetime1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6684-3CE0-4A83-95A6-6EBB09496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73D51-51CE-D827-C1EE-C87D922E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15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6847-10A3-1E86-2365-C19719B4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F4D640-C06A-7E21-00D5-44964ADC6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FEB36-D0A3-DD5E-C201-B27A7169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FA313-D30E-C24D-B5E3-47AF40650833}" type="datetime1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C4C8-11C3-310B-0494-5A9A39C6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3FB9E-F285-F7AE-0E8F-94E44391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9591E1-25BE-1B7D-2747-B206B76901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C95D2-79AD-B457-5041-AF0BC72A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D9B71-7EFC-DD71-1559-F745192F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B59BE-6406-4040-81F6-DB3E248EDC37}" type="datetime1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FD8D1-6C57-FE1E-C640-C760ABFFA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79F31-ACBF-4495-3650-1BBE0598F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17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E12EA-8A8E-06EC-6E57-8E5E96C5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40FE1-91A8-46C3-32E1-30AAA21A9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noProof="0"/>
              <a:t>Click to edit Master text styles</a:t>
            </a:r>
          </a:p>
          <a:p>
            <a:pPr lvl="1"/>
            <a:r>
              <a:rPr lang="es-ES_tradnl" noProof="0"/>
              <a:t>Second level</a:t>
            </a:r>
          </a:p>
          <a:p>
            <a:pPr lvl="2"/>
            <a:r>
              <a:rPr lang="es-ES_tradnl" noProof="0"/>
              <a:t>Third level</a:t>
            </a:r>
          </a:p>
          <a:p>
            <a:pPr lvl="3"/>
            <a:r>
              <a:rPr lang="es-ES_tradnl" noProof="0"/>
              <a:t>Fourth level</a:t>
            </a:r>
          </a:p>
          <a:p>
            <a:pPr lvl="4"/>
            <a:r>
              <a:rPr lang="es-ES_tradnl" noProof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69DB0-88CE-6331-AB80-0CB309875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6C47D364-D30F-3243-95CC-D040B3E96DD2}" type="datetime1">
              <a:rPr lang="en-US" noProof="0" smtClean="0"/>
              <a:t>5/26/26</a:t>
            </a:fld>
            <a:endParaRPr lang="es-ES_tradnl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5CBFB-E83F-ED57-BB3C-53CCB66624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endParaRPr lang="es-ES_tradnl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DCCDE-D195-0527-335D-0AECD8803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78C1CC4-2077-434E-BCF1-5D01C08A9B17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809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060"/>
          </a:solidFill>
          <a:latin typeface="Goudy Old Style" panose="02020502050305020303" pitchFamily="18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mailto:25RO35480961@campus.economicas.uba.a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2C8F4-54CC-EED9-C31F-8F80FFB62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46910"/>
            <a:ext cx="9144000" cy="2387600"/>
          </a:xfrm>
        </p:spPr>
        <p:txBody>
          <a:bodyPr>
            <a:normAutofit/>
          </a:bodyPr>
          <a:lstStyle/>
          <a:p>
            <a:r>
              <a:rPr lang="es-ES" sz="4400" kern="1400" dirty="0">
                <a:cs typeface="Times New Roman" panose="02020603050405020304" pitchFamily="18" charset="0"/>
              </a:rPr>
              <a:t>Elección de Modelos Lineales</a:t>
            </a:r>
            <a:endParaRPr lang="en-US" sz="14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55BDD-1493-5FB8-8EDB-106F9B3629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9115"/>
            <a:ext cx="9144000" cy="1655762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rgbClr val="000000"/>
                </a:solidFill>
                <a:effectLst/>
                <a:latin typeface="Gill Sans Nova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María Noelia Romero</a:t>
            </a:r>
            <a:r>
              <a:rPr lang="en-US" sz="4000" dirty="0">
                <a:effectLst/>
              </a:rPr>
              <a:t> </a:t>
            </a:r>
            <a:endParaRPr lang="en-US" sz="4000" dirty="0"/>
          </a:p>
          <a:p>
            <a:r>
              <a:rPr lang="es-ES" sz="2800" dirty="0">
                <a:solidFill>
                  <a:srgbClr val="000000"/>
                </a:solidFill>
                <a:latin typeface="Gill Sans Nova Light" panose="020F0302020204030204" pitchFamily="34" charset="0"/>
                <a:cs typeface="Times New Roman" panose="02020603050405020304" pitchFamily="18" charset="0"/>
              </a:rPr>
              <a:t>Clase </a:t>
            </a:r>
            <a:r>
              <a:rPr lang="es-ES" sz="2800" dirty="0">
                <a:solidFill>
                  <a:srgbClr val="000000"/>
                </a:solidFill>
                <a:cs typeface="Times New Roman" panose="02020603050405020304" pitchFamily="18" charset="0"/>
              </a:rPr>
              <a:t>09 – Parte 2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ADCD9-CEB1-5D1E-D7AC-167899E21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027F2D-CC52-462D-4A92-C7C4502C7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50" y="853123"/>
            <a:ext cx="1463040" cy="1463040"/>
          </a:xfrm>
          <a:prstGeom prst="rect">
            <a:avLst/>
          </a:prstGeom>
        </p:spPr>
      </p:pic>
      <p:pic>
        <p:nvPicPr>
          <p:cNvPr id="6" name="Picture 5" descr="A blue and yellow logo&#10;&#10;Description automatically generated">
            <a:extLst>
              <a:ext uri="{FF2B5EF4-FFF2-40B4-BE49-F238E27FC236}">
                <a16:creationId xmlns:a16="http://schemas.microsoft.com/office/drawing/2014/main" id="{939E0972-AB4F-C51D-7B38-9F10B613F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07" y="849631"/>
            <a:ext cx="1271793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65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E00F5-C7EE-2CC9-E9BA-CD7EB57AF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40" y="1138265"/>
            <a:ext cx="4544762" cy="1401183"/>
          </a:xfrm>
        </p:spPr>
        <p:txBody>
          <a:bodyPr anchor="t">
            <a:normAutofit/>
          </a:bodyPr>
          <a:lstStyle/>
          <a:p>
            <a:r>
              <a:rPr lang="es-ES_tradnl" sz="3200"/>
              <a:t>En la clase de hoy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C23E3B9-5ABF-58B3-E2B0-E9A5DAA900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1462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8327E-74B0-5F1D-D3E8-C9714B43F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40" y="1998134"/>
            <a:ext cx="6756560" cy="41559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_tradnl" dirty="0">
                <a:solidFill>
                  <a:srgbClr val="002060"/>
                </a:solidFill>
              </a:rPr>
              <a:t>Métodos de elección de modelos lineales 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s-ES_tradnl" dirty="0"/>
              <a:t>Búsqueda Exhaustiva (</a:t>
            </a:r>
            <a:r>
              <a:rPr lang="es-ES_tradnl" dirty="0" err="1"/>
              <a:t>Best</a:t>
            </a:r>
            <a:r>
              <a:rPr lang="es-ES_tradnl" dirty="0"/>
              <a:t> </a:t>
            </a:r>
            <a:r>
              <a:rPr lang="es-ES_tradnl" dirty="0" err="1"/>
              <a:t>Subset</a:t>
            </a:r>
            <a:r>
              <a:rPr lang="es-ES_tradnl" dirty="0"/>
              <a:t> </a:t>
            </a:r>
            <a:r>
              <a:rPr lang="es-ES_tradnl" dirty="0" err="1"/>
              <a:t>Selection</a:t>
            </a:r>
            <a:r>
              <a:rPr lang="es-ES_tradnl" dirty="0"/>
              <a:t>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s-ES_tradnl" dirty="0" err="1"/>
              <a:t>Foward</a:t>
            </a:r>
            <a:r>
              <a:rPr lang="es-ES_tradnl" dirty="0"/>
              <a:t> </a:t>
            </a:r>
            <a:r>
              <a:rPr lang="es-ES_tradnl" dirty="0" err="1"/>
              <a:t>Selection</a:t>
            </a:r>
            <a:endParaRPr lang="es-ES_tradnl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s-ES_tradnl" dirty="0" err="1"/>
              <a:t>Backward</a:t>
            </a:r>
            <a:r>
              <a:rPr lang="es-ES_tradnl" dirty="0"/>
              <a:t> </a:t>
            </a:r>
            <a:r>
              <a:rPr lang="es-ES_tradnl" dirty="0" err="1"/>
              <a:t>Selection</a:t>
            </a:r>
            <a:endParaRPr lang="es-ES_tradnl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393B2-27BD-5888-9D83-58D8D3F72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278C1CC4-2077-434E-BCF1-5D01C08A9B17}" type="slidenum">
              <a:rPr lang="en-US" sz="1800" smtClean="0"/>
              <a:pPr>
                <a:lnSpc>
                  <a:spcPct val="90000"/>
                </a:lnSpc>
                <a:spcAft>
                  <a:spcPts val="600"/>
                </a:spcAft>
              </a:pPr>
              <a:t>2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621529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Elección de Modelos: Introducción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665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E4FD-2DBC-AAD4-5AD2-71B1A7DA0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Trade off-sesgo varianza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B7428-BAF8-C43C-0F61-3A249901D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80529" cy="4351338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</a:pPr>
            <a:r>
              <a:rPr lang="es-ES_tradnl" dirty="0"/>
              <a:t>Modelo </a:t>
            </a:r>
            <a:r>
              <a:rPr lang="es-ES_tradnl" dirty="0">
                <a:solidFill>
                  <a:srgbClr val="002060"/>
                </a:solidFill>
              </a:rPr>
              <a:t>lineal</a:t>
            </a:r>
            <a:r>
              <a:rPr lang="es-ES_tradnl" dirty="0"/>
              <a:t>: “</a:t>
            </a:r>
            <a:r>
              <a:rPr lang="es-ES_tradnl" dirty="0">
                <a:solidFill>
                  <a:srgbClr val="002060"/>
                </a:solidFill>
              </a:rPr>
              <a:t>Madre</a:t>
            </a:r>
            <a:r>
              <a:rPr lang="es-ES_tradnl" dirty="0"/>
              <a:t>” de todos los modelos</a:t>
            </a:r>
          </a:p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FF0000"/>
                </a:solidFill>
              </a:rPr>
              <a:t>Trade off</a:t>
            </a:r>
            <a:r>
              <a:rPr lang="es-ES_tradnl" dirty="0"/>
              <a:t>: modelos más ‘complejos’ tienden a ser menos sesgados, pero con mayor varianza.</a:t>
            </a:r>
          </a:p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Idea</a:t>
            </a:r>
            <a:r>
              <a:rPr lang="es-ES_tradnl" dirty="0"/>
              <a:t>: Buscar modelos lineales que:</a:t>
            </a:r>
          </a:p>
          <a:p>
            <a:pPr lvl="1"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Interpretación </a:t>
            </a:r>
            <a:r>
              <a:rPr lang="es-ES_tradnl" dirty="0"/>
              <a:t>de manera sencilla </a:t>
            </a:r>
          </a:p>
          <a:p>
            <a:pPr lvl="1"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Menor error de predicción </a:t>
            </a:r>
            <a:r>
              <a:rPr lang="es-ES_tradnl" dirty="0"/>
              <a:t>afuera de la muestra que una regresión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C3116-EEC6-9873-7268-2EF328014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B317EB5-1442-A4A6-2D79-1D5C57D69603}"/>
              </a:ext>
            </a:extLst>
          </p:cNvPr>
          <p:cNvGrpSpPr/>
          <p:nvPr/>
        </p:nvGrpSpPr>
        <p:grpSpPr>
          <a:xfrm>
            <a:off x="6675126" y="1266521"/>
            <a:ext cx="5516874" cy="4970935"/>
            <a:chOff x="6675126" y="1266521"/>
            <a:chExt cx="5516874" cy="4970935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B973C4A-5C95-B1A6-C745-2E4273DD7501}"/>
                </a:ext>
              </a:extLst>
            </p:cNvPr>
            <p:cNvCxnSpPr/>
            <p:nvPr/>
          </p:nvCxnSpPr>
          <p:spPr>
            <a:xfrm>
              <a:off x="6675126" y="5539437"/>
              <a:ext cx="44500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D4855910-5CE8-6F00-EFF6-D3A81B78B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26" y="1591325"/>
              <a:ext cx="0" cy="39481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15B4DF0-1066-7C0C-87CD-7E86D4365E73}"/>
                </a:ext>
              </a:extLst>
            </p:cNvPr>
            <p:cNvSpPr/>
            <p:nvPr/>
          </p:nvSpPr>
          <p:spPr>
            <a:xfrm>
              <a:off x="6949446" y="1897077"/>
              <a:ext cx="3749040" cy="1584959"/>
            </a:xfrm>
            <a:custGeom>
              <a:avLst/>
              <a:gdLst>
                <a:gd name="connsiteX0" fmla="*/ 0 w 3749040"/>
                <a:gd name="connsiteY0" fmla="*/ 0 h 1829151"/>
                <a:gd name="connsiteX1" fmla="*/ 1783080 w 3749040"/>
                <a:gd name="connsiteY1" fmla="*/ 1828800 h 1829151"/>
                <a:gd name="connsiteX2" fmla="*/ 3749040 w 3749040"/>
                <a:gd name="connsiteY2" fmla="*/ 121920 h 1829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49040" h="1829151">
                  <a:moveTo>
                    <a:pt x="0" y="0"/>
                  </a:moveTo>
                  <a:cubicBezTo>
                    <a:pt x="579120" y="904240"/>
                    <a:pt x="1158240" y="1808480"/>
                    <a:pt x="1783080" y="1828800"/>
                  </a:cubicBezTo>
                  <a:cubicBezTo>
                    <a:pt x="2407920" y="1849120"/>
                    <a:pt x="3078480" y="985520"/>
                    <a:pt x="3749040" y="12192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49F39FF6-1BF9-7939-A133-CD5BBC768AF9}"/>
                </a:ext>
              </a:extLst>
            </p:cNvPr>
            <p:cNvSpPr/>
            <p:nvPr/>
          </p:nvSpPr>
          <p:spPr>
            <a:xfrm>
              <a:off x="6949446" y="3482036"/>
              <a:ext cx="4053835" cy="1615442"/>
            </a:xfrm>
            <a:custGeom>
              <a:avLst/>
              <a:gdLst>
                <a:gd name="connsiteX0" fmla="*/ 0 w 4373880"/>
                <a:gd name="connsiteY0" fmla="*/ 0 h 3517945"/>
                <a:gd name="connsiteX1" fmla="*/ 1859280 w 4373880"/>
                <a:gd name="connsiteY1" fmla="*/ 3078480 h 3517945"/>
                <a:gd name="connsiteX2" fmla="*/ 4373880 w 4373880"/>
                <a:gd name="connsiteY2" fmla="*/ 3429000 h 351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73880" h="3517945">
                  <a:moveTo>
                    <a:pt x="0" y="0"/>
                  </a:moveTo>
                  <a:cubicBezTo>
                    <a:pt x="565150" y="1253490"/>
                    <a:pt x="1130300" y="2506980"/>
                    <a:pt x="1859280" y="3078480"/>
                  </a:cubicBezTo>
                  <a:cubicBezTo>
                    <a:pt x="2588260" y="3649980"/>
                    <a:pt x="3481070" y="3539490"/>
                    <a:pt x="4373880" y="3429000"/>
                  </a:cubicBezTo>
                </a:path>
              </a:pathLst>
            </a:custGeom>
            <a:noFill/>
            <a:ln w="285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71D21AC-0DDF-30E6-9D82-49022824A35F}"/>
                </a:ext>
              </a:extLst>
            </p:cNvPr>
            <p:cNvSpPr/>
            <p:nvPr/>
          </p:nvSpPr>
          <p:spPr>
            <a:xfrm>
              <a:off x="6987556" y="3482036"/>
              <a:ext cx="3749035" cy="1688456"/>
            </a:xfrm>
            <a:custGeom>
              <a:avLst/>
              <a:gdLst>
                <a:gd name="connsiteX0" fmla="*/ 0 w 3810000"/>
                <a:gd name="connsiteY0" fmla="*/ 2971800 h 2983857"/>
                <a:gd name="connsiteX1" fmla="*/ 1752600 w 3810000"/>
                <a:gd name="connsiteY1" fmla="*/ 2529840 h 2983857"/>
                <a:gd name="connsiteX2" fmla="*/ 3810000 w 3810000"/>
                <a:gd name="connsiteY2" fmla="*/ 0 h 2983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000" h="2983857">
                  <a:moveTo>
                    <a:pt x="0" y="2971800"/>
                  </a:moveTo>
                  <a:cubicBezTo>
                    <a:pt x="558800" y="2998470"/>
                    <a:pt x="1117600" y="3025140"/>
                    <a:pt x="1752600" y="2529840"/>
                  </a:cubicBezTo>
                  <a:cubicBezTo>
                    <a:pt x="2387600" y="2034540"/>
                    <a:pt x="3098800" y="1017270"/>
                    <a:pt x="3810000" y="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CC39B49-AF84-B8B5-F1C2-3736D73A24DD}"/>
                </a:ext>
              </a:extLst>
            </p:cNvPr>
            <p:cNvSpPr txBox="1"/>
            <p:nvPr/>
          </p:nvSpPr>
          <p:spPr>
            <a:xfrm>
              <a:off x="9982201" y="5714236"/>
              <a:ext cx="204215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_tradnl" sz="2800" dirty="0">
                  <a:latin typeface="Gill Sans Nova Light" panose="020B0302020104020203" pitchFamily="34" charset="0"/>
                </a:rPr>
                <a:t>Complejidad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437908-8EF7-4CB3-88C1-5E698701403B}"/>
                </a:ext>
              </a:extLst>
            </p:cNvPr>
            <p:cNvSpPr txBox="1"/>
            <p:nvPr/>
          </p:nvSpPr>
          <p:spPr>
            <a:xfrm>
              <a:off x="6705608" y="1266521"/>
              <a:ext cx="123443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_tradnl" sz="2800" dirty="0">
                  <a:latin typeface="Gill Sans Nova Light" panose="020B0302020104020203" pitchFamily="34" charset="0"/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6B4C00-9165-B137-D7CD-4D27CF805EAD}"/>
                    </a:ext>
                  </a:extLst>
                </p:cNvPr>
                <p:cNvSpPr txBox="1"/>
                <p:nvPr/>
              </p:nvSpPr>
              <p:spPr>
                <a:xfrm>
                  <a:off x="9761221" y="1482115"/>
                  <a:ext cx="2263139" cy="5786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s-ES_tradnl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6B4C00-9165-B137-D7CD-4D27CF805E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1221" y="1482115"/>
                  <a:ext cx="2263139" cy="578685"/>
                </a:xfrm>
                <a:prstGeom prst="rect">
                  <a:avLst/>
                </a:prstGeom>
                <a:blipFill>
                  <a:blip r:embed="rId3"/>
                  <a:stretch>
                    <a:fillRect t="-4255"/>
                  </a:stretch>
                </a:blipFill>
              </p:spPr>
              <p:txBody>
                <a:bodyPr/>
                <a:lstStyle/>
                <a:p>
                  <a:r>
                    <a:rPr lang="es-ES_trad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0F779B0-A41E-2D99-7F5F-B877955E4598}"/>
                    </a:ext>
                  </a:extLst>
                </p:cNvPr>
                <p:cNvSpPr txBox="1"/>
                <p:nvPr/>
              </p:nvSpPr>
              <p:spPr>
                <a:xfrm>
                  <a:off x="9841235" y="2813345"/>
                  <a:ext cx="2263139" cy="58201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𝑉𝑎𝑟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s-ES_tradnl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sz="2800" b="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0F779B0-A41E-2D99-7F5F-B877955E45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1235" y="2813345"/>
                  <a:ext cx="2263139" cy="582019"/>
                </a:xfrm>
                <a:prstGeom prst="rect">
                  <a:avLst/>
                </a:prstGeom>
                <a:blipFill>
                  <a:blip r:embed="rId4"/>
                  <a:stretch>
                    <a:fillRect t="-6383" b="-12766"/>
                  </a:stretch>
                </a:blipFill>
              </p:spPr>
              <p:txBody>
                <a:bodyPr/>
                <a:lstStyle/>
                <a:p>
                  <a:r>
                    <a:rPr lang="es-ES_trad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5627078-95E6-3A2C-5A19-A97B1B5011F9}"/>
                    </a:ext>
                  </a:extLst>
                </p:cNvPr>
                <p:cNvSpPr txBox="1"/>
                <p:nvPr/>
              </p:nvSpPr>
              <p:spPr>
                <a:xfrm>
                  <a:off x="9928861" y="4406233"/>
                  <a:ext cx="2263139" cy="58201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𝑆𝑒𝑠𝑔</m:t>
                        </m:r>
                        <m:sSup>
                          <m:sSup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p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s-ES_tradnl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sz="2800" b="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5627078-95E6-3A2C-5A19-A97B1B501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28861" y="4406233"/>
                  <a:ext cx="2263139" cy="582019"/>
                </a:xfrm>
                <a:prstGeom prst="rect">
                  <a:avLst/>
                </a:prstGeom>
                <a:blipFill>
                  <a:blip r:embed="rId5"/>
                  <a:stretch>
                    <a:fillRect t="-6522" b="-13043"/>
                  </a:stretch>
                </a:blipFill>
              </p:spPr>
              <p:txBody>
                <a:bodyPr/>
                <a:lstStyle/>
                <a:p>
                  <a:r>
                    <a:rPr lang="es-ES_tradn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5452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E4FD-2DBC-AAD4-5AD2-71B1A7DA0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Elección de Modelos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Sea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s-ES_tradnl" dirty="0"/>
                  <a:t> serie de modelos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¿Ordenables en complejidad? Trade-off sesgo varianza. </a:t>
                </a:r>
                <a:r>
                  <a:rPr lang="es-ES_tradnl" dirty="0" err="1"/>
                  <a:t>Overfit</a:t>
                </a:r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¿Anidados?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¿Existe un “supermodelo” que contenga al verdadero?</a:t>
                </a:r>
              </a:p>
              <a:p>
                <a:pPr>
                  <a:lnSpc>
                    <a:spcPct val="150000"/>
                  </a:lnSpc>
                </a:pPr>
                <a:endParaRPr lang="es-ES_tradnl" sz="1500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Elección de modelos</a:t>
                </a:r>
                <a:r>
                  <a:rPr lang="es-ES_tradnl" dirty="0"/>
                  <a:t>: búsqueda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s-ES_tradnl" dirty="0"/>
                  <a:t> del </a:t>
                </a:r>
                <a:r>
                  <a:rPr lang="es-ES_tradnl" dirty="0">
                    <a:solidFill>
                      <a:srgbClr val="00B050"/>
                    </a:solidFill>
                  </a:rPr>
                  <a:t>mejor</a:t>
                </a:r>
                <a:r>
                  <a:rPr lang="es-ES_tradnl" dirty="0"/>
                  <a:t> modelo lineal para predecir fuera de la muestra 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B050"/>
                    </a:solidFill>
                  </a:rPr>
                  <a:t>Ventajas</a:t>
                </a:r>
                <a:r>
                  <a:rPr lang="es-ES_tradnl" dirty="0"/>
                  <a:t>: seguimos en el conjunto de modelos simples de interpretar y fácil de estimar por MCO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B7029-CAC5-1B0F-5F65-E42E8001F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37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Elección de Modelos Lineales: </a:t>
            </a:r>
            <a:r>
              <a:rPr lang="es-ES_tradnl" dirty="0" err="1"/>
              <a:t>Subset</a:t>
            </a:r>
            <a:r>
              <a:rPr lang="es-ES_tradnl" dirty="0"/>
              <a:t> </a:t>
            </a:r>
            <a:r>
              <a:rPr lang="es-ES_tradnl" dirty="0" err="1"/>
              <a:t>Selection</a:t>
            </a:r>
            <a:endParaRPr lang="es-ES_trad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6.1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053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C2A76-D9EB-1BA0-8D88-E47A6BDCE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Búsqueda exhaustiva: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Best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Subset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Selection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106514-EB17-AA85-B556-CC6695760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s-ES_tradnl" dirty="0"/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Iniciar con el modelo nulo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002060"/>
                    </a:solidFill>
                  </a:rPr>
                  <a:t>sin predictores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Estimar todos los posibles modelos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s-ES_tradnl" dirty="0"/>
                  <a:t> con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s-ES_tradnl" dirty="0"/>
                  <a:t> predictores,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=1, 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s-ES_tradnl" dirty="0"/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Para cada modelo, </a:t>
                </a:r>
                <a:r>
                  <a:rPr lang="es-ES_tradnl" dirty="0">
                    <a:solidFill>
                      <a:srgbClr val="002060"/>
                    </a:solidFill>
                  </a:rPr>
                  <a:t>computar</a:t>
                </a:r>
                <a:r>
                  <a:rPr lang="es-ES_tradnl" dirty="0"/>
                  <a:t> la suma de los residuos al cuadrado (RSS),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s-ES_tradnl" dirty="0"/>
                  <a:t>, o el error de cross-validation (CV)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Elegir el que minimiza RSS o maximiza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s-ES_tradnl" dirty="0"/>
                  <a:t> -&gt; </a:t>
                </a:r>
                <a:r>
                  <a:rPr lang="es-ES_tradnl" dirty="0" err="1">
                    <a:solidFill>
                      <a:srgbClr val="00B050"/>
                    </a:solidFill>
                  </a:rPr>
                  <a:t>Best</a:t>
                </a:r>
                <a:r>
                  <a:rPr lang="es-ES_tradnl" dirty="0">
                    <a:solidFill>
                      <a:srgbClr val="00B050"/>
                    </a:solidFill>
                  </a:rPr>
                  <a:t> </a:t>
                </a:r>
                <a:r>
                  <a:rPr lang="es-ES_tradnl" dirty="0" err="1">
                    <a:solidFill>
                      <a:srgbClr val="00B050"/>
                    </a:solidFill>
                  </a:rPr>
                  <a:t>subset</a:t>
                </a:r>
                <a:endParaRPr lang="es-ES_tradnl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106514-EB17-AA85-B556-CC6695760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68" b="-116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AB197-1BD1-7E2E-8029-21768C68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299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E426B-A789-60A7-0744-A4048FDB9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Búsqueda exhaustiva: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Best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Subset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Selection</a:t>
            </a:r>
            <a:endParaRPr lang="es-ES_trad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0A2308-547B-A89D-115A-CEA1D8DD3C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s-ES_tradnl" dirty="0">
                    <a:solidFill>
                      <a:srgbClr val="FF0000"/>
                    </a:solidFill>
                  </a:rPr>
                  <a:t>¿Problema?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Estamos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</m:oMath>
                </a14:m>
                <a:r>
                  <a:rPr lang="es-ES_tradnl" dirty="0"/>
                  <a:t> modelos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Computacionalmente inviable para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s-ES_tradnl" dirty="0"/>
                  <a:t> ‘moderado’: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⇒1.048.576</m:t>
                    </m:r>
                  </m:oMath>
                </a14:m>
                <a:r>
                  <a:rPr lang="es-ES_tradnl" dirty="0"/>
                  <a:t> modelos</a:t>
                </a:r>
              </a:p>
              <a:p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0A2308-547B-A89D-115A-CEA1D8DD3C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68" t="-291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16425-C4AA-D86B-1482-9C0FC1785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68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08420-CF74-7429-B167-DE9CDF086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Ilustración de </a:t>
            </a:r>
            <a:r>
              <a:rPr lang="es-ES_tradnl" i="1" dirty="0" err="1"/>
              <a:t>Best</a:t>
            </a:r>
            <a:r>
              <a:rPr lang="es-ES_tradnl" i="1" dirty="0"/>
              <a:t> </a:t>
            </a:r>
            <a:r>
              <a:rPr lang="es-ES_tradnl" i="1" dirty="0" err="1"/>
              <a:t>Subset</a:t>
            </a:r>
            <a:r>
              <a:rPr lang="es-ES_tradnl" i="1" dirty="0"/>
              <a:t> </a:t>
            </a:r>
            <a:r>
              <a:rPr lang="es-ES_tradnl" i="1" dirty="0" err="1"/>
              <a:t>Selection</a:t>
            </a:r>
            <a:endParaRPr lang="es-ES_tradnl" i="1" dirty="0"/>
          </a:p>
        </p:txBody>
      </p:sp>
      <p:pic>
        <p:nvPicPr>
          <p:cNvPr id="6" name="Content Placeholder 5" descr="A graph of a number of predictors&#10;&#10;Description automatically generated">
            <a:extLst>
              <a:ext uri="{FF2B5EF4-FFF2-40B4-BE49-F238E27FC236}">
                <a16:creationId xmlns:a16="http://schemas.microsoft.com/office/drawing/2014/main" id="{F76DA481-D119-38AA-ECB2-B5DC065F2A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2621" y="1690688"/>
            <a:ext cx="8889315" cy="445220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188AF-E40C-993E-2FA1-2B0AEF111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9D4634-0DB4-0E7E-58F8-665267DCEE65}"/>
              </a:ext>
            </a:extLst>
          </p:cNvPr>
          <p:cNvSpPr txBox="1"/>
          <p:nvPr/>
        </p:nvSpPr>
        <p:spPr>
          <a:xfrm>
            <a:off x="1482621" y="6203655"/>
            <a:ext cx="59849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Hastie, Tibshirani</a:t>
            </a:r>
            <a:r>
              <a:rPr lang="en-US" sz="1600" dirty="0">
                <a:latin typeface="Gill Sans Nova Light" panose="020B0302020104020203" pitchFamily="34" charset="0"/>
              </a:rPr>
              <a:t> &amp; Taylor (</a:t>
            </a:r>
            <a:r>
              <a:rPr lang="en-US" sz="1600" dirty="0">
                <a:effectLst/>
                <a:latin typeface="Gill Sans Nova Light" panose="020B0302020104020203" pitchFamily="34" charset="0"/>
              </a:rPr>
              <a:t>2023). p.</a:t>
            </a:r>
            <a:r>
              <a:rPr lang="en-US" sz="1600" dirty="0">
                <a:latin typeface="Gill Sans Nova Light" panose="020B0302020104020203" pitchFamily="34" charset="0"/>
              </a:rPr>
              <a:t>232</a:t>
            </a:r>
            <a:r>
              <a:rPr lang="en-US" sz="1600" dirty="0">
                <a:effectLst/>
                <a:latin typeface="Gill Sans Nova Light" panose="020B0302020104020203" pitchFamily="34" charset="0"/>
              </a:rPr>
              <a:t>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769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61E1-FFB0-647C-1FD9-F29F97EF3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Stepwise Selection: </a:t>
            </a:r>
            <a:r>
              <a:rPr lang="es-ES_tradnl" b="1" i="1" dirty="0"/>
              <a:t>Forward </a:t>
            </a:r>
            <a:r>
              <a:rPr lang="es-ES_tradnl" b="1" i="1" dirty="0" err="1"/>
              <a:t>Selection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6EE81-F564-68A1-256C-6BA1085239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Empezar con modelo nulo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002060"/>
                    </a:solidFill>
                  </a:rPr>
                  <a:t>sin predictores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Probar todos los modelos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s-ES_tradnl" dirty="0"/>
                  <a:t> con 1 predictor adicional. Elegir el que minimiza CV.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Predictores incorporados </a:t>
                </a:r>
                <a:r>
                  <a:rPr lang="es-ES_tradnl" dirty="0">
                    <a:solidFill>
                      <a:srgbClr val="002060"/>
                    </a:solidFill>
                  </a:rPr>
                  <a:t>no “salen”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Elegir el modelo con menor</a:t>
                </a:r>
                <a:r>
                  <a:rPr lang="en-US" dirty="0"/>
                  <a:t> error de </a:t>
                </a:r>
                <a:r>
                  <a:rPr lang="es-ES_tradnl" dirty="0"/>
                  <a:t>CV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6EE81-F564-68A1-256C-6BA1085239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09" t="-1163" r="-229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9D36E-F589-E90B-859E-BDEEFBE75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3537D-E083-B662-EA19-873916CDC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Ventaja de </a:t>
            </a:r>
            <a:r>
              <a:rPr lang="es-ES_tradnl" b="1" i="1" dirty="0"/>
              <a:t>Forward </a:t>
            </a:r>
            <a:r>
              <a:rPr lang="es-ES_tradnl" b="1" i="1" dirty="0" err="1"/>
              <a:t>Selection</a:t>
            </a:r>
            <a:endParaRPr lang="es-ES_trad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B17ADE-E374-2857-9DE0-D69643CF32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_tradnl" dirty="0"/>
                  <a:t>Ahora calculamos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s-ES_tradnl" dirty="0"/>
                  <a:t> modelos</a:t>
                </a:r>
              </a:p>
              <a:p>
                <a:r>
                  <a:rPr lang="es-ES_tradnl" dirty="0"/>
                  <a:t>Ejemplo: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s-ES_tradnl" dirty="0"/>
                  <a:t>, requiere estimas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211</m:t>
                    </m:r>
                  </m:oMath>
                </a14:m>
                <a:r>
                  <a:rPr lang="es-ES_tradnl" dirty="0"/>
                  <a:t> modelos</a:t>
                </a:r>
              </a:p>
              <a:p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B17ADE-E374-2857-9DE0-D69643CF32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90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812E9-EF34-344D-87B7-55E0F64B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586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61E1-FFB0-647C-1FD9-F29F97EF3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Stepwise Selection: </a:t>
            </a:r>
            <a:r>
              <a:rPr lang="en-US" i="1" dirty="0"/>
              <a:t>Backward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6EE81-F564-68A1-256C-6BA1085239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Empieza con el </a:t>
                </a:r>
                <a:r>
                  <a:rPr lang="es-ES_tradnl" dirty="0">
                    <a:solidFill>
                      <a:srgbClr val="002060"/>
                    </a:solidFill>
                  </a:rPr>
                  <a:t>modelo completo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s-ES_tradnl" dirty="0">
                  <a:solidFill>
                    <a:srgbClr val="002060"/>
                  </a:solidFill>
                </a:endParaRP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Probar todos los modelos con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s-ES_tradnl" dirty="0"/>
                  <a:t> predictor. 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Elegir el que minimiza CV.</a:t>
                </a:r>
              </a:p>
              <a:p>
                <a:pPr>
                  <a:lnSpc>
                    <a:spcPct val="120000"/>
                  </a:lnSpc>
                  <a:buFont typeface="+mj-lt"/>
                  <a:buAutoNum type="arabicPeriod"/>
                </a:pPr>
                <a:endParaRPr lang="es-ES_tradnl" sz="1200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Forward tiene la </a:t>
                </a:r>
                <a:r>
                  <a:rPr lang="es-ES_tradnl" dirty="0">
                    <a:solidFill>
                      <a:srgbClr val="00B050"/>
                    </a:solidFill>
                  </a:rPr>
                  <a:t>ventaja</a:t>
                </a:r>
                <a:r>
                  <a:rPr lang="es-ES_tradnl" dirty="0"/>
                  <a:t> en modelos de alta dimensión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Cuando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s-ES_tradnl" dirty="0"/>
                  <a:t>, modelo más grande puede ser con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s-ES_tradnl" dirty="0"/>
                  <a:t> predictores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6EE81-F564-68A1-256C-6BA1085239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09" t="-581" r="-96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9D36E-F589-E90B-859E-BDEEFBE75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934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2CD8E-C681-C0BE-7E00-8E6C193AD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Discusión de estos métodos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FD0E1-E247-11EB-7524-5F19CCE85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s-ES_tradnl" dirty="0"/>
              <a:t>¿No vale empezar con el modelo general y tachar los coeficientes no significativos?</a:t>
            </a:r>
          </a:p>
          <a:p>
            <a:pPr>
              <a:lnSpc>
                <a:spcPct val="120000"/>
              </a:lnSpc>
            </a:pPr>
            <a:r>
              <a:rPr lang="es-ES_tradnl" i="1" dirty="0" err="1"/>
              <a:t>Backward</a:t>
            </a:r>
            <a:r>
              <a:rPr lang="es-ES_tradnl" i="1" dirty="0"/>
              <a:t> </a:t>
            </a:r>
            <a:r>
              <a:rPr lang="es-ES_tradnl" i="1" dirty="0" err="1"/>
              <a:t>selection</a:t>
            </a:r>
            <a:r>
              <a:rPr lang="es-ES_tradnl" i="1" dirty="0"/>
              <a:t> </a:t>
            </a:r>
            <a:r>
              <a:rPr lang="es-ES_tradnl" dirty="0"/>
              <a:t>aproxima esa idea (no exactamente ya que el criterio es de ajuste/predicción).</a:t>
            </a:r>
          </a:p>
          <a:p>
            <a:pPr>
              <a:lnSpc>
                <a:spcPct val="120000"/>
              </a:lnSpc>
            </a:pPr>
            <a:r>
              <a:rPr lang="es-ES_tradnl" dirty="0"/>
              <a:t>‘</a:t>
            </a:r>
            <a:r>
              <a:rPr lang="es-ES_tradnl" dirty="0">
                <a:solidFill>
                  <a:srgbClr val="002060"/>
                </a:solidFill>
              </a:rPr>
              <a:t>Tachar</a:t>
            </a:r>
            <a:r>
              <a:rPr lang="es-ES_tradnl" dirty="0"/>
              <a:t>’ variables/coeficientes es una forma extrema de ‘</a:t>
            </a:r>
            <a:r>
              <a:rPr lang="es-ES_tradnl" dirty="0">
                <a:solidFill>
                  <a:srgbClr val="002060"/>
                </a:solidFill>
              </a:rPr>
              <a:t>achicarlos</a:t>
            </a:r>
            <a:r>
              <a:rPr lang="es-ES_tradnl" dirty="0"/>
              <a:t>’ (</a:t>
            </a:r>
            <a:r>
              <a:rPr lang="es-ES_tradnl" i="1" dirty="0" err="1"/>
              <a:t>shrinkage</a:t>
            </a:r>
            <a:r>
              <a:rPr lang="es-ES_tradnl" dirty="0"/>
              <a:t>).</a:t>
            </a:r>
          </a:p>
          <a:p>
            <a:pPr lvl="1"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Lasso</a:t>
            </a:r>
            <a:r>
              <a:rPr lang="es-ES_tradnl" dirty="0"/>
              <a:t>: una manera formal de realizar esa tarea.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E1D1-90DD-3C25-9DA6-9C4C21257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836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57CD-60DB-7599-DBBF-E7E34F55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Conclusiones finales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E002C-8C25-F567-04EE-6365B0376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¿Qué aprendimos hoy?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580811-4E8A-0CFA-2D7A-CC97B0990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056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9168-AA67-F1BE-BEB5-BFF50FDBF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¿Qué aprendimos hoy?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66B93-964D-A72E-FB12-DE627F299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Introducimos</a:t>
            </a:r>
            <a:r>
              <a:rPr lang="es-ES_tradnl" dirty="0"/>
              <a:t> la selección de modelos lineales más intuitiva de Modelos por </a:t>
            </a:r>
            <a:r>
              <a:rPr lang="es-ES_tradnl" i="1" dirty="0" err="1"/>
              <a:t>Stepwise</a:t>
            </a:r>
            <a:r>
              <a:rPr lang="es-ES_tradnl" i="1" dirty="0"/>
              <a:t> </a:t>
            </a:r>
            <a:r>
              <a:rPr lang="es-ES_tradnl" i="1" dirty="0" err="1"/>
              <a:t>Selection</a:t>
            </a:r>
            <a:r>
              <a:rPr lang="es-ES_tradnl" i="1" dirty="0"/>
              <a:t> </a:t>
            </a:r>
            <a:r>
              <a:rPr lang="es-ES_tradnl" dirty="0"/>
              <a:t>como </a:t>
            </a:r>
            <a:r>
              <a:rPr lang="es-ES_tradnl" dirty="0" err="1"/>
              <a:t>Best</a:t>
            </a:r>
            <a:r>
              <a:rPr lang="es-ES_tradnl" dirty="0"/>
              <a:t> </a:t>
            </a:r>
            <a:r>
              <a:rPr lang="es-ES_tradnl" dirty="0" err="1"/>
              <a:t>Subset</a:t>
            </a:r>
            <a:r>
              <a:rPr lang="es-ES_tradnl" dirty="0"/>
              <a:t>, Forward y </a:t>
            </a:r>
            <a:r>
              <a:rPr lang="es-ES_tradnl" dirty="0" err="1"/>
              <a:t>Backward</a:t>
            </a:r>
            <a:r>
              <a:rPr lang="es-ES_tradnl" dirty="0"/>
              <a:t> </a:t>
            </a:r>
            <a:r>
              <a:rPr lang="es-ES_tradnl" dirty="0" err="1"/>
              <a:t>Selection</a:t>
            </a:r>
            <a:r>
              <a:rPr lang="es-ES_tradnl" dirty="0"/>
              <a:t>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Mencionamos sus </a:t>
            </a:r>
            <a:r>
              <a:rPr lang="es-ES_tradnl" dirty="0">
                <a:solidFill>
                  <a:srgbClr val="FF0000"/>
                </a:solidFill>
              </a:rPr>
              <a:t>problemas computacionales </a:t>
            </a:r>
            <a:r>
              <a:rPr lang="es-ES_tradnl" dirty="0"/>
              <a:t>y </a:t>
            </a:r>
            <a:r>
              <a:rPr lang="es-ES_tradnl" dirty="0">
                <a:solidFill>
                  <a:srgbClr val="00B050"/>
                </a:solidFill>
              </a:rPr>
              <a:t>ventajas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E39AB-00F5-ADEE-08FA-C6F284265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00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D55B1-4C9E-9A68-CAC5-2D5211025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_tradnl" dirty="0"/>
              <a:t>¿Dudas, consultas?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6DE542-4031-D126-7AAF-A0332014D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s-ES_tradnl" dirty="0">
                <a:latin typeface="Gill Sans Nova Light" panose="020B0302020104020203" pitchFamily="34" charset="0"/>
              </a:rPr>
              <a:t>Consultas: </a:t>
            </a:r>
            <a:r>
              <a:rPr lang="en-US" b="0" i="0" dirty="0">
                <a:solidFill>
                  <a:srgbClr val="0078D7"/>
                </a:solidFill>
                <a:effectLst/>
                <a:latin typeface="Gill Sans Nova Light" panose="020B0302020104020203" pitchFamily="34" charset="0"/>
                <a:hlinkClick r:id="rId2"/>
              </a:rPr>
              <a:t>25RO35480961@campus.economicas.uba.ar</a:t>
            </a:r>
            <a:r>
              <a:rPr lang="en-US" b="0" i="0" dirty="0">
                <a:solidFill>
                  <a:srgbClr val="0078D7"/>
                </a:solidFill>
                <a:effectLst/>
                <a:latin typeface="Gill Sans Nova Light" panose="020B0302020104020203" pitchFamily="34" charset="0"/>
              </a:rPr>
              <a:t> </a:t>
            </a:r>
            <a:endParaRPr lang="es-ES_tradnl" dirty="0">
              <a:latin typeface="Gill Sans Nova Light" panose="020B03020201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2557C-64E1-99EA-732F-3F53925CF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875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2913</TotalTime>
  <Words>651</Words>
  <Application>Microsoft Macintosh PowerPoint</Application>
  <PresentationFormat>Panorámica</PresentationFormat>
  <Paragraphs>97</Paragraphs>
  <Slides>16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4" baseType="lpstr">
      <vt:lpstr>Arial</vt:lpstr>
      <vt:lpstr>Calibri</vt:lpstr>
      <vt:lpstr>Cambria Math</vt:lpstr>
      <vt:lpstr>Gill Sans Nova Light</vt:lpstr>
      <vt:lpstr>Goudy Old Style</vt:lpstr>
      <vt:lpstr>Times</vt:lpstr>
      <vt:lpstr>Times New Roman</vt:lpstr>
      <vt:lpstr>Office Theme</vt:lpstr>
      <vt:lpstr>Elección de Modelos Lineales</vt:lpstr>
      <vt:lpstr>En la clase de hoy</vt:lpstr>
      <vt:lpstr>Elección de Modelos: Introducción </vt:lpstr>
      <vt:lpstr>Trade off-sesgo varianza</vt:lpstr>
      <vt:lpstr>Elección de Modelos</vt:lpstr>
      <vt:lpstr>Elección de Modelos Lineales: Subset Selection</vt:lpstr>
      <vt:lpstr>Búsqueda exhaustiva: Best Subset Selection</vt:lpstr>
      <vt:lpstr>Búsqueda exhaustiva: Best Subset Selection</vt:lpstr>
      <vt:lpstr>Ilustración de Best Subset Selection</vt:lpstr>
      <vt:lpstr>Stepwise Selection: Forward Selection</vt:lpstr>
      <vt:lpstr>Ventaja de Forward Selection</vt:lpstr>
      <vt:lpstr>Stepwise Selection: Backward selection</vt:lpstr>
      <vt:lpstr>Discusión de estos métodos </vt:lpstr>
      <vt:lpstr>Conclusiones finales</vt:lpstr>
      <vt:lpstr>¿Qué aprendimos hoy?</vt:lpstr>
      <vt:lpstr>¿Dudas, consultas?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data, Aprendizaje y Minería de Datos:  Perspectivas, ideas y herramientas para economistas</dc:title>
  <dc:creator>Romero, Maria Noelia</dc:creator>
  <cp:lastModifiedBy>Noelia Romero</cp:lastModifiedBy>
  <cp:revision>187</cp:revision>
  <dcterms:created xsi:type="dcterms:W3CDTF">2023-06-12T20:51:31Z</dcterms:created>
  <dcterms:modified xsi:type="dcterms:W3CDTF">2026-05-26T18:40:37Z</dcterms:modified>
</cp:coreProperties>
</file>